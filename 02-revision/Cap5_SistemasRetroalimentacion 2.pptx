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C8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PSICOLOGÍA DEL APRENDIZAJE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AF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Capítulo 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Sistemas de Retroalimentación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Simultánea y el Límite de la Reactividad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3520440"/>
            <a:ext cx="5486400" cy="0"/>
          </a:xfrm>
          <a:prstGeom prst="line">
            <a:avLst/>
          </a:prstGeom>
          <a:noFill/>
          <a:ln w="12700">
            <a:solidFill>
              <a:srgbClr val="8FA8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comparación sucesiva a la simultánea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 del Capítulo 5 — Tres horas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(50 min)  —  El Problema y el Mecanismo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la orientación espacial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simultánea y tropotaxia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experimentos clásicos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(70 min)  —  El Sistema de Retroalimentación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 y componentes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Preguntas: equilibrio, dinámica, perturbación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k y la función de control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vs. Servomecanismos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(60 min)  —  Límites y el Puente al Aprendizaje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 la reactividad y las demoras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anticipatorio (feedforward)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Ascenso de Colina vs. Retroalimentación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¿Dónde estábamos? — Capítulo 4 revisado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bacteria con un solo sensor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Estrategia: comparación SUCESIVA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ahora vs. hace un momento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mismo lugar, tiempos distintos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memoria del valor previo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trayectoria lenta y sinuosa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la dirección de la fuente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0" cy="310896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23444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clave: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bacteria navega sin saber hacia dónde está el nutriente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hacerse mejor?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con dos sensores y comparación simultánea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4389120"/>
            <a:ext cx="640080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44752" y="4389120"/>
            <a:ext cx="6254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Ascenso de Colina → Retroalimentación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Problema: Orientarse en el Espacio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AF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polilla nocturna. Dos ojos. Dos intensidades luminosas.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011680" cy="2194560"/>
          </a:xfrm>
          <a:prstGeom prst="rect">
            <a:avLst/>
          </a:prstGeom>
          <a:solidFill>
            <a:srgbClr val="1E3A52"/>
          </a:solidFill>
          <a:ln w="12700">
            <a:solidFill>
              <a:srgbClr val="1BAF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Fototaxia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737360" cy="0"/>
          </a:xfrm>
          <a:prstGeom prst="line">
            <a:avLst/>
          </a:prstGeom>
          <a:noFill/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Polillas y cucarachas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luz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2011680" cy="2194560"/>
          </a:xfrm>
          <a:prstGeom prst="rect">
            <a:avLst/>
          </a:prstGeom>
          <a:solidFill>
            <a:srgbClr val="1E3A52"/>
          </a:solidFill>
          <a:ln w="12700">
            <a:solidFill>
              <a:srgbClr val="1BAF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Quimiotaxia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06040" y="1920240"/>
            <a:ext cx="1737360" cy="0"/>
          </a:xfrm>
          <a:prstGeom prst="line">
            <a:avLst/>
          </a:prstGeom>
          <a:noFill/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Insectos / feromonas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olor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1371600"/>
            <a:ext cx="2011680" cy="2194560"/>
          </a:xfrm>
          <a:prstGeom prst="rect">
            <a:avLst/>
          </a:prstGeom>
          <a:solidFill>
            <a:srgbClr val="1E3A52"/>
          </a:solidFill>
          <a:ln w="12700">
            <a:solidFill>
              <a:srgbClr val="1BAF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Fonotaxia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1737360" cy="0"/>
          </a:xfrm>
          <a:prstGeom prst="line">
            <a:avLst/>
          </a:prstGeom>
          <a:noFill/>
          <a:ln w="12700">
            <a:solidFill>
              <a:srgbClr val="0A7E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Grillos hembra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sonido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1371600"/>
            <a:ext cx="2011680" cy="2194560"/>
          </a:xfrm>
          <a:prstGeom prst="rect">
            <a:avLst/>
          </a:prstGeom>
          <a:solidFill>
            <a:srgbClr val="1E3A52"/>
          </a:solidFill>
          <a:ln w="12700">
            <a:solidFill>
              <a:srgbClr val="1BAF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Termotaxia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03720" y="1920240"/>
            <a:ext cx="1737360" cy="0"/>
          </a:xfrm>
          <a:prstGeom prst="line">
            <a:avLst/>
          </a:prstGeom>
          <a:noFill/>
          <a:ln w="12700">
            <a:solidFill>
              <a:srgbClr val="0A7E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Serpientes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El mismo problema computacional. El mismo principio básico.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371600" y="4206240"/>
            <a:ext cx="6400800" cy="685800"/>
          </a:xfrm>
          <a:prstGeom prst="rect">
            <a:avLst/>
          </a:prstGeom>
          <a:solidFill>
            <a:srgbClr val="C8EDF6"/>
          </a:solidFill>
          <a:ln w="19050">
            <a:solidFill>
              <a:srgbClr val="0A7EA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371600" y="43205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5.1 — Trayectorias de fototaxia positiva y negativa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Mecanismo: Comparación Simultánea (Tropotaxia)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sensores — una diferencia — una dirección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8229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1234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izquierdo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Sᵢ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23444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3160" y="1234440"/>
            <a:ext cx="196596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1234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derecho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Sᵈ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23444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1965960" cy="8229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234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Sᵈ − Sᵢ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23444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29400" y="1234440"/>
            <a:ext cx="196596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02552" y="1234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hacia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mayor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240280"/>
            <a:ext cx="8503920" cy="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77440"/>
            <a:ext cx="8503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controla el giro es la DIFERENCIA bilateral, no el nivel absoluto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Fototaxia positiva: girar hacia mayor estimulación (acercarse)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Fototaxia negativa (cucaracha): girar hacia menor estimulación (alejarse)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signo del giro depende del tipo de taxia, no de qué ojo está activo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direccional está disponible INSTANTÁNEAMENTE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necesario explorar para saber hacia dónde girar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Experimento 1: Cubrir un Ojo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solo un sensor funcional, la diferencia siempre favorece ese lado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de corrección nunca se cancela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observado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izquierdo cubierto → giro continuo a la IZQUIERDA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derecho cubierto → giro continuo a la DERECHA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Cucaracha: exactamente opuesto (fototaxia negativa)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005840"/>
            <a:ext cx="0" cy="329184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 este experimento?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 que el control es la DIFERENCIA, no la intensidad absoluta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Cubrir un ojo convierte al organismo en sistema ABIERTO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giro no recibe retroalimentación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rotación indefinida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C8EDF6"/>
          </a:solidFill>
          <a:ln w="19050">
            <a:solidFill>
              <a:srgbClr val="0A7EA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43205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5.2 — Trayectorias con un ojo cubierto (ojo izq. / ojo der. × oscuridad / luz)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Experimento 2: Dos Fuentes de Luz Equidistantes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Diseño: dos fuentes iguales a igual distancia del organismo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si el comportamiento depende de la DIFERENCIA bilateral: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fuentes son equidistantes → ambos ojos reciben la misma estimulación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= 0  →  señal de giro = 0  →  el organismo avanza en línea recta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proximidad a una fuente rompe la simetría → giro brusco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observado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recta entre las fuentes → brusco cambio de dirección al acercarse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"Pocas veces un experimento confirma tan limpiamente una predicción"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822960"/>
            <a:ext cx="3383280" cy="3931920"/>
          </a:xfrm>
          <a:prstGeom prst="rect">
            <a:avLst/>
          </a:prstGeom>
          <a:solidFill>
            <a:srgbClr val="C8EDF6"/>
          </a:solidFill>
          <a:ln w="19050">
            <a:solidFill>
              <a:srgbClr val="0A7EA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5.3 — Trayectorias de cochinilla con dos fuentes equidistantes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Contraste: ¿Por qué la bacteria no usa comparación simultánea?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931920" cy="3474720"/>
          </a:xfrm>
          <a:prstGeom prst="rect">
            <a:avLst/>
          </a:prstGeom>
          <a:solidFill>
            <a:srgbClr val="1E3A52"/>
          </a:solidFill>
          <a:ln w="12700">
            <a:solidFill>
              <a:srgbClr val="8FA8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Salmonella (Cap. 4)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 ~2 µm
</a:t>
            </a:r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 pequeña para detectar
diferencias de concentración
entre sus dos extremos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</a:t>
            </a:r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descartamos comparación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simultánea por límite físico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822960"/>
            <a:ext cx="3931920" cy="3474720"/>
          </a:xfrm>
          <a:prstGeom prst="rect">
            <a:avLst/>
          </a:prstGeom>
          <a:solidFill>
            <a:srgbClr val="1E3A52"/>
          </a:solidFill>
          <a:ln w="25400">
            <a:solidFill>
              <a:srgbClr val="1BAF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Polilla (Cap. 5)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3716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 ~3–5 cm
</a:t>
            </a:r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SÍ permite
detectar diferencias entre
ojos laterales separados
</a:t>
            </a:r>
            <a:pPr indent="0" marL="0">
              <a:buNone/>
            </a:pPr>
            <a:r>
              <a:rPr lang="en-US" sz="1300" b="1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</a:t>
            </a:r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confirma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exactamente eso ocurre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5196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restricción física determina qué mecanismo es posible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C8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Sistema de Retroalimentación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 · Componentes · Las Cuatro Preguntas · Ganancia 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Lazos cerrados, señales de error, y la estructura del control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la Causalidad Unidireccional al Lazo Cerrado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3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Estímulo → Respuesta   … pero la respuesta modifica el estímulo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8503920" cy="777240"/>
          </a:xfrm>
          <a:prstGeom prst="rect">
            <a:avLst/>
          </a:prstGeom>
          <a:solidFill>
            <a:srgbClr val="EDF5FA"/>
          </a:solidFill>
          <a:ln w="19050">
            <a:solidFill>
              <a:srgbClr val="C8ED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Termorregulación: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35331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alta → Sudoración → Temperatura baja → Menos sudoración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8503920" cy="777240"/>
          </a:xfrm>
          <a:prstGeom prst="rect">
            <a:avLst/>
          </a:prstGeom>
          <a:solidFill>
            <a:srgbClr val="EDF5FA"/>
          </a:solidFill>
          <a:ln w="19050">
            <a:solidFill>
              <a:srgbClr val="C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677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Lactancia: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26771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Bebé succiona → Extrae leche → Tasa de succión estimula producción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108960"/>
            <a:ext cx="8503920" cy="777240"/>
          </a:xfrm>
          <a:prstGeom prst="rect">
            <a:avLst/>
          </a:prstGeom>
          <a:solidFill>
            <a:srgbClr val="1A2E44"/>
          </a:solidFill>
          <a:ln w="1905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82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Fototaxia: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318211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Disparidad → Giro → Nuevo ángulo → Nueva disparidad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1605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todos estos casos la causalidad no va de A → B sino que forma un LAZO CERRADO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4617720"/>
            <a:ext cx="5486400" cy="502920"/>
          </a:xfrm>
          <a:prstGeom prst="rect">
            <a:avLst/>
          </a:prstGeom>
          <a:solidFill>
            <a:srgbClr val="C8EDF6"/>
          </a:solidFill>
          <a:ln w="19050">
            <a:solidFill>
              <a:srgbClr val="0A7EA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828800" y="46405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5.4 — Diagrama del sistema de retroalimentación (lazo cerrado)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Formalización: Las Dos Ecuaciones del Sistema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control (del organismo)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G(X)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estímulo se transforma en comportamiento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retroalimentación (del entorno)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E(C)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comportamiento modifica el estímulo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ecuaciones SIMULTÁNEAS acopladas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y X se co-determinan mutuamente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005840"/>
            <a:ext cx="0" cy="347472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fototaxia: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tasa de giro (ω)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disparidad bilateral (Sder − Sizq)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giro cambia el ángulo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ángulo cambia la disparidad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disparidad cambia el giro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lazo se cierra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C8EDF6"/>
          </a:solidFill>
          <a:ln w="19050">
            <a:solidFill>
              <a:srgbClr val="0A7EA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5.5 — Diagrama retroalimentación con componentes nombrados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Cuatro Componentes del Sistema de Retroalimentación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103120" cy="38404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8288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estado actual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834640"/>
            <a:ext cx="192024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biológico: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32004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Ojos compuestos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(intensidad luminosa)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777240"/>
            <a:ext cx="2103120" cy="3840480"/>
          </a:xfrm>
          <a:prstGeom prst="rect">
            <a:avLst/>
          </a:prstGeom>
          <a:solidFill>
            <a:srgbClr val="0E7C52"/>
          </a:solidFill>
          <a:ln w="12700">
            <a:solidFill>
              <a:srgbClr val="0E7C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COMPARADOR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1371600"/>
            <a:ext cx="18288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4630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señal de error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(estado actual − estado deseado)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0" y="2834640"/>
            <a:ext cx="192024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biológico: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0" y="32004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neural: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Sder − Sizq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777240"/>
            <a:ext cx="2103120" cy="3840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CONTROLADOR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18288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4630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señal de error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acción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2834640"/>
            <a:ext cx="192024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biológico: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32004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disparidad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tasa de giro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777240"/>
            <a:ext cx="2103120" cy="384048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EFECTOR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86600" y="1371600"/>
            <a:ext cx="18288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14630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la acción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el entorno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040880" y="2834640"/>
            <a:ext cx="192024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biológico: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040880" y="32004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Músculos de las alas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produce el giro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solidFill>
            <a:srgbClr val="C8EDF6"/>
          </a:solidFill>
          <a:ln w="19050">
            <a:solidFill>
              <a:srgbClr val="0A7EA4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5.6 — Diagrama para la mariposa con señales y ángulos nombrados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Cerrado vs. Sistema Abierto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CERRADO (retroalimentación)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modifica la variable que controla la acción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Fototaxia: el giro cambia la disparidad, que cambia el giro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Termorregulación: la sudoración reduce la temperatura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 clave: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continua → convergencia al equilibrio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005840"/>
            <a:ext cx="0" cy="329184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ABIERTO (sin retroalimentación)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no modifica la variable que lo controla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Calefactor sin termostato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Golpe de lengua de la rana (ejecuta sin corrección)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Polilla con un ojo cubierto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señal de corrección → comportamiento no converge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434840"/>
            <a:ext cx="731520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4434840"/>
            <a:ext cx="7168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Cubrir un ojo = transformar sistema cerrado en sistema abierto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Retroalimentación Negativa y Positiva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— Estabilizadora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REDUCE la señal de error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contrarresta la desviación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Fototaxia (giro reduce disparidad)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Homeostasis térmica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glucémica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convergencia al equilibrio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005840"/>
            <a:ext cx="0" cy="347472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 — Amplificadora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AMPLIFICA la señal de error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refuerza la desviación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canónico: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de canales Na⁺ en potencial de acción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iones → despolariza → más canales abiertos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detiene solo cuando todos los canales están abiertos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transiciones rápidas y decisivas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sirve como mecanismo de orientación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Tres Niveles de Análisis (Capítulo 1 revisado)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097280"/>
          </a:xfrm>
          <a:prstGeom prst="rect">
            <a:avLst/>
          </a:prstGeom>
          <a:solidFill>
            <a:srgbClr val="1E3A52"/>
          </a:solidFill>
          <a:ln w="25400">
            <a:solidFill>
              <a:srgbClr val="0A7E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194560" cy="10972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COMPUTACIONAL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868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problema resuelve?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Orientarse hacia una fuente de forma rápida y robusta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1097280"/>
          </a:xfrm>
          <a:prstGeom prst="rect">
            <a:avLst/>
          </a:prstGeom>
          <a:solidFill>
            <a:srgbClr val="1E3A52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03120"/>
            <a:ext cx="2194560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ALGORÍTMICO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1488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lo resuelve?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5146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bilateral simultánea → señal de error → función de control → tasa de giro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8595360" cy="1097280"/>
          </a:xfrm>
          <a:prstGeom prst="rect">
            <a:avLst/>
          </a:prstGeom>
          <a:solidFill>
            <a:srgbClr val="1E3A52"/>
          </a:solidFill>
          <a:ln w="25400">
            <a:solidFill>
              <a:srgbClr val="C0562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383280"/>
            <a:ext cx="2194560" cy="109728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3429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¿Con qué lo implementa?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37947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neurales, fotorreceptores, músculos — varía entre especies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Polilla · Robot de dos ruedas · Climatización → misma arquitectura algorítmica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Cuatro Preguntas Ante Cualquier Sistema de Retroalimentación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Marco analítico aplicable a cualquier sistema con lazo cerrado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713232"/>
          </a:xfrm>
          <a:prstGeom prst="rect">
            <a:avLst/>
          </a:prstGeom>
          <a:solidFill>
            <a:srgbClr val="EDF5FA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¿Tiene equilibrio?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280160"/>
            <a:ext cx="0" cy="50292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2618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algún estado en que el error sea cero y el sistema deje de corregir?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8503920" cy="713232"/>
          </a:xfrm>
          <a:prstGeom prst="rect">
            <a:avLst/>
          </a:prstGeom>
          <a:solidFill>
            <a:srgbClr val="EDF5FA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848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¿Cuál es el equilibrio?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2103120"/>
            <a:ext cx="0" cy="50292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20848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estado estable al que converge el sistema?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8503920" cy="713232"/>
          </a:xfrm>
          <a:prstGeom prst="rect">
            <a:avLst/>
          </a:prstGeom>
          <a:solidFill>
            <a:srgbClr val="EDF5FA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077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¿Cuál es la dinámica?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94760" y="2926080"/>
            <a:ext cx="0" cy="50292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29077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llega el sistema al equilibrio? ¿Rápido, lento, oscilante, en espiral?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8503920" cy="713232"/>
          </a:xfrm>
          <a:prstGeom prst="rect">
            <a:avLst/>
          </a:prstGeom>
          <a:solidFill>
            <a:srgbClr val="EDF5FA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307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¿Cómo responde ante perturbación?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94760" y="3749040"/>
            <a:ext cx="0" cy="50292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37307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desvía al sistema, ¿regresa al equilibrio? ¿A qué velocidad?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" y="4526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Aplicaremos estas cuatro preguntas al sistema de fototaxia en la siguiente diapositiva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Función de Control: ω = k · (S_der − S_izq)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868680"/>
            <a:ext cx="6400800" cy="777240"/>
          </a:xfrm>
          <a:prstGeom prst="rect">
            <a:avLst/>
          </a:prstGeom>
          <a:solidFill>
            <a:srgbClr val="1A2E44"/>
          </a:solidFill>
          <a:ln w="2540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868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A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  =  k · ( S_der  −  S_izq 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tasa de giro (velocidad angular)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Sder = estimulación sensor derecho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Sizq = estimulación sensor izquierdo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Sder − Sizq = señal de error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Sder &gt; Sizq  →  fuente a la derecha, ω &gt; 0 (gira derecha)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Sder = Sizq  →  error = 0, sigue recto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&lt; 0  →  fototaxia negativa (se aleja de la fuente)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920240"/>
            <a:ext cx="0" cy="283464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82880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ganancia 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importante es una diferencia dada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alto: diferencias pequeñas → giros grandes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bajo: requiere diferencias grandes para girar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Atención: esta interpretación reaparece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parámetro α en modelos de aprendizaje es la misma pregunta: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importante debería ser el error?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Aplicando las Cuatro Preguntas a la Fototaxia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868680"/>
          </a:xfrm>
          <a:prstGeom prst="rect">
            <a:avLst/>
          </a:prstGeom>
          <a:solidFill>
            <a:srgbClr val="EDF5FA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7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850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¿Tiene equilibrio?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Cuando ω = 0, es decir, cuando la señal de error es cero.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8503920" cy="868680"/>
          </a:xfrm>
          <a:prstGeom prst="rect">
            <a:avLst/>
          </a:prstGeom>
          <a:solidFill>
            <a:srgbClr val="F0FAEF"/>
          </a:solidFill>
          <a:ln w="12700">
            <a:solidFill>
              <a:srgbClr val="9EE4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1051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7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856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 es el equilibrio?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0° (organismo apunta hacia la fuente). Hay un segundo equilibrio inestable en θ = 180°.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816352"/>
            <a:ext cx="8503920" cy="868680"/>
          </a:xfrm>
          <a:prstGeom prst="rect">
            <a:avLst/>
          </a:prstGeom>
          <a:solidFill>
            <a:srgbClr val="EDF5FA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1635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7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862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 es la dinámica?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giro es grande cuando θ es grande, y se reduce al acercarse a 0°. Resultado: trayectoria en espiral que se cierra progresivamente.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822192"/>
            <a:ext cx="8503920" cy="868680"/>
          </a:xfrm>
          <a:prstGeom prst="rect">
            <a:avLst/>
          </a:prstGeom>
          <a:solidFill>
            <a:srgbClr val="F0FAEF"/>
          </a:solidFill>
          <a:ln w="12700">
            <a:solidFill>
              <a:srgbClr val="9EE4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2219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7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867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¿Responde a perturbación?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Una ráfaga de viento genera nueva disparidad → nueva señal de error → giro correctivo → retorno al equilibrio. Sin necesidad de "decisión" explícita.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846320"/>
            <a:ext cx="7315200" cy="228600"/>
          </a:xfrm>
          <a:prstGeom prst="rect">
            <a:avLst/>
          </a:prstGeom>
          <a:solidFill>
            <a:srgbClr val="C8EDF6"/>
          </a:solidFill>
          <a:ln w="19050">
            <a:solidFill>
              <a:srgbClr val="0A7EA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914400" y="47320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5.7 — Trayectorias reales de polillas (circular / zigzag de aproximación)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Transitorio y Estado Estacionario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TRANSITORIO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ajuste desde las condiciones iniciales hasta el equilibrio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espiral de aproximación en fototaxia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depende de k y del ángulo inicial θ₀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ESTACIONARIO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una vez alcanzado el equilibrio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≈ 0°: el organismo apunta directamente hacia la fuente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005840"/>
            <a:ext cx="0" cy="329184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ocurre con una perturbación?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Ráfaga de viento desvía al organismo a θ = 30°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Nuevo TRANSITORIO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sistema regresa al ESTADO ESTACIONARIO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robustez es independiente de k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 joven (k bajo) y adulto (k alto) alcanzan el mismo θ = 0°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difieren en velocidad de convergencia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434840"/>
            <a:ext cx="7315200" cy="548640"/>
          </a:xfrm>
          <a:prstGeom prst="rect">
            <a:avLst/>
          </a:prstGeom>
          <a:solidFill>
            <a:srgbClr val="C8EDF6"/>
          </a:solidFill>
          <a:ln w="19050">
            <a:solidFill>
              <a:srgbClr val="0A7EA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5.8 — Transitorio vs. Estado Estacionario (eje x: tiempo, eje y: comportamiento)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Ganancia Óptima: ¿Qué tan Importante Debería Ser el Error?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bajo (ganancia baja)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Responde débilmente a cada disparidad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Nunca sobrecompensa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Tarda más en corregir una desviación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en ambientes TURBULENTOS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005840"/>
            <a:ext cx="0" cy="274320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alto (ganancia alta)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Corrige rápidamente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Puede pasarse de largo (sobrecompensación)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Ciclo de sobre-correcciones en entorno perturbado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en ambientes ESTABLES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39776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valor óptimo de k no existe en abstracto — existe en relación a las características del entorno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43891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natural ajustó k al entorno promedio de cada especie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Polilla de ambientes sin viento → k alto   |   Especie costera con viento → k moderado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Forma de la Función de Control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lineal ω = k·(Sder − Sizq) es la más simple posible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¿Podría ser diferente?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con tasa de cambio de disparidad: si la diferencia crece rápido → corrige más agresivamente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más eficiente ante blancos móviles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clave: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es la solución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define el problema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Organismos distintos tienen funciones de control distintas porque resuelven entornos distintos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más sofisticada: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CAMBIAR k adaptativamente según la situación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alto en entornos tranquilos · k moderado en entornos turbulentos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capacidad de modificar la importancia del error basada en experiencia = APRENDIZAJE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 Simulador 1: Fototaxia Básica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00"/>
          </a:xfrm>
          <a:prstGeom prst="rect">
            <a:avLst/>
          </a:prstGeom>
          <a:solidFill>
            <a:srgbClr val="C8EDF6"/>
          </a:solidFill>
          <a:ln w="19050">
            <a:solidFill>
              <a:srgbClr val="0A7EA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— Organismo con dos sensores laterales navegando hacia fuente de luz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 ganancia k, ángulo inicial θ₀, tipo de taxia (positiva/negativa)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200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guía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361188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Básico: Con θ₀ = 75° y k = 1.0, ¿trayectoria recta o espiral? Predice qué cambia al doblar k a 2.0.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Intermedio: Activa "cubrir ojo izquierdo". ¿Qué ocurre? Explícalo en términos de señal de error.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Avanzado: Cambia k a negativo (fototaxia negativa). ¿Qué representa biológicamente?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Regulación y Servomecanismos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tipos de sistemas según la naturaleza del set point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point INTERNO y relativamente fijo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corporal ~37°C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 glucosa en sangre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de fluidos internos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Homeostasis (Cannon)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cambia; el organismo corrige para mantener estabilidad interna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Fallo: si la perturbación excede la capacidad correctiva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0" cy="347472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9728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SERVOMECANISMO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point EXTERNO y variable — persigue un objetivo móvil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Fototaxia con fuente de luz móvil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Misil teledirigido (persigue avión)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ocular (tracking visual)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Fallo: si el objetivo se mueve más rápido que el ancho de banda del sistema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de banda: velocidad máxima de seguimiento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 Simulador 2: Efecto de la Demora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103120"/>
          </a:xfrm>
          <a:prstGeom prst="rect">
            <a:avLst/>
          </a:prstGeom>
          <a:solidFill>
            <a:srgbClr val="C8EDF6"/>
          </a:solidFill>
          <a:ln w="19050">
            <a:solidFill>
              <a:srgbClr val="0A7EA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— Fototaxia con demora ajustable (detección → ejecución)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 ganancia k, delay en pasos de tiempo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Visualización: ángulo θ vs. tiempo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2971800"/>
            <a:ext cx="8503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Básico: Con k = 1.0 y sin demora, confirma convergencia suave. Añade delay = 5 pasos. ¿Qué ocurre?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Avanzado: Encuentra el delay a partir del cual el sistema oscila para k = 1.0. Luego reduce k a la mitad. ¿El mismo delay ahora produce oscilaciones? ¿Por qué interactúan ganancia y demora?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C8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Límite Fundamental y el Puente al Aprendizaje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Reactividad · Demoras · Control anticipatorio · Hacia el condicionamiento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Límite Fundamental: Esclavos del Presente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"Para que actúen, primero tiene que haber un error. Siempre van un paso atrás."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de todos los sistemas de retroalimentación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termostato NO enciende antes de que baje la temperatura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Enciende porque YA bajó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polilla NO gira antes de desviarse de la fuente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porque YA se desvió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completamente REACTIVOS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tienen historia · No tienen predicción · No tienen modelo del futuro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0" cy="329184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9728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las demoras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regadera de agua caliente: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"¡Demasiado fría!" → giras hacia caliente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"¡Ahora demasiado caliente!" → giras hacia fría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Oscilación indefinida alrededor del objetivo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la falta de retroalimentación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retroalimentación llega TARDE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cuando la señal de corrección viaja de regreso, ya produjo exceso en la dirección contraria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Demoras en el Sistema: Consecuencias Dinámicas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demoras son ubicuas en los sistemas reales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nervioso tarda en procesar información sensorial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músculos tardan en responder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tarda en cambiar en respuesta al comportamiento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la demora: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demora: convergencia suave al equilibrio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demora pequeña: convergencia más lenta, algo oscilante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demora grande: oscilaciones crecientes, sistema inestable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k × demora: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alto + demora pequeña: rápido y estable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alto + demora grande: oscilaciones (inestable)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bajo + misma demora grande: puede seguir estable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evolución minimiza demoras pero no puede eliminarlas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sistema de retroalimentación pura puede anticipar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Conductor y las Gasolineras: Reactivo vs. Anticipatorio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834640" cy="3108960"/>
          </a:xfrm>
          <a:prstGeom prst="rect">
            <a:avLst/>
          </a:prstGeom>
          <a:solidFill>
            <a:srgbClr val="2A1F1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Reactivo puro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cuando tanque = 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dispara respuesta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Varado en carretera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822960"/>
            <a:ext cx="2834640" cy="3108960"/>
          </a:xfrm>
          <a:prstGeom prst="rect">
            <a:avLst/>
          </a:prstGeom>
          <a:solidFill>
            <a:srgbClr val="2A1F1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914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Reactivo mejorado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4173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cuando queda ¼ de tanque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más alto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Funciona en ciudad, falla en carretera del norte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822960"/>
            <a:ext cx="2834640" cy="3108960"/>
          </a:xfrm>
          <a:prstGeom prst="rect">
            <a:avLst/>
          </a:prstGeom>
          <a:solidFill>
            <a:srgbClr val="0A7EA4"/>
          </a:solidFill>
          <a:ln w="25400">
            <a:solidFill>
              <a:srgbClr val="E6A8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914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Anticipatorio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4173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distribución de gasolineras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ANTES de tramos largos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predicción, no al estado actual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0233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AF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diferencia no está en el hardware — está en el conocimiento aprendido del entorno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no cargo aquí, más adelante habrá problemas" → Aprendizaje de relaciones predictivas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Anticipatorio: Feedforward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(feedback)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controladora = ERROR ACTUAL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al error una vez que ya ocurrió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 por definición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(anticipatorio)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controladora = PREDICCIÓN del error futuro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de un modelo aprendido del entorno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 ANTES de que aparezca el error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experimentado opera en modo feedforward: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antes de que aparezca el error, porque aprendió que cierta señal predice necesidad futura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005840"/>
            <a:ext cx="0" cy="3657600"/>
          </a:xfrm>
          <a:prstGeom prst="line">
            <a:avLst/>
          </a:prstGeom>
          <a:noFill/>
          <a:ln w="19050">
            <a:solidFill>
              <a:srgbClr val="C8ED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4023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feedforward reemplaza al feedback?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lo complementa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gasolinera esperada está cerrada: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Reactiva inmediatamente estrategia reactiva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más robustos combinan ambos lazos: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garantiza corrección cuando algo sale mal</a:t>
            </a:r>
            <a:endParaRPr lang="en-US" sz="14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evita que salga mal en primer lugar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 Simulador 3: Reactivo vs. Anticipatorio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103120"/>
          </a:xfrm>
          <a:prstGeom prst="rect">
            <a:avLst/>
          </a:prstGeom>
          <a:solidFill>
            <a:srgbClr val="C8EDF6"/>
          </a:solidFill>
          <a:ln w="19050">
            <a:solidFill>
              <a:srgbClr val="0A7EA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— Dos conductores en ruta de 500 km con gasolineras irregulares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Reactivo: carga al 15% · Anticipatorio: carga antes de tramos largos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Visualización: posición vs. nivel de tanque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2971800"/>
            <a:ext cx="8503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Básico: Con gasolineras en [40, 90, 250, 280, 450 km] ¿cuál conductor llega al final? ¿En qué km se queda varado el reactivo?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Avanzado: Gasolineras en [20, 40, 60, 460, 480] — muchas al inicio, pocas al final. ¿Puede el reactivo llegar? ¿Cuál es el umbral mínimo que garantiza llegar?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Comparación: Los Dos Mecanismos Sin Historia</a:t>
            </a:r>
            <a:endParaRPr lang="en-US" sz="2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393192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Ascenso de Colina (Cap. 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Retroalimentación (Cap. 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comparación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Sucesiva (ahora vs. antes)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Simultánea (derecha vs. izquierda)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Sensores requeridos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solo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Bilaterales (dos)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direccional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solo tendencia 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— dirección inmediata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de convergencia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Lenta, sinuosa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Rápida, en espiral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memoria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(valor previo)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(comparación instantánea)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Robustez ante perturbaciones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6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mecanismos son adaptativos y complementarios — muchos organismos los usan en combinación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Puente Hacia el Aprendizaje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834640" cy="18288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Ascenso de Colina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(Cap. 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sucesiva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historia, sin predicción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54680" y="14630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8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91840" y="822960"/>
            <a:ext cx="2834640" cy="1828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868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Retroalimentación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(Cap. 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simultánea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historia, sin predicción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0" y="14630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8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63640" y="822960"/>
            <a:ext cx="2834640" cy="18288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868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Condicionamiento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(Caps. 6→)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 por experiencia acumulada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aprender que X predice 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8503920" cy="2194560"/>
          </a:xfrm>
          <a:prstGeom prst="rect">
            <a:avLst/>
          </a:prstGeom>
          <a:solidFill>
            <a:srgbClr val="1E3A52"/>
          </a:solidFill>
          <a:ln w="19050">
            <a:solidFill>
              <a:srgbClr val="E6A8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Limitación Compartida → La Necesidad del Aprendizaje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mecanismos responden al mundo tal como es </a:t>
            </a:r>
            <a:pPr indent="0" marL="0">
              <a:buNone/>
            </a:pPr>
            <a:r>
              <a:rPr lang="en-US" sz="1300" b="1" i="1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al mundo tal como </a:t>
            </a:r>
            <a:pPr indent="0" marL="0">
              <a:buNone/>
            </a:pPr>
            <a:r>
              <a:rPr lang="en-US" sz="1300" b="1" i="1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será</a:t>
            </a:r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sobrevivir en un mundo donde eventos pasados predicen eventos futuros,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organismo necesita poder modificar su conducta basándose en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acumulada</a:t>
            </a:r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que cierto estímulo predice cierta consecuencia, y actuar </a:t>
            </a:r>
            <a:endParaRPr lang="en-US" sz="13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1B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que la consecuencia llegue</a:t>
            </a:r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Viene: Condicionamiento Asociativo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mecanismos que veremos son todos soluciones al mismo problema: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predice qué? ¿Qué acción produce qué consecuencia?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Condicionamiento pavloviano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que un estímulo predice una consecuencia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instrumental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que una acción produce un resultado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reducción de error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parámetro α = la misma pregunta que k en fototaxia: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tan importante debería ser el error para este organismo, en este entorno, en este momento?"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organismo resuelve ese problema:</a:t>
            </a:r>
            <a:endParaRPr lang="en-US" sz="135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vive esclavizado al presente. Puede anticipar, prepararse, y actuar sobre el futuro antes de que llegue.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Ejercicios de Comprensión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621792"/>
          </a:xfrm>
          <a:prstGeom prst="rect">
            <a:avLst/>
          </a:prstGeom>
          <a:solidFill>
            <a:srgbClr val="EDF5FA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321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Clasifica: (a) murciélago ajusta dirección por diferencia de tiempo eco-oído; (b) planta cierra hojas al vibración; (c) humano mantiene 37°C; (d) caracol navega hacia mayor humedad comparando ahora vs. hace un minuto.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49047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453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Dibuja el diagrama de retroalimentación para la termorregulación. Identifica sensor, comparador, controlador, efector. ¿Cuál es el set point? ¿La señal de error cuando baja la temperatura?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203704"/>
            <a:ext cx="8503920" cy="621792"/>
          </a:xfrm>
          <a:prstGeom prst="rect">
            <a:avLst/>
          </a:prstGeom>
          <a:solidFill>
            <a:srgbClr val="EDF5FA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585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ω = k·(Sder − Sizq) con k = 2. Si Sder = 8 y Sizq = 5, ¿cuál es ω? ¿Hacia dónde está la fuente? ¿Qué ocurre si en el siguiente instante Sder = Sizq = 6.5?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91693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 experimento de cubrir un ojo convierte el sistema de cerrado a abierto. Explícalo en términos de las dos ecuaciones (función de control y función de retroalimentación). ¿Cuál deja de funcionar?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630168"/>
            <a:ext cx="8503920" cy="621792"/>
          </a:xfrm>
          <a:prstGeom prst="rect">
            <a:avLst/>
          </a:prstGeom>
          <a:solidFill>
            <a:srgbClr val="EDF5FA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85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Diseña el sistema de retroalimentación para un robot que sigue una línea negra con dos sensores de luz. Especifica señal de error, signo de k, y qué ocurre cuando ambos sensores ven blanco.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434340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3982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Piensa en un ejemplo de tu propia vida donde aplicas una estrategia anticipatoria. ¿Qué señal usas como predictor? ¿Cuándo aprendiste que esa señal predice la necesidad futura?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Profundizar — Lecturas Recomendadas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868680"/>
          </a:xfrm>
          <a:prstGeom prst="rect">
            <a:avLst/>
          </a:prstGeom>
          <a:solidFill>
            <a:srgbClr val="EDF5FA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Fraenkel &amp; Gunn (1961)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Orientation of Animals: Kineses, Taxes and Compass Reactions. Dover.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tratado clásico. Caps. 2–4 cubren la evidencia experimental en taxias con detalle.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10512"/>
            <a:ext cx="64008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Braitenberg, V. (1984)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1579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Vehicles: Experiments in Synthetic Psychology. MIT Press.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joya conceptual: comportamientos complejos emergen de sistemas de retroalimentación simple. Breve y accesible.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8503920" cy="868680"/>
          </a:xfrm>
          <a:prstGeom prst="rect">
            <a:avLst/>
          </a:prstGeom>
          <a:solidFill>
            <a:srgbClr val="EDF5FA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16352"/>
            <a:ext cx="64008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Powers, W. T. (1973)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1638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Behavior: The Control of Perception. Aldine.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383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radical: todo comportamiento animal es, fundamentalmente, control de percepción mediante retroalimentación.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22192"/>
            <a:ext cx="64008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Ashby, W. R. (1956)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16966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Cybernetics. Chapman &amp; Hall.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matemáticos de sistemas de retroalimentación, con claridad excepcional. Caps. 1–3 son suficientes.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8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CENTRALES DEL CAPÍTULO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320040" cy="4572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34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simetría bilateral permite comparación simultánea: dirección codificada en diferencia, sin exploración previa.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47088"/>
            <a:ext cx="320040" cy="4572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470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92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de retroalimentación son lazos cerrados donde la acción modifica la variable que controla la acción.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59736"/>
            <a:ext cx="320040" cy="4572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4597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5054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ganancia k determina velocidad de convergencia, no el equilibrio. Hay un k óptimo para cada entorno.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72384"/>
            <a:ext cx="320040" cy="4572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7238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11810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retroalimentación es reactiva por definición: siempre necesita un error para actuar.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685032"/>
            <a:ext cx="320040" cy="4572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8503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7307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feedforward anticipa el error usando modelos aprendidos — exactamente lo que el aprendizaje permite.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297680"/>
            <a:ext cx="320040" cy="4572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297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3434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parámetro α del aprendizaje es la misma pregunta que k en retroalimentación: ¿cuánto debería importar el error?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5: Sistemas de Retroalimentación</dc:title>
  <dc:subject>PptxGenJS Presentation</dc:subject>
  <dc:creator>PptxGenJS</dc:creator>
  <cp:lastModifiedBy>PptxGenJS</cp:lastModifiedBy>
  <cp:revision>1</cp:revision>
  <dcterms:created xsi:type="dcterms:W3CDTF">2026-03-10T03:24:36Z</dcterms:created>
  <dcterms:modified xsi:type="dcterms:W3CDTF">2026-03-10T03:24:36Z</dcterms:modified>
</cp:coreProperties>
</file>