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502920" y="1188720"/>
            <a:ext cx="64008" cy="2743200"/>
          </a:xfrm>
          <a:prstGeom prst="rect">
            <a:avLst/>
          </a:prstGeom>
          <a:solidFill>
            <a:srgbClr val="5B8DB8"/>
          </a:solidFill>
          <a:ln w="12700">
            <a:solidFill>
              <a:srgbClr val="5B8DB8"/>
            </a:solidFill>
            <a:prstDash val="solid"/>
          </a:ln>
        </p:spPr>
      </p:sp>
      <p:sp>
        <p:nvSpPr>
          <p:cNvPr id="3" name="Text 1"/>
          <p:cNvSpPr/>
          <p:nvPr/>
        </p:nvSpPr>
        <p:spPr>
          <a:xfrm>
            <a:off x="777240" y="1234440"/>
            <a:ext cx="8046720" cy="146304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Modelos y Explicación</a:t>
            </a:r>
            <a:endParaRPr lang="en-US" sz="4400" dirty="0"/>
          </a:p>
        </p:txBody>
      </p:sp>
      <p:sp>
        <p:nvSpPr>
          <p:cNvPr id="4" name="Text 2"/>
          <p:cNvSpPr/>
          <p:nvPr/>
        </p:nvSpPr>
        <p:spPr>
          <a:xfrm>
            <a:off x="777240" y="2834640"/>
            <a:ext cx="8046720" cy="457200"/>
          </a:xfrm>
          <a:prstGeom prst="rect">
            <a:avLst/>
          </a:prstGeom>
          <a:noFill/>
          <a:ln/>
        </p:spPr>
        <p:txBody>
          <a:bodyPr wrap="square" rtlCol="0" anchor="ctr"/>
          <a:lstStyle/>
          <a:p>
            <a:pPr indent="0" marL="0">
              <a:buNone/>
            </a:pPr>
            <a:r>
              <a:rPr lang="en-US" sz="1600" dirty="0">
                <a:solidFill>
                  <a:srgbClr val="5B8DB8"/>
                </a:solidFill>
                <a:latin typeface="Calibri" pitchFamily="34" charset="0"/>
                <a:ea typeface="Calibri" pitchFamily="34" charset="-122"/>
                <a:cs typeface="Calibri" pitchFamily="34" charset="-120"/>
              </a:rPr>
              <a:t>Capítulo 1 · Aprendizaje y Comportamiento Adaptable</a:t>
            </a:r>
            <a:endParaRPr lang="en-US" sz="1600" dirty="0"/>
          </a:p>
        </p:txBody>
      </p:sp>
      <p:sp>
        <p:nvSpPr>
          <p:cNvPr id="5" name="Text 3"/>
          <p:cNvSpPr/>
          <p:nvPr/>
        </p:nvSpPr>
        <p:spPr>
          <a:xfrm>
            <a:off x="777240" y="3429000"/>
            <a:ext cx="3657600" cy="365760"/>
          </a:xfrm>
          <a:prstGeom prst="rect">
            <a:avLst/>
          </a:prstGeom>
          <a:noFill/>
          <a:ln/>
        </p:spPr>
        <p:txBody>
          <a:bodyPr wrap="square" rtlCol="0" anchor="ctr"/>
          <a:lstStyle/>
          <a:p>
            <a:pPr indent="0" marL="0">
              <a:buNone/>
            </a:pPr>
            <a:r>
              <a:rPr lang="en-US" sz="1400" dirty="0">
                <a:solidFill>
                  <a:srgbClr val="8B94A3"/>
                </a:solidFill>
                <a:latin typeface="Calibri" pitchFamily="34" charset="0"/>
                <a:ea typeface="Calibri" pitchFamily="34" charset="-122"/>
                <a:cs typeface="Calibri" pitchFamily="34" charset="-120"/>
              </a:rPr>
              <a:t>Arturo Bouzas</a:t>
            </a:r>
            <a:endParaRPr lang="en-US" sz="1400" dirty="0"/>
          </a:p>
        </p:txBody>
      </p:sp>
      <p:sp>
        <p:nvSpPr>
          <p:cNvPr id="6" name="Text 4"/>
          <p:cNvSpPr/>
          <p:nvPr/>
        </p:nvSpPr>
        <p:spPr>
          <a:xfrm>
            <a:off x="777240" y="3840480"/>
            <a:ext cx="3657600" cy="320040"/>
          </a:xfrm>
          <a:prstGeom prst="rect">
            <a:avLst/>
          </a:prstGeom>
          <a:noFill/>
          <a:ln/>
        </p:spPr>
        <p:txBody>
          <a:bodyPr wrap="square" rtlCol="0" anchor="ctr"/>
          <a:lstStyle/>
          <a:p>
            <a:pPr indent="0" marL="0">
              <a:buNone/>
            </a:pPr>
            <a:r>
              <a:rPr lang="en-US" sz="1300" dirty="0">
                <a:solidFill>
                  <a:srgbClr val="8B94A3"/>
                </a:solidFill>
                <a:latin typeface="Calibri" pitchFamily="34" charset="0"/>
                <a:ea typeface="Calibri" pitchFamily="34" charset="-122"/>
                <a:cs typeface="Calibri" pitchFamily="34" charset="-120"/>
              </a:rPr>
              <a:t>Psicología · UNAM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31A27"/>
          </a:solidFill>
          <a:ln w="12700">
            <a:solidFill>
              <a:srgbClr val="131A27"/>
            </a:solidFill>
            <a:prstDash val="solid"/>
          </a:ln>
        </p:spPr>
      </p:sp>
      <p:sp>
        <p:nvSpPr>
          <p:cNvPr id="3" name="Text 1"/>
          <p:cNvSpPr/>
          <p:nvPr/>
        </p:nvSpPr>
        <p:spPr>
          <a:xfrm>
            <a:off x="411480" y="73152"/>
            <a:ext cx="8503920" cy="76809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Agenda de la sesión</a:t>
            </a:r>
            <a:endParaRPr lang="en-US" sz="2200" dirty="0"/>
          </a:p>
        </p:txBody>
      </p:sp>
      <p:sp>
        <p:nvSpPr>
          <p:cNvPr id="4" name="Text 2"/>
          <p:cNvSpPr/>
          <p:nvPr/>
        </p:nvSpPr>
        <p:spPr>
          <a:xfrm>
            <a:off x="411480" y="1051560"/>
            <a:ext cx="8321040" cy="3840480"/>
          </a:xfrm>
          <a:prstGeom prst="rect">
            <a:avLst/>
          </a:prstGeom>
          <a:noFill/>
          <a:ln/>
        </p:spPr>
        <p:txBody>
          <a:bodyPr wrap="square" rtlCol="0" anchor="t"/>
          <a:lstStyle/>
          <a:p>
            <a:pPr marL="342900" indent="-342900">
              <a:spcAft>
                <a:spcPts val="600"/>
              </a:spcAft>
              <a:buSzPct val="100000"/>
              <a:buChar char="•"/>
            </a:pPr>
            <a:r>
              <a:rPr lang="en-US" sz="1500" b="1" dirty="0">
                <a:solidFill>
                  <a:srgbClr val="D1D5DB"/>
                </a:solidFill>
                <a:latin typeface="Calibri" pitchFamily="34" charset="0"/>
                <a:ea typeface="Calibri" pitchFamily="34" charset="-122"/>
                <a:cs typeface="Calibri" pitchFamily="34" charset="-120"/>
              </a:rPr>
              <a:t>La visión ortodoxa y sus límites</a:t>
            </a:r>
            <a:endParaRPr lang="en-US" sz="1500" dirty="0"/>
          </a:p>
          <a:p>
            <a:pPr marL="342900" indent="-342900">
              <a:spcAft>
                <a:spcPts val="600"/>
              </a:spcAft>
              <a:buSzPct val="100000"/>
              <a:buChar char="•"/>
            </a:pPr>
            <a:r>
              <a:rPr lang="en-US" sz="1500" dirty="0">
                <a:solidFill>
                  <a:srgbClr val="D1D5DB"/>
                </a:solidFill>
                <a:latin typeface="Calibri" pitchFamily="34" charset="0"/>
                <a:ea typeface="Calibri" pitchFamily="34" charset="-122"/>
                <a:cs typeface="Calibri" pitchFamily="34" charset="-120"/>
              </a:rPr>
              <a:t>Modelo Nomológico-Deductivo (ND) · El problema de la asimetría</a:t>
            </a:r>
            <a:endParaRPr lang="en-US" sz="1500" dirty="0"/>
          </a:p>
          <a:p>
            <a:pPr marL="342900" indent="-342900">
              <a:spcAft>
                <a:spcPts val="600"/>
              </a:spcAft>
              <a:buSzPct val="100000"/>
              <a:buChar char="•"/>
            </a:pPr>
            <a:r>
              <a:rPr lang="en-US" sz="1500" b="1" dirty="0">
                <a:solidFill>
                  <a:srgbClr val="D1D5DB"/>
                </a:solidFill>
                <a:latin typeface="Calibri" pitchFamily="34" charset="0"/>
                <a:ea typeface="Calibri" pitchFamily="34" charset="-122"/>
                <a:cs typeface="Calibri" pitchFamily="34" charset="-120"/>
              </a:rPr>
              <a:t>De teorías a modelos</a:t>
            </a:r>
            <a:endParaRPr lang="en-US" sz="1500" dirty="0"/>
          </a:p>
          <a:p>
            <a:pPr marL="342900" indent="-342900">
              <a:spcAft>
                <a:spcPts val="600"/>
              </a:spcAft>
              <a:buSzPct val="100000"/>
              <a:buChar char="•"/>
            </a:pPr>
            <a:r>
              <a:rPr lang="en-US" sz="1500" dirty="0">
                <a:solidFill>
                  <a:srgbClr val="D1D5DB"/>
                </a:solidFill>
                <a:latin typeface="Calibri" pitchFamily="34" charset="0"/>
                <a:ea typeface="Calibri" pitchFamily="34" charset="-122"/>
                <a:cs typeface="Calibri" pitchFamily="34" charset="-120"/>
              </a:rPr>
              <a:t>¿Qué es un modelo? · Isomorfismo vs. inferencialismo</a:t>
            </a:r>
            <a:endParaRPr lang="en-US" sz="1500" dirty="0"/>
          </a:p>
          <a:p>
            <a:pPr marL="342900" indent="-342900">
              <a:spcAft>
                <a:spcPts val="600"/>
              </a:spcAft>
              <a:buSzPct val="100000"/>
              <a:buChar char="•"/>
            </a:pPr>
            <a:r>
              <a:rPr lang="en-US" sz="1500" b="1" dirty="0">
                <a:solidFill>
                  <a:srgbClr val="D1D5DB"/>
                </a:solidFill>
                <a:latin typeface="Calibri" pitchFamily="34" charset="0"/>
                <a:ea typeface="Calibri" pitchFamily="34" charset="-122"/>
                <a:cs typeface="Calibri" pitchFamily="34" charset="-120"/>
              </a:rPr>
              <a:t>Pluralidad de formas de explicar</a:t>
            </a:r>
            <a:endParaRPr lang="en-US" sz="1500" dirty="0"/>
          </a:p>
          <a:p>
            <a:pPr marL="342900" indent="-342900">
              <a:spcAft>
                <a:spcPts val="600"/>
              </a:spcAft>
              <a:buSzPct val="100000"/>
              <a:buChar char="•"/>
            </a:pPr>
            <a:r>
              <a:rPr lang="en-US" sz="1500" dirty="0">
                <a:solidFill>
                  <a:srgbClr val="D1D5DB"/>
                </a:solidFill>
                <a:latin typeface="Calibri" pitchFamily="34" charset="0"/>
                <a:ea typeface="Calibri" pitchFamily="34" charset="-122"/>
                <a:cs typeface="Calibri" pitchFamily="34" charset="-120"/>
              </a:rPr>
              <a:t>Causal · Unificación · Mecanicista</a:t>
            </a:r>
            <a:endParaRPr lang="en-US" sz="1500" dirty="0"/>
          </a:p>
          <a:p>
            <a:pPr marL="342900" indent="-342900">
              <a:spcAft>
                <a:spcPts val="600"/>
              </a:spcAft>
              <a:buSzPct val="100000"/>
              <a:buChar char="•"/>
            </a:pPr>
            <a:r>
              <a:rPr lang="en-US" sz="1500" b="1" dirty="0">
                <a:solidFill>
                  <a:srgbClr val="D1D5DB"/>
                </a:solidFill>
                <a:latin typeface="Calibri" pitchFamily="34" charset="0"/>
                <a:ea typeface="Calibri" pitchFamily="34" charset="-122"/>
                <a:cs typeface="Calibri" pitchFamily="34" charset="-120"/>
              </a:rPr>
              <a:t>Niveles de análisis</a:t>
            </a:r>
            <a:endParaRPr lang="en-US" sz="1500" dirty="0"/>
          </a:p>
          <a:p>
            <a:pPr marL="342900" indent="-342900">
              <a:spcAft>
                <a:spcPts val="600"/>
              </a:spcAft>
              <a:buSzPct val="100000"/>
              <a:buChar char="•"/>
            </a:pPr>
            <a:r>
              <a:rPr lang="en-US" sz="1500" dirty="0">
                <a:solidFill>
                  <a:srgbClr val="D1D5DB"/>
                </a:solidFill>
                <a:latin typeface="Calibri" pitchFamily="34" charset="0"/>
                <a:ea typeface="Calibri" pitchFamily="34" charset="-122"/>
                <a:cs typeface="Calibri" pitchFamily="34" charset="-120"/>
              </a:rPr>
              <a:t>Tinbergen · Marr · Killeen</a:t>
            </a:r>
            <a:endParaRPr lang="en-US" sz="1500" dirty="0"/>
          </a:p>
          <a:p>
            <a:pPr marL="342900" indent="-342900">
              <a:spcAft>
                <a:spcPts val="600"/>
              </a:spcAft>
              <a:buSzPct val="100000"/>
              <a:buChar char="•"/>
            </a:pPr>
            <a:r>
              <a:rPr lang="en-US" sz="1500" b="1" dirty="0">
                <a:solidFill>
                  <a:srgbClr val="D1D5DB"/>
                </a:solidFill>
                <a:latin typeface="Calibri" pitchFamily="34" charset="0"/>
                <a:ea typeface="Calibri" pitchFamily="34" charset="-122"/>
                <a:cs typeface="Calibri" pitchFamily="34" charset="-120"/>
              </a:rPr>
              <a:t>Van Fraassen y los modelos de datos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5B8DB8"/>
          </a:solidFill>
          <a:ln w="12700">
            <a:solidFill>
              <a:srgbClr val="5B8DB8"/>
            </a:solidFill>
            <a:prstDash val="solid"/>
          </a:ln>
        </p:spPr>
      </p:sp>
      <p:sp>
        <p:nvSpPr>
          <p:cNvPr id="3" name="Text 1"/>
          <p:cNvSpPr/>
          <p:nvPr/>
        </p:nvSpPr>
        <p:spPr>
          <a:xfrm>
            <a:off x="457200" y="1554480"/>
            <a:ext cx="8412480" cy="128016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I. La Visión Ortodoxa y Sus Límites</a:t>
            </a:r>
            <a:endParaRPr lang="en-US" sz="3400" dirty="0"/>
          </a:p>
        </p:txBody>
      </p:sp>
      <p:sp>
        <p:nvSpPr>
          <p:cNvPr id="4" name="Text 2"/>
          <p:cNvSpPr/>
          <p:nvPr/>
        </p:nvSpPr>
        <p:spPr>
          <a:xfrm>
            <a:off x="457200" y="3017520"/>
            <a:ext cx="8412480" cy="640080"/>
          </a:xfrm>
          <a:prstGeom prst="rect">
            <a:avLst/>
          </a:prstGeom>
          <a:noFill/>
          <a:ln/>
        </p:spPr>
        <p:txBody>
          <a:bodyPr wrap="square" rtlCol="0" anchor="t"/>
          <a:lstStyle/>
          <a:p>
            <a:pPr indent="0" marL="0">
              <a:buNone/>
            </a:pPr>
            <a:r>
              <a:rPr lang="en-US" sz="1600" i="1" dirty="0">
                <a:solidFill>
                  <a:srgbClr val="8B94A3"/>
                </a:solidFill>
                <a:latin typeface="Calibri" pitchFamily="34" charset="0"/>
                <a:ea typeface="Calibri" pitchFamily="34" charset="-122"/>
                <a:cs typeface="Calibri" pitchFamily="34" charset="-120"/>
              </a:rPr>
              <a:t>Primera mitad del siglo XX · Psicología y filosofía de la ciencia</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31A27"/>
          </a:solidFill>
          <a:ln w="12700">
            <a:solidFill>
              <a:srgbClr val="131A27"/>
            </a:solidFill>
            <a:prstDash val="solid"/>
          </a:ln>
        </p:spPr>
      </p:sp>
      <p:sp>
        <p:nvSpPr>
          <p:cNvPr id="3" name="Text 1"/>
          <p:cNvSpPr/>
          <p:nvPr/>
        </p:nvSpPr>
        <p:spPr>
          <a:xfrm>
            <a:off x="411480" y="73152"/>
            <a:ext cx="8503920" cy="76809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La pregunta que organiza este capítulo</a:t>
            </a:r>
            <a:endParaRPr lang="en-US" sz="2200" dirty="0"/>
          </a:p>
        </p:txBody>
      </p:sp>
      <p:sp>
        <p:nvSpPr>
          <p:cNvPr id="4" name="Text 2"/>
          <p:cNvSpPr/>
          <p:nvPr/>
        </p:nvSpPr>
        <p:spPr>
          <a:xfrm>
            <a:off x="411480" y="1051560"/>
            <a:ext cx="8321040" cy="3840480"/>
          </a:xfrm>
          <a:prstGeom prst="rect">
            <a:avLst/>
          </a:prstGeom>
          <a:noFill/>
          <a:ln/>
        </p:spPr>
        <p:txBody>
          <a:bodyPr wrap="square" rtlCol="0" anchor="t"/>
          <a:lstStyle/>
          <a:p>
            <a:pPr marL="342900" indent="-342900">
              <a:spcAft>
                <a:spcPts val="600"/>
              </a:spcAft>
              <a:buSzPct val="100000"/>
              <a:buChar char="•"/>
            </a:pPr>
            <a:r>
              <a:rPr lang="en-US" sz="1500" dirty="0">
                <a:solidFill>
                  <a:srgbClr val="D1D5DB"/>
                </a:solidFill>
                <a:latin typeface="Calibri" pitchFamily="34" charset="0"/>
                <a:ea typeface="Calibri" pitchFamily="34" charset="-122"/>
                <a:cs typeface="Calibri" pitchFamily="34" charset="-120"/>
              </a:rPr>
              <a:t>Cuando se les pregunta cuál es el propósito de la ciencia, la mayoría de los científicos dirán: explicar fenómenos.</a:t>
            </a:r>
            <a:endParaRPr lang="en-US" sz="1500" dirty="0"/>
          </a:p>
          <a:p>
            <a:pPr marL="342900" indent="-342900">
              <a:spcAft>
                <a:spcPts val="600"/>
              </a:spcAft>
              <a:buSzPct val="100000"/>
              <a:buChar char="•"/>
            </a:pPr>
            <a:r>
              <a:rPr lang="en-US" sz="1500" dirty="0">
                <a:solidFill>
                  <a:srgbClr val="D1D5DB"/>
                </a:solidFill>
                <a:latin typeface="Calibri" pitchFamily="34" charset="0"/>
                <a:ea typeface="Calibri" pitchFamily="34" charset="-122"/>
                <a:cs typeface="Calibri" pitchFamily="34" charset="-120"/>
              </a:rPr>
              <a:t>Pero cuando se les pregunta qué entienden por explicar, las respuestas divergen —a veces radicalmente.</a:t>
            </a:r>
            <a:endParaRPr lang="en-US" sz="1500" dirty="0"/>
          </a:p>
          <a:p>
            <a:pPr marL="342900" indent="-342900">
              <a:spcAft>
                <a:spcPts val="600"/>
              </a:spcAft>
              <a:buSzPct val="100000"/>
              <a:buChar char="•"/>
            </a:pPr>
            <a:r>
              <a:rPr lang="en-US" sz="1500" dirty="0">
                <a:solidFill>
                  <a:srgbClr val="D1D5DB"/>
                </a:solidFill>
                <a:latin typeface="Calibri" pitchFamily="34" charset="0"/>
                <a:ea typeface="Calibri" pitchFamily="34" charset="-122"/>
                <a:cs typeface="Calibri" pitchFamily="34" charset="-120"/>
              </a:rPr>
              <a:t>En psicología esto es especialmente visible:</a:t>
            </a:r>
            <a:endParaRPr lang="en-US" sz="1500" dirty="0"/>
          </a:p>
          <a:p>
            <a:pPr lvl="1" marL="457200" indent="-228600">
              <a:spcAft>
                <a:spcPts val="400"/>
              </a:spcAft>
              <a:buSzPct val="100000"/>
              <a:buChar char="•"/>
            </a:pPr>
            <a:r>
              <a:rPr lang="en-US" sz="1400" dirty="0">
                <a:solidFill>
                  <a:srgbClr val="8B94A3"/>
                </a:solidFill>
                <a:latin typeface="Calibri" pitchFamily="34" charset="0"/>
                <a:ea typeface="Calibri" pitchFamily="34" charset="-122"/>
                <a:cs typeface="Calibri" pitchFamily="34" charset="-120"/>
              </a:rPr>
              <a:t>Algunos: describir con precisión una relación funcional = explicación completa</a:t>
            </a:r>
            <a:endParaRPr lang="en-US" sz="1500" dirty="0"/>
          </a:p>
          <a:p>
            <a:pPr lvl="1" marL="457200" indent="-228600">
              <a:spcAft>
                <a:spcPts val="400"/>
              </a:spcAft>
              <a:buSzPct val="100000"/>
              <a:buChar char="•"/>
            </a:pPr>
            <a:r>
              <a:rPr lang="en-US" sz="1400" dirty="0">
                <a:solidFill>
                  <a:srgbClr val="8B94A3"/>
                </a:solidFill>
                <a:latin typeface="Calibri" pitchFamily="34" charset="0"/>
                <a:ea typeface="Calibri" pitchFamily="34" charset="-122"/>
                <a:cs typeface="Calibri" pitchFamily="34" charset="-120"/>
              </a:rPr>
              <a:t>Otros: solo es explicación identificar el mecanismo neural que produce el comportamiento</a:t>
            </a:r>
            <a:endParaRPr lang="en-US" sz="1500" dirty="0"/>
          </a:p>
          <a:p>
            <a:pPr marL="342900" indent="-342900">
              <a:spcAft>
                <a:spcPts val="600"/>
              </a:spcAft>
              <a:buSzPct val="100000"/>
              <a:buChar char="•"/>
            </a:pPr>
            <a:r>
              <a:rPr lang="en-US" sz="1500" dirty="0">
                <a:solidFill>
                  <a:srgbClr val="D1D5DB"/>
                </a:solidFill>
                <a:latin typeface="Calibri" pitchFamily="34" charset="0"/>
                <a:ea typeface="Calibri" pitchFamily="34" charset="-122"/>
                <a:cs typeface="Calibri" pitchFamily="34" charset="-120"/>
              </a:rPr>
              <a:t>Con frecuencia, ambos grupos hablan de los mismos datos experimentales.</a:t>
            </a:r>
            <a:endParaRPr lang="en-US" sz="1500" dirty="0"/>
          </a:p>
          <a:p>
            <a:pPr marL="342900" indent="-342900">
              <a:spcAft>
                <a:spcPts val="600"/>
              </a:spcAft>
              <a:buSzPct val="100000"/>
              <a:buChar char="•"/>
            </a:pPr>
            <a:r>
              <a:rPr lang="en-US" sz="1500" b="1" dirty="0">
                <a:solidFill>
                  <a:srgbClr val="5B8DB8"/>
                </a:solidFill>
                <a:latin typeface="Calibri" pitchFamily="34" charset="0"/>
                <a:ea typeface="Calibri" pitchFamily="34" charset="-122"/>
                <a:cs typeface="Calibri" pitchFamily="34" charset="-120"/>
              </a:rPr>
              <a:t>Tesis del capítulo: esa divergencia refleja preguntas distintas, no desacuerdos sobre los hechos.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31A27"/>
          </a:solidFill>
          <a:ln w="12700">
            <a:solidFill>
              <a:srgbClr val="131A27"/>
            </a:solidFill>
            <a:prstDash val="solid"/>
          </a:ln>
        </p:spPr>
      </p:sp>
      <p:sp>
        <p:nvSpPr>
          <p:cNvPr id="3" name="Text 1"/>
          <p:cNvSpPr/>
          <p:nvPr/>
        </p:nvSpPr>
        <p:spPr>
          <a:xfrm>
            <a:off x="411480" y="73152"/>
            <a:ext cx="8503920" cy="76809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La visión hipotético-deductiva (primera mitad del s. XX)</a:t>
            </a:r>
            <a:endParaRPr lang="en-US" sz="2200" dirty="0"/>
          </a:p>
        </p:txBody>
      </p:sp>
      <p:sp>
        <p:nvSpPr>
          <p:cNvPr id="4" name="Text 2"/>
          <p:cNvSpPr/>
          <p:nvPr/>
        </p:nvSpPr>
        <p:spPr>
          <a:xfrm>
            <a:off x="411480" y="1051560"/>
            <a:ext cx="8321040" cy="3840480"/>
          </a:xfrm>
          <a:prstGeom prst="rect">
            <a:avLst/>
          </a:prstGeom>
          <a:noFill/>
          <a:ln/>
        </p:spPr>
        <p:txBody>
          <a:bodyPr wrap="square" rtlCol="0" anchor="t"/>
          <a:lstStyle/>
          <a:p>
            <a:pPr marL="342900" indent="-342900">
              <a:spcAft>
                <a:spcPts val="600"/>
              </a:spcAft>
              <a:buSzPct val="100000"/>
              <a:buChar char="•"/>
            </a:pPr>
            <a:r>
              <a:rPr lang="en-US" sz="1600" dirty="0">
                <a:solidFill>
                  <a:srgbClr val="D1D5DB"/>
                </a:solidFill>
                <a:latin typeface="Calibri" pitchFamily="34" charset="0"/>
                <a:ea typeface="Calibri" pitchFamily="34" charset="-122"/>
                <a:cs typeface="Calibri" pitchFamily="34" charset="-120"/>
              </a:rPr>
              <a:t>Los psicólogos compartían con los filósofos de su época una imagen de la teoría científica como un conjunto de leyes generales.</a:t>
            </a:r>
            <a:endParaRPr lang="en-US" sz="1600" dirty="0"/>
          </a:p>
          <a:p>
            <a:pPr marL="342900" indent="-342900">
              <a:spcAft>
                <a:spcPts val="600"/>
              </a:spcAft>
              <a:buSzPct val="100000"/>
              <a:buChar char="•"/>
            </a:pPr>
            <a:r>
              <a:rPr lang="en-US" sz="1600" dirty="0">
                <a:solidFill>
                  <a:srgbClr val="D1D5DB"/>
                </a:solidFill>
                <a:latin typeface="Calibri" pitchFamily="34" charset="0"/>
                <a:ea typeface="Calibri" pitchFamily="34" charset="-122"/>
                <a:cs typeface="Calibri" pitchFamily="34" charset="-120"/>
              </a:rPr>
              <a:t>De esas leyes se podían derivar —por deducción— fenómenos individuales o patrones entre ellos.</a:t>
            </a:r>
            <a:endParaRPr lang="en-US" sz="1600" dirty="0"/>
          </a:p>
          <a:p>
            <a:pPr marL="342900" indent="-342900">
              <a:spcAft>
                <a:spcPts val="600"/>
              </a:spcAft>
              <a:buSzPct val="100000"/>
              <a:buChar char="•"/>
            </a:pPr>
            <a:r>
              <a:rPr lang="en-US" sz="1600" dirty="0">
                <a:solidFill>
                  <a:srgbClr val="D1D5DB"/>
                </a:solidFill>
                <a:latin typeface="Calibri" pitchFamily="34" charset="0"/>
                <a:ea typeface="Calibri" pitchFamily="34" charset="-122"/>
                <a:cs typeface="Calibri" pitchFamily="34" charset="-120"/>
              </a:rPr>
              <a:t>Las leyes relacionaban:</a:t>
            </a:r>
            <a:endParaRPr lang="en-US" sz="1600" dirty="0"/>
          </a:p>
          <a:p>
            <a:pPr lvl="1" marL="457200" indent="-228600">
              <a:spcAft>
                <a:spcPts val="400"/>
              </a:spcAft>
              <a:buSzPct val="100000"/>
              <a:buChar char="•"/>
            </a:pPr>
            <a:r>
              <a:rPr lang="en-US" sz="1500" dirty="0">
                <a:solidFill>
                  <a:srgbClr val="8B94A3"/>
                </a:solidFill>
                <a:latin typeface="Calibri" pitchFamily="34" charset="0"/>
                <a:ea typeface="Calibri" pitchFamily="34" charset="-122"/>
                <a:cs typeface="Calibri" pitchFamily="34" charset="-120"/>
              </a:rPr>
              <a:t>Términos teóricos no observables directamente (pulsión, hábito)</a:t>
            </a:r>
            <a:endParaRPr lang="en-US" sz="1600" dirty="0"/>
          </a:p>
          <a:p>
            <a:pPr lvl="1" marL="457200" indent="-228600">
              <a:spcAft>
                <a:spcPts val="400"/>
              </a:spcAft>
              <a:buSzPct val="100000"/>
              <a:buChar char="•"/>
            </a:pPr>
            <a:r>
              <a:rPr lang="en-US" sz="1500" dirty="0">
                <a:solidFill>
                  <a:srgbClr val="8B94A3"/>
                </a:solidFill>
                <a:latin typeface="Calibri" pitchFamily="34" charset="0"/>
                <a:ea typeface="Calibri" pitchFamily="34" charset="-122"/>
                <a:cs typeface="Calibri" pitchFamily="34" charset="-120"/>
              </a:rPr>
              <a:t>Variables medibles, mediante reglas de correspondencia</a:t>
            </a:r>
            <a:endParaRPr lang="en-US" sz="1600" dirty="0"/>
          </a:p>
          <a:p>
            <a:pPr marL="342900" indent="-342900">
              <a:spcAft>
                <a:spcPts val="600"/>
              </a:spcAft>
              <a:buSzPct val="100000"/>
              <a:buChar char="•"/>
            </a:pPr>
            <a:r>
              <a:rPr lang="en-US" sz="1600" dirty="0">
                <a:solidFill>
                  <a:srgbClr val="D1D5DB"/>
                </a:solidFill>
                <a:latin typeface="Calibri" pitchFamily="34" charset="0"/>
                <a:ea typeface="Calibri" pitchFamily="34" charset="-122"/>
                <a:cs typeface="Calibri" pitchFamily="34" charset="-120"/>
              </a:rPr>
              <a:t>El objetivo: construir sistemas hipotético-deductivos como los que la física había desarrollado para el movimiento de los planetas.</a:t>
            </a:r>
            <a:endParaRPr lang="en-US" sz="1600" dirty="0"/>
          </a:p>
          <a:p>
            <a:pPr marL="342900" indent="-342900">
              <a:spcAft>
                <a:spcPts val="600"/>
              </a:spcAft>
              <a:buSzPct val="100000"/>
              <a:buChar char="•"/>
            </a:pPr>
            <a:r>
              <a:rPr lang="en-US" sz="1600" i="1" dirty="0">
                <a:solidFill>
                  <a:srgbClr val="8B94A3"/>
                </a:solidFill>
                <a:latin typeface="Calibri" pitchFamily="34" charset="0"/>
                <a:ea typeface="Calibri" pitchFamily="34" charset="-122"/>
                <a:cs typeface="Calibri" pitchFamily="34" charset="-120"/>
              </a:rPr>
              <a:t>Ejemplo emblemático: Teoría de Hull · Potencial de acción = Pulsión × Fuerza de Hábito</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31A27"/>
          </a:solidFill>
          <a:ln w="12700">
            <a:solidFill>
              <a:srgbClr val="131A27"/>
            </a:solidFill>
            <a:prstDash val="solid"/>
          </a:ln>
        </p:spPr>
      </p:sp>
      <p:sp>
        <p:nvSpPr>
          <p:cNvPr id="3" name="Text 1"/>
          <p:cNvSpPr/>
          <p:nvPr/>
        </p:nvSpPr>
        <p:spPr>
          <a:xfrm>
            <a:off x="411480" y="73152"/>
            <a:ext cx="8503920" cy="76809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El Modelo Nomológico-Deductivo (Hempel)</a:t>
            </a:r>
            <a:endParaRPr lang="en-US" sz="2200" dirty="0"/>
          </a:p>
        </p:txBody>
      </p:sp>
      <p:sp>
        <p:nvSpPr>
          <p:cNvPr id="4" name="Text 2"/>
          <p:cNvSpPr/>
          <p:nvPr/>
        </p:nvSpPr>
        <p:spPr>
          <a:xfrm>
            <a:off x="411480" y="1051560"/>
            <a:ext cx="8321040" cy="3840480"/>
          </a:xfrm>
          <a:prstGeom prst="rect">
            <a:avLst/>
          </a:prstGeom>
          <a:noFill/>
          <a:ln/>
        </p:spPr>
        <p:txBody>
          <a:bodyPr wrap="square" rtlCol="0" anchor="t"/>
          <a:lstStyle/>
          <a:p>
            <a:pPr marL="342900" indent="-342900">
              <a:spcAft>
                <a:spcPts val="600"/>
              </a:spcAft>
              <a:buSzPct val="100000"/>
              <a:buChar char="•"/>
            </a:pPr>
            <a:r>
              <a:rPr lang="en-US" sz="1500" b="1" dirty="0">
                <a:solidFill>
                  <a:srgbClr val="FFFFFF"/>
                </a:solidFill>
                <a:latin typeface="Calibri" pitchFamily="34" charset="0"/>
                <a:ea typeface="Calibri" pitchFamily="34" charset="-122"/>
                <a:cs typeface="Calibri" pitchFamily="34" charset="-120"/>
              </a:rPr>
              <a:t>Explicar un fenómeno = derivarlo lógicamente de leyes generales.</a:t>
            </a:r>
            <a:endParaRPr lang="en-US" sz="1500" dirty="0"/>
          </a:p>
          <a:p>
            <a:pPr marL="342900" indent="-342900">
              <a:spcAft>
                <a:spcPts val="600"/>
              </a:spcAft>
              <a:buSzPct val="100000"/>
              <a:buChar char="•"/>
            </a:pPr>
            <a:r>
              <a:rPr lang="en-US" sz="1500" dirty="0">
                <a:solidFill>
                  <a:srgbClr val="D1D5DB"/>
                </a:solidFill>
                <a:latin typeface="Calibri" pitchFamily="34" charset="0"/>
                <a:ea typeface="Calibri" pitchFamily="34" charset="-122"/>
                <a:cs typeface="Calibri" pitchFamily="34" charset="-120"/>
              </a:rPr>
              <a:t>Si observamos que un animal corre más rápido en cierta condición, la explicación consiste en mostrar que esa velocidad se sigue de los valores de las variables teóricas postuladas por la teoría.</a:t>
            </a:r>
            <a:endParaRPr lang="en-US" sz="1500" dirty="0"/>
          </a:p>
          <a:p>
            <a:pPr marL="342900" indent="-342900">
              <a:spcAft>
                <a:spcPts val="600"/>
              </a:spcAft>
              <a:buSzPct val="100000"/>
              <a:buChar char="•"/>
            </a:pPr>
            <a:r>
              <a:rPr lang="en-US" sz="1500" dirty="0">
                <a:solidFill>
                  <a:srgbClr val="D1D5DB"/>
                </a:solidFill>
                <a:latin typeface="Calibri" pitchFamily="34" charset="0"/>
                <a:ea typeface="Calibri" pitchFamily="34" charset="-122"/>
                <a:cs typeface="Calibri" pitchFamily="34" charset="-120"/>
              </a:rPr>
              <a:t>Estructura del modelo ND:</a:t>
            </a:r>
            <a:endParaRPr lang="en-US" sz="1500" dirty="0"/>
          </a:p>
          <a:p>
            <a:pPr lvl="1" marL="457200" indent="-228600">
              <a:spcAft>
                <a:spcPts val="400"/>
              </a:spcAft>
              <a:buSzPct val="100000"/>
              <a:buChar char="•"/>
            </a:pPr>
            <a:r>
              <a:rPr lang="en-US" sz="1400" dirty="0">
                <a:solidFill>
                  <a:srgbClr val="8B94A3"/>
                </a:solidFill>
                <a:latin typeface="Calibri" pitchFamily="34" charset="0"/>
                <a:ea typeface="Calibri" pitchFamily="34" charset="-122"/>
                <a:cs typeface="Calibri" pitchFamily="34" charset="-120"/>
              </a:rPr>
              <a:t>Leyes generales (premisas mayores)</a:t>
            </a:r>
            <a:endParaRPr lang="en-US" sz="1500" dirty="0"/>
          </a:p>
          <a:p>
            <a:pPr lvl="1" marL="457200" indent="-228600">
              <a:spcAft>
                <a:spcPts val="400"/>
              </a:spcAft>
              <a:buSzPct val="100000"/>
              <a:buChar char="•"/>
            </a:pPr>
            <a:r>
              <a:rPr lang="en-US" sz="1400" dirty="0">
                <a:solidFill>
                  <a:srgbClr val="8B94A3"/>
                </a:solidFill>
                <a:latin typeface="Calibri" pitchFamily="34" charset="0"/>
                <a:ea typeface="Calibri" pitchFamily="34" charset="-122"/>
                <a:cs typeface="Calibri" pitchFamily="34" charset="-120"/>
              </a:rPr>
              <a:t>Condiciones iniciales (premisas menores)</a:t>
            </a:r>
            <a:endParaRPr lang="en-US" sz="1500" dirty="0"/>
          </a:p>
          <a:p>
            <a:pPr lvl="1" marL="457200" indent="-228600">
              <a:spcAft>
                <a:spcPts val="400"/>
              </a:spcAft>
              <a:buSzPct val="100000"/>
              <a:buChar char="•"/>
            </a:pPr>
            <a:r>
              <a:rPr lang="en-US" sz="1400" dirty="0">
                <a:solidFill>
                  <a:srgbClr val="8B94A3"/>
                </a:solidFill>
                <a:latin typeface="Calibri" pitchFamily="34" charset="0"/>
                <a:ea typeface="Calibri" pitchFamily="34" charset="-122"/>
                <a:cs typeface="Calibri" pitchFamily="34" charset="-120"/>
              </a:rPr>
              <a:t>Fenómeno observado (conclusión deducida)</a:t>
            </a:r>
            <a:endParaRPr lang="en-US" sz="1500" dirty="0"/>
          </a:p>
          <a:p>
            <a:pPr marL="342900" indent="-342900">
              <a:spcAft>
                <a:spcPts val="600"/>
              </a:spcAft>
              <a:buSzPct val="100000"/>
              <a:buChar char="•"/>
            </a:pPr>
            <a:r>
              <a:rPr lang="en-US" sz="1500" dirty="0">
                <a:solidFill>
                  <a:srgbClr val="D1D5DB"/>
                </a:solidFill>
                <a:latin typeface="Calibri" pitchFamily="34" charset="0"/>
                <a:ea typeface="Calibri" pitchFamily="34" charset="-122"/>
                <a:cs typeface="Calibri" pitchFamily="34" charset="-120"/>
              </a:rPr>
              <a:t>Virtud: era explícito, formalizable, y en principio verificable.</a:t>
            </a:r>
            <a:endParaRPr lang="en-US" sz="1500" dirty="0"/>
          </a:p>
          <a:p>
            <a:pPr marL="342900" indent="-342900">
              <a:spcAft>
                <a:spcPts val="600"/>
              </a:spcAft>
              <a:buSzPct val="100000"/>
              <a:buChar char="•"/>
            </a:pPr>
            <a:r>
              <a:rPr lang="en-US" sz="1500" i="1" dirty="0">
                <a:solidFill>
                  <a:srgbClr val="5B8DB8"/>
                </a:solidFill>
                <a:latin typeface="Calibri" pitchFamily="34" charset="0"/>
                <a:ea typeface="Calibri" pitchFamily="34" charset="-122"/>
                <a:cs typeface="Calibri" pitchFamily="34" charset="-120"/>
              </a:rPr>
              <a:t>Problema: enfrentó una falla que resultó fatal →</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31A27"/>
          </a:solidFill>
          <a:ln w="12700">
            <a:solidFill>
              <a:srgbClr val="131A27"/>
            </a:solidFill>
            <a:prstDash val="solid"/>
          </a:ln>
        </p:spPr>
      </p:sp>
      <p:sp>
        <p:nvSpPr>
          <p:cNvPr id="3" name="Text 1"/>
          <p:cNvSpPr/>
          <p:nvPr/>
        </p:nvSpPr>
        <p:spPr>
          <a:xfrm>
            <a:off x="411480" y="73152"/>
            <a:ext cx="8503920" cy="76809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El Problema de la Asimetría</a:t>
            </a:r>
            <a:endParaRPr lang="en-US" sz="2200" dirty="0"/>
          </a:p>
        </p:txBody>
      </p:sp>
      <p:sp>
        <p:nvSpPr>
          <p:cNvPr id="4" name="Text 2"/>
          <p:cNvSpPr/>
          <p:nvPr/>
        </p:nvSpPr>
        <p:spPr>
          <a:xfrm>
            <a:off x="411480" y="1051560"/>
            <a:ext cx="8321040" cy="3840480"/>
          </a:xfrm>
          <a:prstGeom prst="rect">
            <a:avLst/>
          </a:prstGeom>
          <a:noFill/>
          <a:ln/>
        </p:spPr>
        <p:txBody>
          <a:bodyPr wrap="square" rtlCol="0" anchor="t"/>
          <a:lstStyle/>
          <a:p>
            <a:pPr marL="342900" indent="-342900">
              <a:spcAft>
                <a:spcPts val="600"/>
              </a:spcAft>
              <a:buSzPct val="100000"/>
              <a:buChar char="•"/>
            </a:pPr>
            <a:r>
              <a:rPr lang="en-US" sz="1500" b="1" dirty="0">
                <a:solidFill>
                  <a:srgbClr val="D1D5DB"/>
                </a:solidFill>
                <a:latin typeface="Calibri" pitchFamily="34" charset="0"/>
                <a:ea typeface="Calibri" pitchFamily="34" charset="-122"/>
                <a:cs typeface="Calibri" pitchFamily="34" charset="-120"/>
              </a:rPr>
              <a:t>Ejemplo clásico del asta de bandera:</a:t>
            </a:r>
            <a:endParaRPr lang="en-US" sz="1500" dirty="0"/>
          </a:p>
          <a:p>
            <a:pPr marL="342900" indent="-342900">
              <a:spcAft>
                <a:spcPts val="600"/>
              </a:spcAft>
              <a:buSzPct val="100000"/>
              <a:buChar char="•"/>
            </a:pPr>
            <a:endParaRPr lang="en-US" sz="1500" dirty="0"/>
          </a:p>
          <a:p>
            <a:pPr lvl="1" marL="457200" indent="-228600">
              <a:spcAft>
                <a:spcPts val="400"/>
              </a:spcAft>
              <a:buSzPct val="100000"/>
              <a:buChar char="•"/>
            </a:pPr>
            <a:r>
              <a:rPr lang="en-US" sz="1400" dirty="0">
                <a:solidFill>
                  <a:srgbClr val="8B94A3"/>
                </a:solidFill>
                <a:latin typeface="Calibri" pitchFamily="34" charset="0"/>
                <a:ea typeface="Calibri" pitchFamily="34" charset="-122"/>
                <a:cs typeface="Calibri" pitchFamily="34" charset="-120"/>
              </a:rPr>
              <a:t>Dado: altura del asta, ángulo del sol → derivamos el largo de la sombra ✓ (explicación intuitiva)</a:t>
            </a:r>
            <a:endParaRPr lang="en-US" sz="1500" dirty="0"/>
          </a:p>
          <a:p>
            <a:pPr lvl="1" marL="457200" indent="-228600">
              <a:spcAft>
                <a:spcPts val="400"/>
              </a:spcAft>
              <a:buSzPct val="100000"/>
              <a:buChar char="•"/>
            </a:pPr>
            <a:r>
              <a:rPr lang="en-US" sz="1400" dirty="0">
                <a:solidFill>
                  <a:srgbClr val="8B94A3"/>
                </a:solidFill>
                <a:latin typeface="Calibri" pitchFamily="34" charset="0"/>
                <a:ea typeface="Calibri" pitchFamily="34" charset="-122"/>
                <a:cs typeface="Calibri" pitchFamily="34" charset="-120"/>
              </a:rPr>
              <a:t>Pero: dado el largo de la sombra → podemos derivar también la altura del asta ✗ (¿explicación?)</a:t>
            </a:r>
            <a:endParaRPr lang="en-US" sz="1500" dirty="0"/>
          </a:p>
          <a:p>
            <a:pPr marL="342900" indent="-342900">
              <a:spcAft>
                <a:spcPts val="600"/>
              </a:spcAft>
              <a:buSzPct val="100000"/>
              <a:buChar char="•"/>
            </a:pPr>
            <a:r>
              <a:rPr lang="en-US" sz="1500" dirty="0">
                <a:solidFill>
                  <a:srgbClr val="D1D5DB"/>
                </a:solidFill>
                <a:latin typeface="Calibri" pitchFamily="34" charset="0"/>
                <a:ea typeface="Calibri" pitchFamily="34" charset="-122"/>
                <a:cs typeface="Calibri" pitchFamily="34" charset="-120"/>
              </a:rPr>
              <a:t>La misma relación lógica funciona en ambas direcciones, pero intuimos que solo una dirección es explicativa.</a:t>
            </a:r>
            <a:endParaRPr lang="en-US" sz="1500" dirty="0"/>
          </a:p>
          <a:p>
            <a:pPr marL="342900" indent="-342900">
              <a:spcAft>
                <a:spcPts val="600"/>
              </a:spcAft>
              <a:buSzPct val="100000"/>
              <a:buChar char="•"/>
            </a:pPr>
            <a:r>
              <a:rPr lang="en-US" sz="1500" dirty="0">
                <a:solidFill>
                  <a:srgbClr val="D1D5DB"/>
                </a:solidFill>
                <a:latin typeface="Calibri" pitchFamily="34" charset="0"/>
                <a:ea typeface="Calibri" pitchFamily="34" charset="-122"/>
                <a:cs typeface="Calibri" pitchFamily="34" charset="-120"/>
              </a:rPr>
              <a:t>Ejemplo cotidiano:</a:t>
            </a:r>
            <a:endParaRPr lang="en-US" sz="1500" dirty="0"/>
          </a:p>
          <a:p>
            <a:pPr lvl="1" marL="457200" indent="-228600">
              <a:spcAft>
                <a:spcPts val="400"/>
              </a:spcAft>
              <a:buSzPct val="100000"/>
              <a:buChar char="•"/>
            </a:pPr>
            <a:r>
              <a:rPr lang="en-US" sz="1400" dirty="0">
                <a:solidFill>
                  <a:srgbClr val="8B94A3"/>
                </a:solidFill>
                <a:latin typeface="Calibri" pitchFamily="34" charset="0"/>
                <a:ea typeface="Calibri" pitchFamily="34" charset="-122"/>
                <a:cs typeface="Calibri" pitchFamily="34" charset="-120"/>
              </a:rPr>
              <a:t>El tráfico causó mi retraso → explicación válida</a:t>
            </a:r>
            <a:endParaRPr lang="en-US" sz="1500" dirty="0"/>
          </a:p>
          <a:p>
            <a:pPr lvl="1" marL="457200" indent="-228600">
              <a:spcAft>
                <a:spcPts val="400"/>
              </a:spcAft>
              <a:buSzPct val="100000"/>
              <a:buChar char="•"/>
            </a:pPr>
            <a:r>
              <a:rPr lang="en-US" sz="1400" dirty="0">
                <a:solidFill>
                  <a:srgbClr val="8B94A3"/>
                </a:solidFill>
                <a:latin typeface="Calibri" pitchFamily="34" charset="0"/>
                <a:ea typeface="Calibri" pitchFamily="34" charset="-122"/>
                <a:cs typeface="Calibri" pitchFamily="34" charset="-120"/>
              </a:rPr>
              <a:t>Mi retraso 'explica' el estado del tráfico → absurdo</a:t>
            </a:r>
            <a:endParaRPr lang="en-US" sz="1500" dirty="0"/>
          </a:p>
          <a:p>
            <a:pPr marL="342900" indent="-342900">
              <a:spcAft>
                <a:spcPts val="600"/>
              </a:spcAft>
              <a:buSzPct val="100000"/>
              <a:buChar char="•"/>
            </a:pPr>
            <a:r>
              <a:rPr lang="en-US" sz="1500" b="1" dirty="0">
                <a:solidFill>
                  <a:srgbClr val="5B8DB8"/>
                </a:solidFill>
                <a:latin typeface="Calibri" pitchFamily="34" charset="0"/>
                <a:ea typeface="Calibri" pitchFamily="34" charset="-122"/>
                <a:cs typeface="Calibri" pitchFamily="34" charset="-120"/>
              </a:rPr>
              <a:t>Conclusión: la explicación tiene una dirección que la lógica deductiva no captura. Esa dirección es la causalidad.</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31A27"/>
          </a:solidFill>
          <a:ln w="12700">
            <a:solidFill>
              <a:srgbClr val="131A27"/>
            </a:solidFill>
            <a:prstDash val="solid"/>
          </a:ln>
        </p:spPr>
      </p:sp>
      <p:sp>
        <p:nvSpPr>
          <p:cNvPr id="3" name="Text 1"/>
          <p:cNvSpPr/>
          <p:nvPr/>
        </p:nvSpPr>
        <p:spPr>
          <a:xfrm>
            <a:off x="411480" y="73152"/>
            <a:ext cx="8503920" cy="76809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De la Asimetría a la Causalidad</a:t>
            </a:r>
            <a:endParaRPr lang="en-US" sz="2200" dirty="0"/>
          </a:p>
        </p:txBody>
      </p:sp>
      <p:sp>
        <p:nvSpPr>
          <p:cNvPr id="4" name="Text 2"/>
          <p:cNvSpPr/>
          <p:nvPr/>
        </p:nvSpPr>
        <p:spPr>
          <a:xfrm>
            <a:off x="411480" y="1051560"/>
            <a:ext cx="8321040" cy="3840480"/>
          </a:xfrm>
          <a:prstGeom prst="rect">
            <a:avLst/>
          </a:prstGeom>
          <a:noFill/>
          <a:ln/>
        </p:spPr>
        <p:txBody>
          <a:bodyPr wrap="square" rtlCol="0" anchor="t"/>
          <a:lstStyle/>
          <a:p>
            <a:pPr marL="342900" indent="-342900">
              <a:spcAft>
                <a:spcPts val="600"/>
              </a:spcAft>
              <a:buSzPct val="100000"/>
              <a:buChar char="•"/>
            </a:pPr>
            <a:r>
              <a:rPr lang="en-US" sz="1600" dirty="0">
                <a:solidFill>
                  <a:srgbClr val="D1D5DB"/>
                </a:solidFill>
                <a:latin typeface="Calibri" pitchFamily="34" charset="0"/>
                <a:ea typeface="Calibri" pitchFamily="34" charset="-122"/>
                <a:cs typeface="Calibri" pitchFamily="34" charset="-120"/>
              </a:rPr>
              <a:t>El modelo ND no distingue las dos direcciones porque es indiferente a la causalidad: la deducción funciona en ambos sentidos.</a:t>
            </a:r>
            <a:endParaRPr lang="en-US" sz="1600" dirty="0"/>
          </a:p>
          <a:p>
            <a:pPr marL="342900" indent="-342900">
              <a:spcAft>
                <a:spcPts val="600"/>
              </a:spcAft>
              <a:buSzPct val="100000"/>
              <a:buChar char="•"/>
            </a:pPr>
            <a:r>
              <a:rPr lang="en-US" sz="1600" dirty="0">
                <a:solidFill>
                  <a:srgbClr val="D1D5DB"/>
                </a:solidFill>
                <a:latin typeface="Calibri" pitchFamily="34" charset="0"/>
                <a:ea typeface="Calibri" pitchFamily="34" charset="-122"/>
                <a:cs typeface="Calibri" pitchFamily="34" charset="-120"/>
              </a:rPr>
              <a:t>Esta falla obligó a los filósofos a reconocer que la causalidad debe desempeñar un papel central en la explicación.</a:t>
            </a:r>
            <a:endParaRPr lang="en-US" sz="1600" dirty="0"/>
          </a:p>
          <a:p>
            <a:pPr marL="342900" indent="-342900">
              <a:spcAft>
                <a:spcPts val="600"/>
              </a:spcAft>
              <a:buSzPct val="100000"/>
              <a:buChar char="•"/>
            </a:pPr>
            <a:r>
              <a:rPr lang="en-US" sz="1600" dirty="0">
                <a:solidFill>
                  <a:srgbClr val="D1D5DB"/>
                </a:solidFill>
                <a:latin typeface="Calibri" pitchFamily="34" charset="0"/>
                <a:ea typeface="Calibri" pitchFamily="34" charset="-122"/>
                <a:cs typeface="Calibri" pitchFamily="34" charset="-120"/>
              </a:rPr>
              <a:t>Pero incorporar la causalidad adecuadamente requirió:</a:t>
            </a:r>
            <a:endParaRPr lang="en-US" sz="1600" dirty="0"/>
          </a:p>
          <a:p>
            <a:pPr lvl="1" marL="457200" indent="-228600">
              <a:spcAft>
                <a:spcPts val="400"/>
              </a:spcAft>
              <a:buSzPct val="100000"/>
              <a:buChar char="•"/>
            </a:pPr>
            <a:r>
              <a:rPr lang="en-US" sz="1500" dirty="0">
                <a:solidFill>
                  <a:srgbClr val="8B94A3"/>
                </a:solidFill>
                <a:latin typeface="Calibri" pitchFamily="34" charset="0"/>
                <a:ea typeface="Calibri" pitchFamily="34" charset="-122"/>
                <a:cs typeface="Calibri" pitchFamily="34" charset="-120"/>
              </a:rPr>
              <a:t>Repensar qué es una teoría científica</a:t>
            </a:r>
            <a:endParaRPr lang="en-US" sz="1600" dirty="0"/>
          </a:p>
          <a:p>
            <a:pPr lvl="1" marL="457200" indent="-228600">
              <a:spcAft>
                <a:spcPts val="400"/>
              </a:spcAft>
              <a:buSzPct val="100000"/>
              <a:buChar char="•"/>
            </a:pPr>
            <a:r>
              <a:rPr lang="en-US" sz="1500" dirty="0">
                <a:solidFill>
                  <a:srgbClr val="8B94A3"/>
                </a:solidFill>
                <a:latin typeface="Calibri" pitchFamily="34" charset="0"/>
                <a:ea typeface="Calibri" pitchFamily="34" charset="-122"/>
                <a:cs typeface="Calibri" pitchFamily="34" charset="-120"/>
              </a:rPr>
              <a:t>Reconocer que los científicos trabajan con modelos, no con axiomas</a:t>
            </a:r>
            <a:endParaRPr lang="en-US" sz="1600" dirty="0"/>
          </a:p>
          <a:p>
            <a:pPr marL="342900" indent="-342900">
              <a:spcAft>
                <a:spcPts val="600"/>
              </a:spcAft>
              <a:buSzPct val="100000"/>
              <a:buChar char="•"/>
            </a:pPr>
            <a:r>
              <a:rPr lang="en-US" sz="1600" b="1" dirty="0">
                <a:solidFill>
                  <a:srgbClr val="FFFFFF"/>
                </a:solidFill>
                <a:latin typeface="Calibri" pitchFamily="34" charset="0"/>
                <a:ea typeface="Calibri" pitchFamily="34" charset="-122"/>
                <a:cs typeface="Calibri" pitchFamily="34" charset="-120"/>
              </a:rPr>
              <a:t>Esto condujo al surgimiento de la noción de modelo como unidad básica de la práctica científica.</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5B8DB8"/>
          </a:solidFill>
          <a:ln w="12700">
            <a:solidFill>
              <a:srgbClr val="5B8DB8"/>
            </a:solidFill>
            <a:prstDash val="solid"/>
          </a:ln>
        </p:spPr>
      </p:sp>
      <p:sp>
        <p:nvSpPr>
          <p:cNvPr id="3" name="Text 1"/>
          <p:cNvSpPr/>
          <p:nvPr/>
        </p:nvSpPr>
        <p:spPr>
          <a:xfrm>
            <a:off x="457200" y="1554480"/>
            <a:ext cx="8412480" cy="128016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II. De Teorías a Modelos</a:t>
            </a:r>
            <a:endParaRPr lang="en-US" sz="3400" dirty="0"/>
          </a:p>
        </p:txBody>
      </p:sp>
      <p:sp>
        <p:nvSpPr>
          <p:cNvPr id="4" name="Text 2"/>
          <p:cNvSpPr/>
          <p:nvPr/>
        </p:nvSpPr>
        <p:spPr>
          <a:xfrm>
            <a:off x="457200" y="3017520"/>
            <a:ext cx="8412480" cy="640080"/>
          </a:xfrm>
          <a:prstGeom prst="rect">
            <a:avLst/>
          </a:prstGeom>
          <a:noFill/>
          <a:ln/>
        </p:spPr>
        <p:txBody>
          <a:bodyPr wrap="square" rtlCol="0" anchor="t"/>
          <a:lstStyle/>
          <a:p>
            <a:pPr indent="0" marL="0">
              <a:buNone/>
            </a:pPr>
            <a:r>
              <a:rPr lang="en-US" sz="1600" i="1" dirty="0">
                <a:solidFill>
                  <a:srgbClr val="8B94A3"/>
                </a:solidFill>
                <a:latin typeface="Calibri" pitchFamily="34" charset="0"/>
                <a:ea typeface="Calibri" pitchFamily="34" charset="-122"/>
                <a:cs typeface="Calibri" pitchFamily="34" charset="-120"/>
              </a:rPr>
              <a:t>¿Qué es un modelo? · ¿Cómo representa la realidad?</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31A27"/>
          </a:solidFill>
          <a:ln w="12700">
            <a:solidFill>
              <a:srgbClr val="131A27"/>
            </a:solidFill>
            <a:prstDash val="solid"/>
          </a:ln>
        </p:spPr>
      </p:sp>
      <p:sp>
        <p:nvSpPr>
          <p:cNvPr id="3" name="Text 1"/>
          <p:cNvSpPr/>
          <p:nvPr/>
        </p:nvSpPr>
        <p:spPr>
          <a:xfrm>
            <a:off x="411480" y="73152"/>
            <a:ext cx="8503920" cy="76809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¿Qué es un modelo?</a:t>
            </a:r>
            <a:endParaRPr lang="en-US" sz="2200" dirty="0"/>
          </a:p>
        </p:txBody>
      </p:sp>
      <p:sp>
        <p:nvSpPr>
          <p:cNvPr id="4" name="Text 2"/>
          <p:cNvSpPr/>
          <p:nvPr/>
        </p:nvSpPr>
        <p:spPr>
          <a:xfrm>
            <a:off x="411480" y="1051560"/>
            <a:ext cx="8321040" cy="3840480"/>
          </a:xfrm>
          <a:prstGeom prst="rect">
            <a:avLst/>
          </a:prstGeom>
          <a:noFill/>
          <a:ln/>
        </p:spPr>
        <p:txBody>
          <a:bodyPr wrap="square" rtlCol="0" anchor="t"/>
          <a:lstStyle/>
          <a:p>
            <a:pPr marL="342900" indent="-342900">
              <a:spcAft>
                <a:spcPts val="600"/>
              </a:spcAft>
              <a:buSzPct val="100000"/>
              <a:buChar char="•"/>
            </a:pPr>
            <a:r>
              <a:rPr lang="en-US" sz="1500" dirty="0">
                <a:solidFill>
                  <a:srgbClr val="D1D5DB"/>
                </a:solidFill>
                <a:latin typeface="Calibri" pitchFamily="34" charset="0"/>
                <a:ea typeface="Calibri" pitchFamily="34" charset="-122"/>
                <a:cs typeface="Calibri" pitchFamily="34" charset="-120"/>
              </a:rPr>
              <a:t>En la práctica real, los científicos de la segunda mitad del s. XX dejaron de buscar leyes universales y comenzaron a construir modelos.</a:t>
            </a:r>
            <a:endParaRPr lang="en-US" sz="1500" dirty="0"/>
          </a:p>
          <a:p>
            <a:pPr marL="342900" indent="-342900">
              <a:spcAft>
                <a:spcPts val="600"/>
              </a:spcAft>
              <a:buSzPct val="100000"/>
              <a:buChar char="•"/>
            </a:pPr>
            <a:r>
              <a:rPr lang="en-US" sz="1500" dirty="0">
                <a:solidFill>
                  <a:srgbClr val="D1D5DB"/>
                </a:solidFill>
                <a:latin typeface="Calibri" pitchFamily="34" charset="0"/>
                <a:ea typeface="Calibri" pitchFamily="34" charset="-122"/>
                <a:cs typeface="Calibri" pitchFamily="34" charset="-120"/>
              </a:rPr>
              <a:t>Ejemplos:</a:t>
            </a:r>
            <a:endParaRPr lang="en-US" sz="1500" dirty="0"/>
          </a:p>
          <a:p>
            <a:pPr lvl="1" marL="457200" indent="-228600">
              <a:spcAft>
                <a:spcPts val="400"/>
              </a:spcAft>
              <a:buSzPct val="100000"/>
              <a:buChar char="•"/>
            </a:pPr>
            <a:r>
              <a:rPr lang="en-US" sz="1400" dirty="0">
                <a:solidFill>
                  <a:srgbClr val="8B94A3"/>
                </a:solidFill>
                <a:latin typeface="Calibri" pitchFamily="34" charset="0"/>
                <a:ea typeface="Calibri" pitchFamily="34" charset="-122"/>
                <a:cs typeface="Calibri" pitchFamily="34" charset="-120"/>
              </a:rPr>
              <a:t>Modelo de la doble hélice del ADN</a:t>
            </a:r>
            <a:endParaRPr lang="en-US" sz="1500" dirty="0"/>
          </a:p>
          <a:p>
            <a:pPr lvl="1" marL="457200" indent="-228600">
              <a:spcAft>
                <a:spcPts val="400"/>
              </a:spcAft>
              <a:buSzPct val="100000"/>
              <a:buChar char="•"/>
            </a:pPr>
            <a:r>
              <a:rPr lang="en-US" sz="1400" dirty="0">
                <a:solidFill>
                  <a:srgbClr val="8B94A3"/>
                </a:solidFill>
                <a:latin typeface="Calibri" pitchFamily="34" charset="0"/>
                <a:ea typeface="Calibri" pitchFamily="34" charset="-122"/>
                <a:cs typeface="Calibri" pitchFamily="34" charset="-120"/>
              </a:rPr>
              <a:t>Modelos de dinámica poblacional</a:t>
            </a:r>
            <a:endParaRPr lang="en-US" sz="1500" dirty="0"/>
          </a:p>
          <a:p>
            <a:pPr lvl="1" marL="457200" indent="-228600">
              <a:spcAft>
                <a:spcPts val="400"/>
              </a:spcAft>
              <a:buSzPct val="100000"/>
              <a:buChar char="•"/>
            </a:pPr>
            <a:r>
              <a:rPr lang="en-US" sz="1400" dirty="0">
                <a:solidFill>
                  <a:srgbClr val="8B94A3"/>
                </a:solidFill>
                <a:latin typeface="Calibri" pitchFamily="34" charset="0"/>
                <a:ea typeface="Calibri" pitchFamily="34" charset="-122"/>
                <a:cs typeface="Calibri" pitchFamily="34" charset="-120"/>
              </a:rPr>
              <a:t>Modelos epidemiológicos</a:t>
            </a:r>
            <a:endParaRPr lang="en-US" sz="1500" dirty="0"/>
          </a:p>
          <a:p>
            <a:pPr lvl="1" marL="457200" indent="-228600">
              <a:spcAft>
                <a:spcPts val="400"/>
              </a:spcAft>
              <a:buSzPct val="100000"/>
              <a:buChar char="•"/>
            </a:pPr>
            <a:r>
              <a:rPr lang="en-US" sz="1400" dirty="0">
                <a:solidFill>
                  <a:srgbClr val="8B94A3"/>
                </a:solidFill>
                <a:latin typeface="Calibri" pitchFamily="34" charset="0"/>
                <a:ea typeface="Calibri" pitchFamily="34" charset="-122"/>
                <a:cs typeface="Calibri" pitchFamily="34" charset="-120"/>
              </a:rPr>
              <a:t>En este curso: modelos del aprendizaje asociativo, de asignación del comportamiento, de aprendizaje por refuerzo</a:t>
            </a:r>
            <a:endParaRPr lang="en-US" sz="1500" dirty="0"/>
          </a:p>
          <a:p>
            <a:pPr marL="342900" indent="-342900">
              <a:spcAft>
                <a:spcPts val="600"/>
              </a:spcAft>
              <a:buSzPct val="100000"/>
              <a:buChar char="•"/>
            </a:pPr>
            <a:r>
              <a:rPr lang="en-US" sz="1500" b="1" dirty="0">
                <a:solidFill>
                  <a:srgbClr val="FFFFFF"/>
                </a:solidFill>
                <a:latin typeface="Calibri" pitchFamily="34" charset="0"/>
                <a:ea typeface="Calibri" pitchFamily="34" charset="-122"/>
                <a:cs typeface="Calibri" pitchFamily="34" charset="-120"/>
              </a:rPr>
              <a:t>Definición de trabajo: un modelo es una estructura —matemática, computacional o diagramática— que representa un fenómeno mediante una relación de semejanza estructural con él.</a:t>
            </a:r>
            <a:endParaRPr lang="en-US" sz="1500" dirty="0"/>
          </a:p>
          <a:p>
            <a:pPr marL="342900" indent="-342900">
              <a:spcAft>
                <a:spcPts val="600"/>
              </a:spcAft>
              <a:buSzPct val="100000"/>
              <a:buChar char="•"/>
            </a:pPr>
            <a:r>
              <a:rPr lang="en-US" sz="1500" i="1" dirty="0">
                <a:solidFill>
                  <a:srgbClr val="8B94A3"/>
                </a:solidFill>
                <a:latin typeface="Calibri" pitchFamily="34" charset="0"/>
                <a:ea typeface="Calibri" pitchFamily="34" charset="-122"/>
                <a:cs typeface="Calibri" pitchFamily="34" charset="-120"/>
              </a:rPr>
              <a:t>Un modelo no es una copia de la realidad; es una simplificación útil.</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31A27"/>
          </a:solidFill>
          <a:ln w="12700">
            <a:solidFill>
              <a:srgbClr val="131A27"/>
            </a:solidFill>
            <a:prstDash val="solid"/>
          </a:ln>
        </p:spPr>
      </p:sp>
      <p:sp>
        <p:nvSpPr>
          <p:cNvPr id="3" name="Text 1"/>
          <p:cNvSpPr/>
          <p:nvPr/>
        </p:nvSpPr>
        <p:spPr>
          <a:xfrm>
            <a:off x="411480" y="73152"/>
            <a:ext cx="8503920" cy="76809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Analogía: el mapa del metro</a:t>
            </a:r>
            <a:endParaRPr lang="en-US" sz="2200" dirty="0"/>
          </a:p>
        </p:txBody>
      </p:sp>
      <p:sp>
        <p:nvSpPr>
          <p:cNvPr id="4" name="Text 2"/>
          <p:cNvSpPr/>
          <p:nvPr/>
        </p:nvSpPr>
        <p:spPr>
          <a:xfrm>
            <a:off x="411480" y="1051560"/>
            <a:ext cx="8321040" cy="3840480"/>
          </a:xfrm>
          <a:prstGeom prst="rect">
            <a:avLst/>
          </a:prstGeom>
          <a:noFill/>
          <a:ln/>
        </p:spPr>
        <p:txBody>
          <a:bodyPr wrap="square" rtlCol="0" anchor="t"/>
          <a:lstStyle/>
          <a:p>
            <a:pPr marL="342900" indent="-342900">
              <a:spcAft>
                <a:spcPts val="600"/>
              </a:spcAft>
              <a:buSzPct val="100000"/>
              <a:buChar char="•"/>
            </a:pPr>
            <a:r>
              <a:rPr lang="en-US" sz="1600" dirty="0">
                <a:solidFill>
                  <a:srgbClr val="D1D5DB"/>
                </a:solidFill>
                <a:latin typeface="Calibri" pitchFamily="34" charset="0"/>
                <a:ea typeface="Calibri" pitchFamily="34" charset="-122"/>
                <a:cs typeface="Calibri" pitchFamily="34" charset="-120"/>
              </a:rPr>
              <a:t>Un mapa del metro no reproduce cada detalle de los vagones ni la arquitectura de las estaciones.</a:t>
            </a:r>
            <a:endParaRPr lang="en-US" sz="1600" dirty="0"/>
          </a:p>
          <a:p>
            <a:pPr marL="342900" indent="-342900">
              <a:spcAft>
                <a:spcPts val="600"/>
              </a:spcAft>
              <a:buSzPct val="100000"/>
              <a:buChar char="•"/>
            </a:pPr>
            <a:r>
              <a:rPr lang="en-US" sz="1600" dirty="0">
                <a:solidFill>
                  <a:srgbClr val="D1D5DB"/>
                </a:solidFill>
                <a:latin typeface="Calibri" pitchFamily="34" charset="0"/>
                <a:ea typeface="Calibri" pitchFamily="34" charset="-122"/>
                <a:cs typeface="Calibri" pitchFamily="34" charset="-120"/>
              </a:rPr>
              <a:t>Pero preserva las relaciones relevantes: qué líneas conectan qué estaciones.</a:t>
            </a:r>
            <a:endParaRPr lang="en-US" sz="1600" dirty="0"/>
          </a:p>
          <a:p>
            <a:pPr marL="342900" indent="-342900">
              <a:spcAft>
                <a:spcPts val="600"/>
              </a:spcAft>
              <a:buSzPct val="100000"/>
              <a:buChar char="•"/>
            </a:pPr>
            <a:r>
              <a:rPr lang="en-US" sz="1600" dirty="0">
                <a:solidFill>
                  <a:srgbClr val="D1D5DB"/>
                </a:solidFill>
                <a:latin typeface="Calibri" pitchFamily="34" charset="0"/>
                <a:ea typeface="Calibri" pitchFamily="34" charset="-122"/>
                <a:cs typeface="Calibri" pitchFamily="34" charset="-120"/>
              </a:rPr>
              <a:t>Distintos mapas del mismo sistema para distintos propósitos:</a:t>
            </a:r>
            <a:endParaRPr lang="en-US" sz="1600" dirty="0"/>
          </a:p>
          <a:p>
            <a:pPr lvl="1" marL="457200" indent="-228600">
              <a:spcAft>
                <a:spcPts val="400"/>
              </a:spcAft>
              <a:buSzPct val="100000"/>
              <a:buChar char="•"/>
            </a:pPr>
            <a:r>
              <a:rPr lang="en-US" sz="1500" dirty="0">
                <a:solidFill>
                  <a:srgbClr val="8B94A3"/>
                </a:solidFill>
                <a:latin typeface="Calibri" pitchFamily="34" charset="0"/>
                <a:ea typeface="Calibri" pitchFamily="34" charset="-122"/>
                <a:cs typeface="Calibri" pitchFamily="34" charset="-120"/>
              </a:rPr>
              <a:t>Solo líneas y puntos de transferencia → útil para desplazarse</a:t>
            </a:r>
            <a:endParaRPr lang="en-US" sz="1600" dirty="0"/>
          </a:p>
          <a:p>
            <a:pPr lvl="1" marL="457200" indent="-228600">
              <a:spcAft>
                <a:spcPts val="400"/>
              </a:spcAft>
              <a:buSzPct val="100000"/>
              <a:buChar char="•"/>
            </a:pPr>
            <a:r>
              <a:rPr lang="en-US" sz="1500" dirty="0">
                <a:solidFill>
                  <a:srgbClr val="8B94A3"/>
                </a:solidFill>
                <a:latin typeface="Calibri" pitchFamily="34" charset="0"/>
                <a:ea typeface="Calibri" pitchFamily="34" charset="-122"/>
                <a:cs typeface="Calibri" pitchFamily="34" charset="-120"/>
              </a:rPr>
              <a:t>Mapa con información turística → útil para visitantes</a:t>
            </a:r>
            <a:endParaRPr lang="en-US" sz="1600" dirty="0"/>
          </a:p>
          <a:p>
            <a:pPr lvl="1" marL="457200" indent="-228600">
              <a:spcAft>
                <a:spcPts val="400"/>
              </a:spcAft>
              <a:buSzPct val="100000"/>
              <a:buChar char="•"/>
            </a:pPr>
            <a:r>
              <a:rPr lang="en-US" sz="1500" dirty="0">
                <a:solidFill>
                  <a:srgbClr val="8B94A3"/>
                </a:solidFill>
                <a:latin typeface="Calibri" pitchFamily="34" charset="0"/>
                <a:ea typeface="Calibri" pitchFamily="34" charset="-122"/>
                <a:cs typeface="Calibri" pitchFamily="34" charset="-120"/>
              </a:rPr>
              <a:t>Ninguno es 'el correcto' en abstracto</a:t>
            </a:r>
            <a:endParaRPr lang="en-US" sz="1600" dirty="0"/>
          </a:p>
          <a:p>
            <a:pPr marL="342900" indent="-342900">
              <a:spcAft>
                <a:spcPts val="600"/>
              </a:spcAft>
              <a:buSzPct val="100000"/>
              <a:buChar char="•"/>
            </a:pPr>
            <a:r>
              <a:rPr lang="en-US" sz="1600" b="1" dirty="0">
                <a:solidFill>
                  <a:srgbClr val="5B8DB8"/>
                </a:solidFill>
                <a:latin typeface="Calibri" pitchFamily="34" charset="0"/>
                <a:ea typeface="Calibri" pitchFamily="34" charset="-122"/>
                <a:cs typeface="Calibri" pitchFamily="34" charset="-120"/>
              </a:rPr>
              <a:t>En psicología: no hay un único modelo del aprendizaje definitivo, sino modelos que responden preguntas distintas con distintos niveles de resolución.</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31A27"/>
          </a:solidFill>
          <a:ln w="12700">
            <a:solidFill>
              <a:srgbClr val="131A27"/>
            </a:solidFill>
            <a:prstDash val="solid"/>
          </a:ln>
        </p:spPr>
      </p:sp>
      <p:sp>
        <p:nvSpPr>
          <p:cNvPr id="3" name="Text 1"/>
          <p:cNvSpPr/>
          <p:nvPr/>
        </p:nvSpPr>
        <p:spPr>
          <a:xfrm>
            <a:off x="411480" y="73152"/>
            <a:ext cx="8503920" cy="76809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Isomorfismo Estructural (Suppes · van Fraassen)</a:t>
            </a:r>
            <a:endParaRPr lang="en-US" sz="2200" dirty="0"/>
          </a:p>
        </p:txBody>
      </p:sp>
      <p:sp>
        <p:nvSpPr>
          <p:cNvPr id="4" name="Text 2"/>
          <p:cNvSpPr/>
          <p:nvPr/>
        </p:nvSpPr>
        <p:spPr>
          <a:xfrm>
            <a:off x="411480" y="1051560"/>
            <a:ext cx="8321040" cy="3840480"/>
          </a:xfrm>
          <a:prstGeom prst="rect">
            <a:avLst/>
          </a:prstGeom>
          <a:noFill/>
          <a:ln/>
        </p:spPr>
        <p:txBody>
          <a:bodyPr wrap="square" rtlCol="0" anchor="t"/>
          <a:lstStyle/>
          <a:p>
            <a:pPr marL="342900" indent="-342900">
              <a:spcAft>
                <a:spcPts val="600"/>
              </a:spcAft>
              <a:buSzPct val="100000"/>
              <a:buChar char="•"/>
            </a:pPr>
            <a:r>
              <a:rPr lang="en-US" sz="1500" dirty="0">
                <a:solidFill>
                  <a:srgbClr val="D1D5DB"/>
                </a:solidFill>
                <a:latin typeface="Calibri" pitchFamily="34" charset="0"/>
                <a:ea typeface="Calibri" pitchFamily="34" charset="-122"/>
                <a:cs typeface="Calibri" pitchFamily="34" charset="-120"/>
              </a:rPr>
              <a:t>Un modelo representa exitosamente un fenómeno cuando existe una correspondencia que preserva las relaciones relevantes entre la estructura del modelo y la del fenómeno empírico.</a:t>
            </a:r>
            <a:endParaRPr lang="en-US" sz="1500" dirty="0"/>
          </a:p>
          <a:p>
            <a:pPr marL="342900" indent="-342900">
              <a:spcAft>
                <a:spcPts val="600"/>
              </a:spcAft>
              <a:buSzPct val="100000"/>
              <a:buChar char="•"/>
            </a:pPr>
            <a:r>
              <a:rPr lang="en-US" sz="1500" dirty="0">
                <a:solidFill>
                  <a:srgbClr val="D1D5DB"/>
                </a:solidFill>
                <a:latin typeface="Calibri" pitchFamily="34" charset="0"/>
                <a:ea typeface="Calibri" pitchFamily="34" charset="-122"/>
                <a:cs typeface="Calibri" pitchFamily="34" charset="-120"/>
              </a:rPr>
              <a:t>Ejemplo — medición de la estatura:</a:t>
            </a:r>
            <a:endParaRPr lang="en-US" sz="1500" dirty="0"/>
          </a:p>
          <a:p>
            <a:pPr lvl="1" marL="457200" indent="-228600">
              <a:spcAft>
                <a:spcPts val="400"/>
              </a:spcAft>
              <a:buSzPct val="100000"/>
              <a:buChar char="•"/>
            </a:pPr>
            <a:r>
              <a:rPr lang="en-US" sz="1400" dirty="0">
                <a:solidFill>
                  <a:srgbClr val="8B94A3"/>
                </a:solidFill>
                <a:latin typeface="Calibri" pitchFamily="34" charset="0"/>
                <a:ea typeface="Calibri" pitchFamily="34" charset="-122"/>
                <a:cs typeface="Calibri" pitchFamily="34" charset="-120"/>
              </a:rPr>
              <a:t>Queremos asignar números a personas preservando la relación 'más alto que'</a:t>
            </a:r>
            <a:endParaRPr lang="en-US" sz="1500" dirty="0"/>
          </a:p>
          <a:p>
            <a:pPr lvl="1" marL="457200" indent="-228600">
              <a:spcAft>
                <a:spcPts val="400"/>
              </a:spcAft>
              <a:buSzPct val="100000"/>
              <a:buChar char="•"/>
            </a:pPr>
            <a:r>
              <a:rPr lang="en-US" sz="1400" dirty="0">
                <a:solidFill>
                  <a:srgbClr val="8B94A3"/>
                </a:solidFill>
                <a:latin typeface="Calibri" pitchFamily="34" charset="0"/>
                <a:ea typeface="Calibri" pitchFamily="34" charset="-122"/>
                <a:cs typeface="Calibri" pitchFamily="34" charset="-120"/>
              </a:rPr>
              <a:t>Si A &gt; B (estatura), entonces número(A) &gt; número(B)</a:t>
            </a:r>
            <a:endParaRPr lang="en-US" sz="1500" dirty="0"/>
          </a:p>
          <a:p>
            <a:pPr lvl="1" marL="457200" indent="-228600">
              <a:spcAft>
                <a:spcPts val="400"/>
              </a:spcAft>
              <a:buSzPct val="100000"/>
              <a:buChar char="•"/>
            </a:pPr>
            <a:r>
              <a:rPr lang="en-US" sz="1400" dirty="0">
                <a:solidFill>
                  <a:srgbClr val="8B94A3"/>
                </a:solidFill>
                <a:latin typeface="Calibri" pitchFamily="34" charset="0"/>
                <a:ea typeface="Calibri" pitchFamily="34" charset="-122"/>
                <a:cs typeface="Calibri" pitchFamily="34" charset="-120"/>
              </a:rPr>
              <a:t>La medición es exitosa cuando existe ese isomorfismo: ⟨Personas, más-alta-que⟩ ↔ ⟨Números, &gt;⟩</a:t>
            </a:r>
            <a:endParaRPr lang="en-US" sz="1500" dirty="0"/>
          </a:p>
          <a:p>
            <a:pPr marL="342900" indent="-342900">
              <a:spcAft>
                <a:spcPts val="600"/>
              </a:spcAft>
              <a:buSzPct val="100000"/>
              <a:buChar char="•"/>
            </a:pPr>
            <a:r>
              <a:rPr lang="en-US" sz="1500" dirty="0">
                <a:solidFill>
                  <a:srgbClr val="D1D5DB"/>
                </a:solidFill>
                <a:latin typeface="Calibri" pitchFamily="34" charset="0"/>
                <a:ea typeface="Calibri" pitchFamily="34" charset="-122"/>
                <a:cs typeface="Calibri" pitchFamily="34" charset="-120"/>
              </a:rPr>
              <a:t>Esta cuenta guía la investigación: ¿satisface la estructura empírica los axiomas del modelo?</a:t>
            </a:r>
            <a:endParaRPr lang="en-US" sz="1500" dirty="0"/>
          </a:p>
          <a:p>
            <a:pPr marL="342900" indent="-342900">
              <a:spcAft>
                <a:spcPts val="600"/>
              </a:spcAft>
              <a:buSzPct val="100000"/>
              <a:buChar char="•"/>
            </a:pPr>
            <a:r>
              <a:rPr lang="en-US" sz="1500" i="1" dirty="0">
                <a:solidFill>
                  <a:srgbClr val="8B94A3"/>
                </a:solidFill>
                <a:latin typeface="Calibri" pitchFamily="34" charset="0"/>
                <a:ea typeface="Calibri" pitchFamily="34" charset="-122"/>
                <a:cs typeface="Calibri" pitchFamily="34" charset="-120"/>
              </a:rPr>
              <a:t>Aplicación: medir preferencias es problemático porque las preferencias humanas a veces violan la transitividad —una condición que el isomorfismo con los números requeriría.</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31A27"/>
          </a:solidFill>
          <a:ln w="12700">
            <a:solidFill>
              <a:srgbClr val="131A27"/>
            </a:solidFill>
            <a:prstDash val="solid"/>
          </a:ln>
        </p:spPr>
      </p:sp>
      <p:sp>
        <p:nvSpPr>
          <p:cNvPr id="3" name="Text 1"/>
          <p:cNvSpPr/>
          <p:nvPr/>
        </p:nvSpPr>
        <p:spPr>
          <a:xfrm>
            <a:off x="411480" y="73152"/>
            <a:ext cx="8503920" cy="76809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Inferencialismo (Mauricio Suárez)</a:t>
            </a:r>
            <a:endParaRPr lang="en-US" sz="2200" dirty="0"/>
          </a:p>
        </p:txBody>
      </p:sp>
      <p:sp>
        <p:nvSpPr>
          <p:cNvPr id="4" name="Text 2"/>
          <p:cNvSpPr/>
          <p:nvPr/>
        </p:nvSpPr>
        <p:spPr>
          <a:xfrm>
            <a:off x="411480" y="1051560"/>
            <a:ext cx="8321040" cy="3840480"/>
          </a:xfrm>
          <a:prstGeom prst="rect">
            <a:avLst/>
          </a:prstGeom>
          <a:noFill/>
          <a:ln/>
        </p:spPr>
        <p:txBody>
          <a:bodyPr wrap="square" rtlCol="0" anchor="t"/>
          <a:lstStyle/>
          <a:p>
            <a:pPr marL="342900" indent="-342900">
              <a:spcAft>
                <a:spcPts val="600"/>
              </a:spcAft>
              <a:buSzPct val="100000"/>
              <a:buChar char="•"/>
            </a:pPr>
            <a:r>
              <a:rPr lang="en-US" sz="1500" b="1" dirty="0">
                <a:solidFill>
                  <a:srgbClr val="D1D5DB"/>
                </a:solidFill>
                <a:latin typeface="Calibri" pitchFamily="34" charset="0"/>
                <a:ea typeface="Calibri" pitchFamily="34" charset="-122"/>
                <a:cs typeface="Calibri" pitchFamily="34" charset="-120"/>
              </a:rPr>
              <a:t>Una concepción más amplia y más útil para este libro:</a:t>
            </a:r>
            <a:endParaRPr lang="en-US" sz="1500" dirty="0"/>
          </a:p>
          <a:p>
            <a:pPr marL="342900" indent="-342900">
              <a:spcAft>
                <a:spcPts val="600"/>
              </a:spcAft>
              <a:buSzPct val="100000"/>
              <a:buChar char="•"/>
            </a:pPr>
            <a:r>
              <a:rPr lang="en-US" sz="1500" dirty="0">
                <a:solidFill>
                  <a:srgbClr val="D1D5DB"/>
                </a:solidFill>
                <a:latin typeface="Calibri" pitchFamily="34" charset="0"/>
                <a:ea typeface="Calibri" pitchFamily="34" charset="-122"/>
                <a:cs typeface="Calibri" pitchFamily="34" charset="-120"/>
              </a:rPr>
              <a:t>Lo que hace que una estructura sea un modelo de un fenómeno no es que sean isomórficas, sino que el modelo permite al usuario hacer inferencias sobre el fenómeno en el contexto adecuado.</a:t>
            </a:r>
            <a:endParaRPr lang="en-US" sz="1500" dirty="0"/>
          </a:p>
          <a:p>
            <a:pPr marL="342900" indent="-342900">
              <a:spcAft>
                <a:spcPts val="600"/>
              </a:spcAft>
              <a:buSzPct val="100000"/>
              <a:buChar char="•"/>
            </a:pPr>
            <a:r>
              <a:rPr lang="en-US" sz="1500" dirty="0">
                <a:solidFill>
                  <a:srgbClr val="D1D5DB"/>
                </a:solidFill>
                <a:latin typeface="Calibri" pitchFamily="34" charset="0"/>
                <a:ea typeface="Calibri" pitchFamily="34" charset="-122"/>
                <a:cs typeface="Calibri" pitchFamily="34" charset="-120"/>
              </a:rPr>
              <a:t>Ejemplos:</a:t>
            </a:r>
            <a:endParaRPr lang="en-US" sz="1500" dirty="0"/>
          </a:p>
          <a:p>
            <a:pPr lvl="1" marL="457200" indent="-228600">
              <a:spcAft>
                <a:spcPts val="400"/>
              </a:spcAft>
              <a:buSzPct val="100000"/>
              <a:buChar char="•"/>
            </a:pPr>
            <a:r>
              <a:rPr lang="en-US" sz="1400" dirty="0">
                <a:solidFill>
                  <a:srgbClr val="8B94A3"/>
                </a:solidFill>
                <a:latin typeface="Calibri" pitchFamily="34" charset="0"/>
                <a:ea typeface="Calibri" pitchFamily="34" charset="-122"/>
                <a:cs typeface="Calibri" pitchFamily="34" charset="-120"/>
              </a:rPr>
              <a:t>Un modelo de optimización del forrajeo → permite inferir qué patrones de búsqueda observaríamos si el animal está bien adaptado</a:t>
            </a:r>
            <a:endParaRPr lang="en-US" sz="1500" dirty="0"/>
          </a:p>
          <a:p>
            <a:pPr lvl="1" marL="457200" indent="-228600">
              <a:spcAft>
                <a:spcPts val="400"/>
              </a:spcAft>
              <a:buSzPct val="100000"/>
              <a:buChar char="•"/>
            </a:pPr>
            <a:r>
              <a:rPr lang="en-US" sz="1400" dirty="0">
                <a:solidFill>
                  <a:srgbClr val="8B94A3"/>
                </a:solidFill>
                <a:latin typeface="Calibri" pitchFamily="34" charset="0"/>
                <a:ea typeface="Calibri" pitchFamily="34" charset="-122"/>
                <a:cs typeface="Calibri" pitchFamily="34" charset="-120"/>
              </a:rPr>
              <a:t>Un algoritmo de aprendizaje por refuerzo → permite inferir cómo cambiará la conducta ante distintas distribuciones de recompensa</a:t>
            </a:r>
            <a:endParaRPr lang="en-US" sz="1500" dirty="0"/>
          </a:p>
          <a:p>
            <a:pPr marL="342900" indent="-342900">
              <a:spcAft>
                <a:spcPts val="600"/>
              </a:spcAft>
              <a:buSzPct val="100000"/>
              <a:buChar char="•"/>
            </a:pPr>
            <a:r>
              <a:rPr lang="en-US" sz="1500" b="1" dirty="0">
                <a:solidFill>
                  <a:srgbClr val="5B8DB8"/>
                </a:solidFill>
                <a:latin typeface="Calibri" pitchFamily="34" charset="0"/>
                <a:ea typeface="Calibri" pitchFamily="34" charset="-122"/>
                <a:cs typeface="Calibri" pitchFamily="34" charset="-120"/>
              </a:rPr>
              <a:t>La pregunta correcta para un modelo no es '¿es isomórfico al fenómeno?' sino '¿qué inferencias permite hacer, y son esas inferencias empíricamente productivas?'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5B8DB8"/>
          </a:solidFill>
          <a:ln w="12700">
            <a:solidFill>
              <a:srgbClr val="5B8DB8"/>
            </a:solidFill>
            <a:prstDash val="solid"/>
          </a:ln>
        </p:spPr>
      </p:sp>
      <p:sp>
        <p:nvSpPr>
          <p:cNvPr id="3" name="Text 1"/>
          <p:cNvSpPr/>
          <p:nvPr/>
        </p:nvSpPr>
        <p:spPr>
          <a:xfrm>
            <a:off x="457200" y="1554480"/>
            <a:ext cx="8412480" cy="128016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III. La Pluralidad de Formas de Explicar</a:t>
            </a:r>
            <a:endParaRPr lang="en-US" sz="3400" dirty="0"/>
          </a:p>
        </p:txBody>
      </p:sp>
      <p:sp>
        <p:nvSpPr>
          <p:cNvPr id="4" name="Text 2"/>
          <p:cNvSpPr/>
          <p:nvPr/>
        </p:nvSpPr>
        <p:spPr>
          <a:xfrm>
            <a:off x="457200" y="3017520"/>
            <a:ext cx="8412480" cy="640080"/>
          </a:xfrm>
          <a:prstGeom prst="rect">
            <a:avLst/>
          </a:prstGeom>
          <a:noFill/>
          <a:ln/>
        </p:spPr>
        <p:txBody>
          <a:bodyPr wrap="square" rtlCol="0" anchor="t"/>
          <a:lstStyle/>
          <a:p>
            <a:pPr indent="0" marL="0">
              <a:buNone/>
            </a:pPr>
            <a:r>
              <a:rPr lang="en-US" sz="1600" i="1" dirty="0">
                <a:solidFill>
                  <a:srgbClr val="8B94A3"/>
                </a:solidFill>
                <a:latin typeface="Calibri" pitchFamily="34" charset="0"/>
                <a:ea typeface="Calibri" pitchFamily="34" charset="-122"/>
                <a:cs typeface="Calibri" pitchFamily="34" charset="-120"/>
              </a:rPr>
              <a:t>Causal · Unificación · Mecanicista</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31A27"/>
          </a:solidFill>
          <a:ln w="12700">
            <a:solidFill>
              <a:srgbClr val="131A27"/>
            </a:solidFill>
            <a:prstDash val="solid"/>
          </a:ln>
        </p:spPr>
      </p:sp>
      <p:sp>
        <p:nvSpPr>
          <p:cNvPr id="3" name="Text 1"/>
          <p:cNvSpPr/>
          <p:nvPr/>
        </p:nvSpPr>
        <p:spPr>
          <a:xfrm>
            <a:off x="411480" y="73152"/>
            <a:ext cx="8503920" cy="76809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Explicación Causal: Introducción</a:t>
            </a:r>
            <a:endParaRPr lang="en-US" sz="2200" dirty="0"/>
          </a:p>
        </p:txBody>
      </p:sp>
      <p:sp>
        <p:nvSpPr>
          <p:cNvPr id="4" name="Text 2"/>
          <p:cNvSpPr/>
          <p:nvPr/>
        </p:nvSpPr>
        <p:spPr>
          <a:xfrm>
            <a:off x="411480" y="1051560"/>
            <a:ext cx="8321040" cy="3840480"/>
          </a:xfrm>
          <a:prstGeom prst="rect">
            <a:avLst/>
          </a:prstGeom>
          <a:noFill/>
          <a:ln/>
        </p:spPr>
        <p:txBody>
          <a:bodyPr wrap="square" rtlCol="0" anchor="t"/>
          <a:lstStyle/>
          <a:p>
            <a:pPr marL="342900" indent="-342900">
              <a:spcAft>
                <a:spcPts val="600"/>
              </a:spcAft>
              <a:buSzPct val="100000"/>
              <a:buChar char="•"/>
            </a:pPr>
            <a:r>
              <a:rPr lang="en-US" sz="1500" dirty="0">
                <a:solidFill>
                  <a:srgbClr val="D1D5DB"/>
                </a:solidFill>
                <a:latin typeface="Calibri" pitchFamily="34" charset="0"/>
                <a:ea typeface="Calibri" pitchFamily="34" charset="-122"/>
                <a:cs typeface="Calibri" pitchFamily="34" charset="-120"/>
              </a:rPr>
              <a:t>La respuesta más directa al problema de la asimetría incorpora la causalidad explícitamente.</a:t>
            </a:r>
            <a:endParaRPr lang="en-US" sz="1500" dirty="0"/>
          </a:p>
          <a:p>
            <a:pPr marL="342900" indent="-342900">
              <a:spcAft>
                <a:spcPts val="600"/>
              </a:spcAft>
              <a:buSzPct val="100000"/>
              <a:buChar char="•"/>
            </a:pPr>
            <a:r>
              <a:rPr lang="en-US" sz="1500" dirty="0">
                <a:solidFill>
                  <a:srgbClr val="D1D5DB"/>
                </a:solidFill>
                <a:latin typeface="Calibri" pitchFamily="34" charset="0"/>
                <a:ea typeface="Calibri" pitchFamily="34" charset="-122"/>
                <a:cs typeface="Calibri" pitchFamily="34" charset="-120"/>
              </a:rPr>
              <a:t>Tres versiones importantes de la explicación causal:</a:t>
            </a:r>
            <a:endParaRPr lang="en-US" sz="1500" dirty="0"/>
          </a:p>
          <a:p>
            <a:pPr marL="342900" indent="-342900">
              <a:spcAft>
                <a:spcPts val="600"/>
              </a:spcAft>
              <a:buSzPct val="100000"/>
              <a:buChar char="•"/>
            </a:pPr>
            <a:r>
              <a:rPr lang="en-US" sz="1500" b="1" dirty="0">
                <a:solidFill>
                  <a:srgbClr val="FFFFFF"/>
                </a:solidFill>
                <a:latin typeface="Calibri" pitchFamily="34" charset="0"/>
                <a:ea typeface="Calibri" pitchFamily="34" charset="-122"/>
                <a:cs typeface="Calibri" pitchFamily="34" charset="-120"/>
              </a:rPr>
              <a:t>1. Contrafactual</a:t>
            </a:r>
            <a:endParaRPr lang="en-US" sz="1500" dirty="0"/>
          </a:p>
          <a:p>
            <a:pPr marL="342900" indent="-342900">
              <a:spcAft>
                <a:spcPts val="600"/>
              </a:spcAft>
              <a:buSzPct val="100000"/>
              <a:buChar char="•"/>
            </a:pPr>
            <a:r>
              <a:rPr lang="en-US" sz="1500" dirty="0">
                <a:solidFill>
                  <a:srgbClr val="D1D5DB"/>
                </a:solidFill>
                <a:latin typeface="Calibri" pitchFamily="34" charset="0"/>
                <a:ea typeface="Calibri" pitchFamily="34" charset="-122"/>
                <a:cs typeface="Calibri" pitchFamily="34" charset="-120"/>
              </a:rPr>
              <a:t>A causa B si, de no haber ocurrido A, B tampoco hubiera ocurrido (manteniendo lo demás constante).</a:t>
            </a:r>
            <a:endParaRPr lang="en-US" sz="1500" dirty="0"/>
          </a:p>
          <a:p>
            <a:pPr marL="342900" indent="-342900">
              <a:spcAft>
                <a:spcPts val="600"/>
              </a:spcAft>
              <a:buSzPct val="100000"/>
              <a:buChar char="•"/>
            </a:pPr>
            <a:r>
              <a:rPr lang="en-US" sz="1500" b="1" dirty="0">
                <a:solidFill>
                  <a:srgbClr val="FFFFFF"/>
                </a:solidFill>
                <a:latin typeface="Calibri" pitchFamily="34" charset="0"/>
                <a:ea typeface="Calibri" pitchFamily="34" charset="-122"/>
                <a:cs typeface="Calibri" pitchFamily="34" charset="-120"/>
              </a:rPr>
              <a:t>2. Intervencionista (Woodward)</a:t>
            </a:r>
            <a:endParaRPr lang="en-US" sz="1500" dirty="0"/>
          </a:p>
          <a:p>
            <a:pPr marL="342900" indent="-342900">
              <a:spcAft>
                <a:spcPts val="600"/>
              </a:spcAft>
              <a:buSzPct val="100000"/>
              <a:buChar char="•"/>
            </a:pPr>
            <a:r>
              <a:rPr lang="en-US" sz="1500" dirty="0">
                <a:solidFill>
                  <a:srgbClr val="D1D5DB"/>
                </a:solidFill>
                <a:latin typeface="Calibri" pitchFamily="34" charset="0"/>
                <a:ea typeface="Calibri" pitchFamily="34" charset="-122"/>
                <a:cs typeface="Calibri" pitchFamily="34" charset="-120"/>
              </a:rPr>
              <a:t>A causa B si una intervención sobre A produce un cambio en B.</a:t>
            </a:r>
            <a:endParaRPr lang="en-US" sz="1500" dirty="0"/>
          </a:p>
          <a:p>
            <a:pPr marL="342900" indent="-342900">
              <a:spcAft>
                <a:spcPts val="600"/>
              </a:spcAft>
              <a:buSzPct val="100000"/>
              <a:buChar char="•"/>
            </a:pPr>
            <a:r>
              <a:rPr lang="en-US" sz="1500" b="1" dirty="0">
                <a:solidFill>
                  <a:srgbClr val="FFFFFF"/>
                </a:solidFill>
                <a:latin typeface="Calibri" pitchFamily="34" charset="0"/>
                <a:ea typeface="Calibri" pitchFamily="34" charset="-122"/>
                <a:cs typeface="Calibri" pitchFamily="34" charset="-120"/>
              </a:rPr>
              <a:t>3. Hacedores de diferencia (Strevens)</a:t>
            </a:r>
            <a:endParaRPr lang="en-US" sz="1500" dirty="0"/>
          </a:p>
          <a:p>
            <a:pPr marL="342900" indent="-342900">
              <a:spcAft>
                <a:spcPts val="600"/>
              </a:spcAft>
              <a:buSzPct val="100000"/>
              <a:buChar char="•"/>
            </a:pPr>
            <a:r>
              <a:rPr lang="en-US" sz="1500" dirty="0">
                <a:solidFill>
                  <a:srgbClr val="D1D5DB"/>
                </a:solidFill>
                <a:latin typeface="Calibri" pitchFamily="34" charset="0"/>
                <a:ea typeface="Calibri" pitchFamily="34" charset="-122"/>
                <a:cs typeface="Calibri" pitchFamily="34" charset="-120"/>
              </a:rPr>
              <a:t>Identificar los factores causalmente relevantes que realmente hacen diferencia, omitiendo lo irrelevante.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31A27"/>
          </a:solidFill>
          <a:ln w="12700">
            <a:solidFill>
              <a:srgbClr val="131A27"/>
            </a:solidFill>
            <a:prstDash val="solid"/>
          </a:ln>
        </p:spPr>
      </p:sp>
      <p:sp>
        <p:nvSpPr>
          <p:cNvPr id="3" name="Text 1"/>
          <p:cNvSpPr/>
          <p:nvPr/>
        </p:nvSpPr>
        <p:spPr>
          <a:xfrm>
            <a:off x="411480" y="73152"/>
            <a:ext cx="8503920" cy="76809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Explicación Contrafactual</a:t>
            </a:r>
            <a:endParaRPr lang="en-US" sz="2200" dirty="0"/>
          </a:p>
        </p:txBody>
      </p:sp>
      <p:sp>
        <p:nvSpPr>
          <p:cNvPr id="4" name="Text 2"/>
          <p:cNvSpPr/>
          <p:nvPr/>
        </p:nvSpPr>
        <p:spPr>
          <a:xfrm>
            <a:off x="411480" y="1051560"/>
            <a:ext cx="8321040" cy="3840480"/>
          </a:xfrm>
          <a:prstGeom prst="rect">
            <a:avLst/>
          </a:prstGeom>
          <a:noFill/>
          <a:ln/>
        </p:spPr>
        <p:txBody>
          <a:bodyPr wrap="square" rtlCol="0" anchor="t"/>
          <a:lstStyle/>
          <a:p>
            <a:pPr marL="342900" indent="-342900">
              <a:spcAft>
                <a:spcPts val="600"/>
              </a:spcAft>
              <a:buSzPct val="100000"/>
              <a:buChar char="•"/>
            </a:pPr>
            <a:r>
              <a:rPr lang="en-US" sz="1600" b="1" dirty="0">
                <a:solidFill>
                  <a:srgbClr val="D1D5DB"/>
                </a:solidFill>
                <a:latin typeface="Calibri" pitchFamily="34" charset="0"/>
                <a:ea typeface="Calibri" pitchFamily="34" charset="-122"/>
                <a:cs typeface="Calibri" pitchFamily="34" charset="-120"/>
              </a:rPr>
              <a:t>Pregunta central: ¿qué hubiera pasado en ausencia del factor explicativo?</a:t>
            </a:r>
            <a:endParaRPr lang="en-US" sz="1600" dirty="0"/>
          </a:p>
          <a:p>
            <a:pPr marL="342900" indent="-342900">
              <a:spcAft>
                <a:spcPts val="600"/>
              </a:spcAft>
              <a:buSzPct val="100000"/>
              <a:buChar char="•"/>
            </a:pPr>
            <a:r>
              <a:rPr lang="en-US" sz="1600" dirty="0">
                <a:solidFill>
                  <a:srgbClr val="D1D5DB"/>
                </a:solidFill>
                <a:latin typeface="Calibri" pitchFamily="34" charset="0"/>
                <a:ea typeface="Calibri" pitchFamily="34" charset="-122"/>
                <a:cs typeface="Calibri" pitchFamily="34" charset="-120"/>
              </a:rPr>
              <a:t>Ejemplo clásico en psicología: perro de Pavlov</a:t>
            </a:r>
            <a:endParaRPr lang="en-US" sz="1600" dirty="0"/>
          </a:p>
          <a:p>
            <a:pPr lvl="1" marL="457200" indent="-228600">
              <a:spcAft>
                <a:spcPts val="400"/>
              </a:spcAft>
              <a:buSzPct val="100000"/>
              <a:buChar char="•"/>
            </a:pPr>
            <a:r>
              <a:rPr lang="en-US" sz="1500" dirty="0">
                <a:solidFill>
                  <a:srgbClr val="8B94A3"/>
                </a:solidFill>
                <a:latin typeface="Calibri" pitchFamily="34" charset="0"/>
                <a:ea typeface="Calibri" pitchFamily="34" charset="-122"/>
                <a:cs typeface="Calibri" pitchFamily="34" charset="-120"/>
              </a:rPr>
              <a:t>¿Por qué el perro saliva ante el sonido de la campana?</a:t>
            </a:r>
            <a:endParaRPr lang="en-US" sz="1600" dirty="0"/>
          </a:p>
          <a:p>
            <a:pPr lvl="1" marL="457200" indent="-228600">
              <a:spcAft>
                <a:spcPts val="400"/>
              </a:spcAft>
              <a:buSzPct val="100000"/>
              <a:buChar char="•"/>
            </a:pPr>
            <a:r>
              <a:rPr lang="en-US" sz="1500" dirty="0">
                <a:solidFill>
                  <a:srgbClr val="8B94A3"/>
                </a:solidFill>
                <a:latin typeface="Calibri" pitchFamily="34" charset="0"/>
                <a:ea typeface="Calibri" pitchFamily="34" charset="-122"/>
                <a:cs typeface="Calibri" pitchFamily="34" charset="-120"/>
              </a:rPr>
              <a:t>Porque la campana precedía a la comida</a:t>
            </a:r>
            <a:endParaRPr lang="en-US" sz="1600" dirty="0"/>
          </a:p>
          <a:p>
            <a:pPr lvl="1" marL="457200" indent="-228600">
              <a:spcAft>
                <a:spcPts val="400"/>
              </a:spcAft>
              <a:buSzPct val="100000"/>
              <a:buChar char="•"/>
            </a:pPr>
            <a:r>
              <a:rPr lang="en-US" sz="1500" dirty="0">
                <a:solidFill>
                  <a:srgbClr val="8B94A3"/>
                </a:solidFill>
                <a:latin typeface="Calibri" pitchFamily="34" charset="0"/>
                <a:ea typeface="Calibri" pitchFamily="34" charset="-122"/>
                <a:cs typeface="Calibri" pitchFamily="34" charset="-120"/>
              </a:rPr>
              <a:t>¿Cómo lo sabemos? → grupo control: campana y comida no relacionadas → el perro no saliva</a:t>
            </a:r>
            <a:endParaRPr lang="en-US" sz="1600" dirty="0"/>
          </a:p>
          <a:p>
            <a:pPr lvl="1" marL="457200" indent="-228600">
              <a:spcAft>
                <a:spcPts val="400"/>
              </a:spcAft>
              <a:buSzPct val="100000"/>
              <a:buChar char="•"/>
            </a:pPr>
            <a:r>
              <a:rPr lang="en-US" sz="1500" dirty="0">
                <a:solidFill>
                  <a:srgbClr val="8B94A3"/>
                </a:solidFill>
                <a:latin typeface="Calibri" pitchFamily="34" charset="0"/>
                <a:ea typeface="Calibri" pitchFamily="34" charset="-122"/>
                <a:cs typeface="Calibri" pitchFamily="34" charset="-120"/>
              </a:rPr>
              <a:t>Hemos construido artificialmente la situación contrafactual y verificado que el resultado desaparece</a:t>
            </a:r>
            <a:endParaRPr lang="en-US" sz="1600" dirty="0"/>
          </a:p>
          <a:p>
            <a:pPr marL="342900" indent="-342900">
              <a:spcAft>
                <a:spcPts val="600"/>
              </a:spcAft>
              <a:buSzPct val="100000"/>
              <a:buChar char="•"/>
            </a:pPr>
            <a:r>
              <a:rPr lang="en-US" sz="1600" dirty="0">
                <a:solidFill>
                  <a:srgbClr val="D1D5DB"/>
                </a:solidFill>
                <a:latin typeface="Calibri" pitchFamily="34" charset="0"/>
                <a:ea typeface="Calibri" pitchFamily="34" charset="-122"/>
                <a:cs typeface="Calibri" pitchFamily="34" charset="-120"/>
              </a:rPr>
              <a:t>El grupo control en el experimento es la realización práctica del contrafactual.</a:t>
            </a:r>
            <a:endParaRPr lang="en-US" sz="1600" dirty="0"/>
          </a:p>
          <a:p>
            <a:pPr marL="342900" indent="-342900">
              <a:spcAft>
                <a:spcPts val="600"/>
              </a:spcAft>
              <a:buSzPct val="100000"/>
              <a:buChar char="•"/>
            </a:pPr>
            <a:r>
              <a:rPr lang="en-US" sz="1600" b="1" dirty="0">
                <a:solidFill>
                  <a:srgbClr val="5B8DB8"/>
                </a:solidFill>
                <a:latin typeface="Calibri" pitchFamily="34" charset="0"/>
                <a:ea typeface="Calibri" pitchFamily="34" charset="-122"/>
                <a:cs typeface="Calibri" pitchFamily="34" charset="-120"/>
              </a:rPr>
              <a:t>Esta lógica está en el núcleo del método experimental en ciencias del comportamiento.</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31A27"/>
          </a:solidFill>
          <a:ln w="12700">
            <a:solidFill>
              <a:srgbClr val="131A27"/>
            </a:solidFill>
            <a:prstDash val="solid"/>
          </a:ln>
        </p:spPr>
      </p:sp>
      <p:sp>
        <p:nvSpPr>
          <p:cNvPr id="3" name="Text 1"/>
          <p:cNvSpPr/>
          <p:nvPr/>
        </p:nvSpPr>
        <p:spPr>
          <a:xfrm>
            <a:off x="411480" y="73152"/>
            <a:ext cx="8503920" cy="76809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Explicación Intervencionista (Woodward)</a:t>
            </a:r>
            <a:endParaRPr lang="en-US" sz="2200" dirty="0"/>
          </a:p>
        </p:txBody>
      </p:sp>
      <p:sp>
        <p:nvSpPr>
          <p:cNvPr id="4" name="Text 2"/>
          <p:cNvSpPr/>
          <p:nvPr/>
        </p:nvSpPr>
        <p:spPr>
          <a:xfrm>
            <a:off x="411480" y="1051560"/>
            <a:ext cx="8321040" cy="3840480"/>
          </a:xfrm>
          <a:prstGeom prst="rect">
            <a:avLst/>
          </a:prstGeom>
          <a:noFill/>
          <a:ln/>
        </p:spPr>
        <p:txBody>
          <a:bodyPr wrap="square" rtlCol="0" anchor="t"/>
          <a:lstStyle/>
          <a:p>
            <a:pPr marL="342900" indent="-342900">
              <a:spcAft>
                <a:spcPts val="600"/>
              </a:spcAft>
              <a:buSzPct val="100000"/>
              <a:buChar char="•"/>
            </a:pPr>
            <a:r>
              <a:rPr lang="en-US" sz="1500" b="1" dirty="0">
                <a:solidFill>
                  <a:srgbClr val="FFFFFF"/>
                </a:solidFill>
                <a:latin typeface="Calibri" pitchFamily="34" charset="0"/>
                <a:ea typeface="Calibri" pitchFamily="34" charset="-122"/>
                <a:cs typeface="Calibri" pitchFamily="34" charset="-120"/>
              </a:rPr>
              <a:t>A causa B si una intervención sobre A produce un cambio en B.</a:t>
            </a:r>
            <a:endParaRPr lang="en-US" sz="1500" dirty="0"/>
          </a:p>
          <a:p>
            <a:pPr marL="342900" indent="-342900">
              <a:spcAft>
                <a:spcPts val="600"/>
              </a:spcAft>
              <a:buSzPct val="100000"/>
              <a:buChar char="•"/>
            </a:pPr>
            <a:r>
              <a:rPr lang="en-US" sz="1500" dirty="0">
                <a:solidFill>
                  <a:srgbClr val="D1D5DB"/>
                </a:solidFill>
                <a:latin typeface="Calibri" pitchFamily="34" charset="0"/>
                <a:ea typeface="Calibri" pitchFamily="34" charset="-122"/>
                <a:cs typeface="Calibri" pitchFamily="34" charset="-120"/>
              </a:rPr>
              <a:t>Esta formulación captura por qué nos interesan las relaciones causales: porque queremos intervenir.</a:t>
            </a:r>
            <a:endParaRPr lang="en-US" sz="1500" dirty="0"/>
          </a:p>
          <a:p>
            <a:pPr marL="342900" indent="-342900">
              <a:spcAft>
                <a:spcPts val="600"/>
              </a:spcAft>
              <a:buSzPct val="100000"/>
              <a:buChar char="•"/>
            </a:pPr>
            <a:r>
              <a:rPr lang="en-US" sz="1500" dirty="0">
                <a:solidFill>
                  <a:srgbClr val="D1D5DB"/>
                </a:solidFill>
                <a:latin typeface="Calibri" pitchFamily="34" charset="0"/>
                <a:ea typeface="Calibri" pitchFamily="34" charset="-122"/>
                <a:cs typeface="Calibri" pitchFamily="34" charset="-120"/>
              </a:rPr>
              <a:t>Ejemplificado en el trabajo de Skinner:</a:t>
            </a:r>
            <a:endParaRPr lang="en-US" sz="1500" dirty="0"/>
          </a:p>
          <a:p>
            <a:pPr lvl="1" marL="457200" indent="-228600">
              <a:spcAft>
                <a:spcPts val="400"/>
              </a:spcAft>
              <a:buSzPct val="100000"/>
              <a:buChar char="•"/>
            </a:pPr>
            <a:r>
              <a:rPr lang="en-US" sz="1400" dirty="0">
                <a:solidFill>
                  <a:srgbClr val="8B94A3"/>
                </a:solidFill>
                <a:latin typeface="Calibri" pitchFamily="34" charset="0"/>
                <a:ea typeface="Calibri" pitchFamily="34" charset="-122"/>
                <a:cs typeface="Calibri" pitchFamily="34" charset="-120"/>
              </a:rPr>
              <a:t>Al manipular sistemáticamente los programas de reforzamiento</a:t>
            </a:r>
            <a:endParaRPr lang="en-US" sz="1500" dirty="0"/>
          </a:p>
          <a:p>
            <a:pPr lvl="1" marL="457200" indent="-228600">
              <a:spcAft>
                <a:spcPts val="400"/>
              </a:spcAft>
              <a:buSzPct val="100000"/>
              <a:buChar char="•"/>
            </a:pPr>
            <a:r>
              <a:rPr lang="en-US" sz="1400" dirty="0">
                <a:solidFill>
                  <a:srgbClr val="8B94A3"/>
                </a:solidFill>
                <a:latin typeface="Calibri" pitchFamily="34" charset="0"/>
                <a:ea typeface="Calibri" pitchFamily="34" charset="-122"/>
                <a:cs typeface="Calibri" pitchFamily="34" charset="-120"/>
              </a:rPr>
              <a:t>Y registrar los cambios en los patrones de respuesta</a:t>
            </a:r>
            <a:endParaRPr lang="en-US" sz="1500" dirty="0"/>
          </a:p>
          <a:p>
            <a:pPr lvl="1" marL="457200" indent="-228600">
              <a:spcAft>
                <a:spcPts val="400"/>
              </a:spcAft>
              <a:buSzPct val="100000"/>
              <a:buChar char="•"/>
            </a:pPr>
            <a:r>
              <a:rPr lang="en-US" sz="1400" dirty="0">
                <a:solidFill>
                  <a:srgbClr val="8B94A3"/>
                </a:solidFill>
                <a:latin typeface="Calibri" pitchFamily="34" charset="0"/>
                <a:ea typeface="Calibri" pitchFamily="34" charset="-122"/>
                <a:cs typeface="Calibri" pitchFamily="34" charset="-120"/>
              </a:rPr>
              <a:t>Skinner construyó un catálogo de relaciones causales funcionales de notable robustez</a:t>
            </a:r>
            <a:endParaRPr lang="en-US" sz="1500" dirty="0"/>
          </a:p>
          <a:p>
            <a:pPr marL="342900" indent="-342900">
              <a:spcAft>
                <a:spcPts val="600"/>
              </a:spcAft>
              <a:buSzPct val="100000"/>
              <a:buChar char="•"/>
            </a:pPr>
            <a:r>
              <a:rPr lang="en-US" sz="1500" dirty="0">
                <a:solidFill>
                  <a:srgbClr val="D1D5DB"/>
                </a:solidFill>
                <a:latin typeface="Calibri" pitchFamily="34" charset="0"/>
                <a:ea typeface="Calibri" pitchFamily="34" charset="-122"/>
                <a:cs typeface="Calibri" pitchFamily="34" charset="-120"/>
              </a:rPr>
              <a:t>Identificar esas relaciones funcionales es ya una explicación completa en su nivel.</a:t>
            </a:r>
            <a:endParaRPr lang="en-US" sz="1500" dirty="0"/>
          </a:p>
          <a:p>
            <a:pPr marL="342900" indent="-342900">
              <a:spcAft>
                <a:spcPts val="600"/>
              </a:spcAft>
              <a:buSzPct val="100000"/>
              <a:buChar char="•"/>
            </a:pPr>
            <a:r>
              <a:rPr lang="en-US" sz="1500" i="1" dirty="0">
                <a:solidFill>
                  <a:srgbClr val="8B94A3"/>
                </a:solidFill>
                <a:latin typeface="Calibri" pitchFamily="34" charset="0"/>
                <a:ea typeface="Calibri" pitchFamily="34" charset="-122"/>
                <a:cs typeface="Calibri" pitchFamily="34" charset="-120"/>
              </a:rPr>
              <a:t>Punto importante: identificar relaciones causales funcionales puede ser una explicación completa —no necesariamente provisional— para ciertos propósitos.</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31A27"/>
          </a:solidFill>
          <a:ln w="12700">
            <a:solidFill>
              <a:srgbClr val="131A27"/>
            </a:solidFill>
            <a:prstDash val="solid"/>
          </a:ln>
        </p:spPr>
      </p:sp>
      <p:sp>
        <p:nvSpPr>
          <p:cNvPr id="3" name="Text 1"/>
          <p:cNvSpPr/>
          <p:nvPr/>
        </p:nvSpPr>
        <p:spPr>
          <a:xfrm>
            <a:off x="411480" y="73152"/>
            <a:ext cx="8503920" cy="76809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Los Hacedores de Diferencia (Strevens)</a:t>
            </a:r>
            <a:endParaRPr lang="en-US" sz="2200" dirty="0"/>
          </a:p>
        </p:txBody>
      </p:sp>
      <p:sp>
        <p:nvSpPr>
          <p:cNvPr id="4" name="Text 2"/>
          <p:cNvSpPr/>
          <p:nvPr/>
        </p:nvSpPr>
        <p:spPr>
          <a:xfrm>
            <a:off x="411480" y="1051560"/>
            <a:ext cx="8321040" cy="3840480"/>
          </a:xfrm>
          <a:prstGeom prst="rect">
            <a:avLst/>
          </a:prstGeom>
          <a:noFill/>
          <a:ln/>
        </p:spPr>
        <p:txBody>
          <a:bodyPr wrap="square" rtlCol="0" anchor="t"/>
          <a:lstStyle/>
          <a:p>
            <a:pPr marL="342900" indent="-342900">
              <a:spcAft>
                <a:spcPts val="600"/>
              </a:spcAft>
              <a:buSzPct val="100000"/>
              <a:buChar char="•"/>
            </a:pPr>
            <a:r>
              <a:rPr lang="en-US" sz="1400" dirty="0">
                <a:solidFill>
                  <a:srgbClr val="D1D5DB"/>
                </a:solidFill>
                <a:latin typeface="Calibri" pitchFamily="34" charset="0"/>
                <a:ea typeface="Calibri" pitchFamily="34" charset="-122"/>
                <a:cs typeface="Calibri" pitchFamily="34" charset="-120"/>
              </a:rPr>
              <a:t>Para cualquier evento de interés, hay una multitud de factores causalmente relevantes pero no igualmente explicativos.</a:t>
            </a:r>
            <a:endParaRPr lang="en-US" sz="1400" dirty="0"/>
          </a:p>
          <a:p>
            <a:pPr marL="342900" indent="-342900">
              <a:spcAft>
                <a:spcPts val="600"/>
              </a:spcAft>
              <a:buSzPct val="100000"/>
              <a:buChar char="•"/>
            </a:pPr>
            <a:r>
              <a:rPr lang="en-US" sz="1400" dirty="0">
                <a:solidFill>
                  <a:srgbClr val="D1D5DB"/>
                </a:solidFill>
                <a:latin typeface="Calibri" pitchFamily="34" charset="0"/>
                <a:ea typeface="Calibri" pitchFamily="34" charset="-122"/>
                <a:cs typeface="Calibri" pitchFamily="34" charset="-120"/>
              </a:rPr>
              <a:t>Ejemplo: ¿por qué una paloma pica más una tecla después de que esa respuesta fue seguida de acceso a comida?</a:t>
            </a:r>
            <a:endParaRPr lang="en-US" sz="1400" dirty="0"/>
          </a:p>
          <a:p>
            <a:pPr lvl="1" marL="457200" indent="-228600">
              <a:spcAft>
                <a:spcPts val="400"/>
              </a:spcAft>
              <a:buSzPct val="100000"/>
              <a:buChar char="•"/>
            </a:pPr>
            <a:r>
              <a:rPr lang="en-US" sz="1300" dirty="0">
                <a:solidFill>
                  <a:srgbClr val="8B94A3"/>
                </a:solidFill>
                <a:latin typeface="Calibri" pitchFamily="34" charset="0"/>
                <a:ea typeface="Calibri" pitchFamily="34" charset="-122"/>
                <a:cs typeface="Calibri" pitchFamily="34" charset="-120"/>
              </a:rPr>
              <a:t>Historia causal completa: dimensiones de la cámara, color de la tecla, composición exacta del alimento, temperatura…</a:t>
            </a:r>
            <a:endParaRPr lang="en-US" sz="1400" dirty="0"/>
          </a:p>
          <a:p>
            <a:pPr lvl="1" marL="457200" indent="-228600">
              <a:spcAft>
                <a:spcPts val="400"/>
              </a:spcAft>
              <a:buSzPct val="100000"/>
              <a:buChar char="•"/>
            </a:pPr>
            <a:r>
              <a:rPr lang="en-US" sz="1300" dirty="0">
                <a:solidFill>
                  <a:srgbClr val="8B94A3"/>
                </a:solidFill>
                <a:latin typeface="Calibri" pitchFamily="34" charset="0"/>
                <a:ea typeface="Calibri" pitchFamily="34" charset="-122"/>
                <a:cs typeface="Calibri" pitchFamily="34" charset="-120"/>
              </a:rPr>
              <a:t>Omitiendo sistemáticamente lo que no hace diferencia (cambiando respuesta, organismo, reforzador)</a:t>
            </a:r>
            <a:endParaRPr lang="en-US" sz="1400" dirty="0"/>
          </a:p>
          <a:p>
            <a:pPr lvl="1" marL="457200" indent="-228600">
              <a:spcAft>
                <a:spcPts val="400"/>
              </a:spcAft>
              <a:buSzPct val="100000"/>
              <a:buChar char="•"/>
            </a:pPr>
            <a:r>
              <a:rPr lang="en-US" sz="1300" dirty="0">
                <a:solidFill>
                  <a:srgbClr val="8B94A3"/>
                </a:solidFill>
                <a:latin typeface="Calibri" pitchFamily="34" charset="0"/>
                <a:ea typeface="Calibri" pitchFamily="34" charset="-122"/>
                <a:cs typeface="Calibri" pitchFamily="34" charset="-120"/>
              </a:rPr>
              <a:t>Encontramos el hacedor de diferencia máximamente informativo: que una consecuencia apetitiva siguió a la respuesta</a:t>
            </a:r>
            <a:endParaRPr lang="en-US" sz="1400" dirty="0"/>
          </a:p>
          <a:p>
            <a:pPr marL="342900" indent="-342900">
              <a:spcAft>
                <a:spcPts val="600"/>
              </a:spcAft>
              <a:buSzPct val="100000"/>
              <a:buChar char="•"/>
            </a:pPr>
            <a:r>
              <a:rPr lang="en-US" sz="1400" b="1" dirty="0">
                <a:solidFill>
                  <a:srgbClr val="FFFFFF"/>
                </a:solidFill>
                <a:latin typeface="Calibri" pitchFamily="34" charset="0"/>
                <a:ea typeface="Calibri" pitchFamily="34" charset="-122"/>
                <a:cs typeface="Calibri" pitchFamily="34" charset="-120"/>
              </a:rPr>
              <a:t>Resultado: la Ley del Efecto.</a:t>
            </a:r>
            <a:endParaRPr lang="en-US" sz="1400" dirty="0"/>
          </a:p>
          <a:p>
            <a:pPr marL="342900" indent="-342900">
              <a:spcAft>
                <a:spcPts val="600"/>
              </a:spcAft>
              <a:buSzPct val="100000"/>
              <a:buChar char="•"/>
            </a:pPr>
            <a:r>
              <a:rPr lang="en-US" sz="1400" i="1" dirty="0">
                <a:solidFill>
                  <a:srgbClr val="8B94A3"/>
                </a:solidFill>
                <a:latin typeface="Calibri" pitchFamily="34" charset="0"/>
                <a:ea typeface="Calibri" pitchFamily="34" charset="-122"/>
                <a:cs typeface="Calibri" pitchFamily="34" charset="-120"/>
              </a:rPr>
              <a:t>Es una idealización que no especifica organismos, respuestas ni reforzadores particulares — pero es una buena explicación precisamente porque incluye lo que importa y omite lo que no.</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31A27"/>
          </a:solidFill>
          <a:ln w="12700">
            <a:solidFill>
              <a:srgbClr val="131A27"/>
            </a:solidFill>
            <a:prstDash val="solid"/>
          </a:ln>
        </p:spPr>
      </p:sp>
      <p:sp>
        <p:nvSpPr>
          <p:cNvPr id="3" name="Text 1"/>
          <p:cNvSpPr/>
          <p:nvPr/>
        </p:nvSpPr>
        <p:spPr>
          <a:xfrm>
            <a:off x="411480" y="73152"/>
            <a:ext cx="8503920" cy="76809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Explicación por Unificación (Kitcher)</a:t>
            </a:r>
            <a:endParaRPr lang="en-US" sz="2200" dirty="0"/>
          </a:p>
        </p:txBody>
      </p:sp>
      <p:sp>
        <p:nvSpPr>
          <p:cNvPr id="4" name="Text 2"/>
          <p:cNvSpPr/>
          <p:nvPr/>
        </p:nvSpPr>
        <p:spPr>
          <a:xfrm>
            <a:off x="411480" y="1051560"/>
            <a:ext cx="8321040" cy="3840480"/>
          </a:xfrm>
          <a:prstGeom prst="rect">
            <a:avLst/>
          </a:prstGeom>
          <a:noFill/>
          <a:ln/>
        </p:spPr>
        <p:txBody>
          <a:bodyPr wrap="square" rtlCol="0" anchor="t"/>
          <a:lstStyle/>
          <a:p>
            <a:pPr marL="342900" indent="-342900">
              <a:spcAft>
                <a:spcPts val="600"/>
              </a:spcAft>
              <a:buSzPct val="100000"/>
              <a:buChar char="•"/>
            </a:pPr>
            <a:r>
              <a:rPr lang="en-US" sz="1400" b="1" dirty="0">
                <a:solidFill>
                  <a:srgbClr val="D1D5DB"/>
                </a:solidFill>
                <a:latin typeface="Calibri" pitchFamily="34" charset="0"/>
                <a:ea typeface="Calibri" pitchFamily="34" charset="-122"/>
                <a:cs typeface="Calibri" pitchFamily="34" charset="-120"/>
              </a:rPr>
              <a:t>Las teorías explican al mostrar que fenómenos heterogéneos comparten una estructura subyacente común.</a:t>
            </a:r>
            <a:endParaRPr lang="en-US" sz="1400" dirty="0"/>
          </a:p>
          <a:p>
            <a:pPr marL="342900" indent="-342900">
              <a:spcAft>
                <a:spcPts val="600"/>
              </a:spcAft>
              <a:buSzPct val="100000"/>
              <a:buChar char="•"/>
            </a:pPr>
            <a:r>
              <a:rPr lang="en-US" sz="1400" dirty="0">
                <a:solidFill>
                  <a:srgbClr val="D1D5DB"/>
                </a:solidFill>
                <a:latin typeface="Calibri" pitchFamily="34" charset="0"/>
                <a:ea typeface="Calibri" pitchFamily="34" charset="-122"/>
                <a:cs typeface="Calibri" pitchFamily="34" charset="-120"/>
              </a:rPr>
              <a:t>La ciencia no solo busca causas; busca demostrar que lo que parece diverso es el resultado de unos pocos principios fundamentales.</a:t>
            </a:r>
            <a:endParaRPr lang="en-US" sz="1400" dirty="0"/>
          </a:p>
          <a:p>
            <a:pPr marL="342900" indent="-342900">
              <a:spcAft>
                <a:spcPts val="600"/>
              </a:spcAft>
              <a:buSzPct val="100000"/>
              <a:buChar char="•"/>
            </a:pPr>
            <a:r>
              <a:rPr lang="en-US" sz="1400" dirty="0">
                <a:solidFill>
                  <a:srgbClr val="D1D5DB"/>
                </a:solidFill>
                <a:latin typeface="Calibri" pitchFamily="34" charset="0"/>
                <a:ea typeface="Calibri" pitchFamily="34" charset="-122"/>
                <a:cs typeface="Calibri" pitchFamily="34" charset="-120"/>
              </a:rPr>
              <a:t>Ejemplo paradigmático: teoría de la selección natural</a:t>
            </a:r>
            <a:endParaRPr lang="en-US" sz="1400" dirty="0"/>
          </a:p>
          <a:p>
            <a:pPr lvl="1" marL="457200" indent="-228600">
              <a:spcAft>
                <a:spcPts val="400"/>
              </a:spcAft>
              <a:buSzPct val="100000"/>
              <a:buChar char="•"/>
            </a:pPr>
            <a:r>
              <a:rPr lang="en-US" sz="1300" dirty="0">
                <a:solidFill>
                  <a:srgbClr val="8B94A3"/>
                </a:solidFill>
                <a:latin typeface="Calibri" pitchFamily="34" charset="0"/>
                <a:ea typeface="Calibri" pitchFamily="34" charset="-122"/>
                <a:cs typeface="Calibri" pitchFamily="34" charset="-120"/>
              </a:rPr>
              <a:t>Explica diferencias en morfología, comportamiento, fisiología, demografía</a:t>
            </a:r>
            <a:endParaRPr lang="en-US" sz="1400" dirty="0"/>
          </a:p>
          <a:p>
            <a:pPr lvl="1" marL="457200" indent="-228600">
              <a:spcAft>
                <a:spcPts val="400"/>
              </a:spcAft>
              <a:buSzPct val="100000"/>
              <a:buChar char="•"/>
            </a:pPr>
            <a:r>
              <a:rPr lang="en-US" sz="1300" dirty="0">
                <a:solidFill>
                  <a:srgbClr val="8B94A3"/>
                </a:solidFill>
                <a:latin typeface="Calibri" pitchFamily="34" charset="0"/>
                <a:ea typeface="Calibri" pitchFamily="34" charset="-122"/>
                <a:cs typeface="Calibri" pitchFamily="34" charset="-120"/>
              </a:rPr>
              <a:t>Mostrando que todos son el resultado del mismo proceso</a:t>
            </a:r>
            <a:endParaRPr lang="en-US" sz="1400" dirty="0"/>
          </a:p>
          <a:p>
            <a:pPr marL="342900" indent="-342900">
              <a:spcAft>
                <a:spcPts val="600"/>
              </a:spcAft>
              <a:buSzPct val="100000"/>
              <a:buChar char="•"/>
            </a:pPr>
            <a:r>
              <a:rPr lang="en-US" sz="1400" dirty="0">
                <a:solidFill>
                  <a:srgbClr val="D1D5DB"/>
                </a:solidFill>
                <a:latin typeface="Calibri" pitchFamily="34" charset="0"/>
                <a:ea typeface="Calibri" pitchFamily="34" charset="-122"/>
                <a:cs typeface="Calibri" pitchFamily="34" charset="-120"/>
              </a:rPr>
              <a:t>Corolario elegante — proporción 1:1 machos/hembras (R. Fisher):</a:t>
            </a:r>
            <a:endParaRPr lang="en-US" sz="1400" dirty="0"/>
          </a:p>
          <a:p>
            <a:pPr lvl="1" marL="457200" indent="-228600">
              <a:spcAft>
                <a:spcPts val="400"/>
              </a:spcAft>
              <a:buSzPct val="100000"/>
              <a:buChar char="•"/>
            </a:pPr>
            <a:r>
              <a:rPr lang="en-US" sz="1300" dirty="0">
                <a:solidFill>
                  <a:srgbClr val="8B94A3"/>
                </a:solidFill>
                <a:latin typeface="Calibri" pitchFamily="34" charset="0"/>
                <a:ea typeface="Calibri" pitchFamily="34" charset="-122"/>
                <a:cs typeface="Calibri" pitchFamily="34" charset="-120"/>
              </a:rPr>
              <a:t>Cualquier desviación crea ventaja selectiva para el sexo menos frecuente</a:t>
            </a:r>
            <a:endParaRPr lang="en-US" sz="1400" dirty="0"/>
          </a:p>
          <a:p>
            <a:pPr lvl="1" marL="457200" indent="-228600">
              <a:spcAft>
                <a:spcPts val="400"/>
              </a:spcAft>
              <a:buSzPct val="100000"/>
              <a:buChar char="•"/>
            </a:pPr>
            <a:r>
              <a:rPr lang="en-US" sz="1300" dirty="0">
                <a:solidFill>
                  <a:srgbClr val="8B94A3"/>
                </a:solidFill>
                <a:latin typeface="Calibri" pitchFamily="34" charset="0"/>
                <a:ea typeface="Calibri" pitchFamily="34" charset="-122"/>
                <a:cs typeface="Calibri" pitchFamily="34" charset="-120"/>
              </a:rPr>
              <a:t>El argumento no especifica mecanismos de determinación de sexo: los ignora deliberadamente</a:t>
            </a:r>
            <a:endParaRPr lang="en-US" sz="1400" dirty="0"/>
          </a:p>
          <a:p>
            <a:pPr lvl="1" marL="457200" indent="-228600">
              <a:spcAft>
                <a:spcPts val="400"/>
              </a:spcAft>
              <a:buSzPct val="100000"/>
              <a:buChar char="•"/>
            </a:pPr>
            <a:r>
              <a:rPr lang="en-US" sz="1300" dirty="0">
                <a:solidFill>
                  <a:srgbClr val="8B94A3"/>
                </a:solidFill>
                <a:latin typeface="Calibri" pitchFamily="34" charset="0"/>
                <a:ea typeface="Calibri" pitchFamily="34" charset="-122"/>
                <a:cs typeface="Calibri" pitchFamily="34" charset="-120"/>
              </a:rPr>
              <a:t>Su poder proviene de mostrar por qué ese patrón emerge en sistemas con mecanismos muy distintos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31A27"/>
          </a:solidFill>
          <a:ln w="12700">
            <a:solidFill>
              <a:srgbClr val="131A27"/>
            </a:solidFill>
            <a:prstDash val="solid"/>
          </a:ln>
        </p:spPr>
      </p:sp>
      <p:sp>
        <p:nvSpPr>
          <p:cNvPr id="3" name="Text 1"/>
          <p:cNvSpPr/>
          <p:nvPr/>
        </p:nvSpPr>
        <p:spPr>
          <a:xfrm>
            <a:off x="411480" y="73152"/>
            <a:ext cx="8503920" cy="76809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El Principio del Reforzamiento como Teoría Unificadora</a:t>
            </a:r>
            <a:endParaRPr lang="en-US" sz="2200" dirty="0"/>
          </a:p>
        </p:txBody>
      </p:sp>
      <p:sp>
        <p:nvSpPr>
          <p:cNvPr id="4" name="Text 2"/>
          <p:cNvSpPr/>
          <p:nvPr/>
        </p:nvSpPr>
        <p:spPr>
          <a:xfrm>
            <a:off x="411480" y="1051560"/>
            <a:ext cx="8321040" cy="3840480"/>
          </a:xfrm>
          <a:prstGeom prst="rect">
            <a:avLst/>
          </a:prstGeom>
          <a:noFill/>
          <a:ln/>
        </p:spPr>
        <p:txBody>
          <a:bodyPr wrap="square" rtlCol="0" anchor="t"/>
          <a:lstStyle/>
          <a:p>
            <a:pPr marL="342900" indent="-342900">
              <a:spcAft>
                <a:spcPts val="600"/>
              </a:spcAft>
              <a:buSzPct val="100000"/>
              <a:buChar char="•"/>
            </a:pPr>
            <a:r>
              <a:rPr lang="en-US" sz="1600" dirty="0">
                <a:solidFill>
                  <a:srgbClr val="D1D5DB"/>
                </a:solidFill>
                <a:latin typeface="Calibri" pitchFamily="34" charset="0"/>
                <a:ea typeface="Calibri" pitchFamily="34" charset="-122"/>
                <a:cs typeface="Calibri" pitchFamily="34" charset="-120"/>
              </a:rPr>
              <a:t>En este libro veremos que el principio del reforzamiento unifica una gran diversidad de comportamientos en múltiples especies e incluso en agentes no biológicos.</a:t>
            </a:r>
            <a:endParaRPr lang="en-US" sz="1600" dirty="0"/>
          </a:p>
          <a:p>
            <a:pPr marL="342900" indent="-342900">
              <a:spcAft>
                <a:spcPts val="600"/>
              </a:spcAft>
              <a:buSzPct val="100000"/>
              <a:buChar char="•"/>
            </a:pPr>
            <a:r>
              <a:rPr lang="en-US" sz="1600" dirty="0">
                <a:solidFill>
                  <a:srgbClr val="D1D5DB"/>
                </a:solidFill>
                <a:latin typeface="Calibri" pitchFamily="34" charset="0"/>
                <a:ea typeface="Calibri" pitchFamily="34" charset="-122"/>
                <a:cs typeface="Calibri" pitchFamily="34" charset="-120"/>
              </a:rPr>
              <a:t>No necesitamos una teoría diferente para:</a:t>
            </a:r>
            <a:endParaRPr lang="en-US" sz="1600" dirty="0"/>
          </a:p>
          <a:p>
            <a:pPr lvl="1" marL="457200" indent="-228600">
              <a:spcAft>
                <a:spcPts val="400"/>
              </a:spcAft>
              <a:buSzPct val="100000"/>
              <a:buChar char="•"/>
            </a:pPr>
            <a:r>
              <a:rPr lang="en-US" sz="1500" dirty="0">
                <a:solidFill>
                  <a:srgbClr val="8B94A3"/>
                </a:solidFill>
                <a:latin typeface="Calibri" pitchFamily="34" charset="0"/>
                <a:ea typeface="Calibri" pitchFamily="34" charset="-122"/>
                <a:cs typeface="Calibri" pitchFamily="34" charset="-120"/>
              </a:rPr>
              <a:t>Desarrollo del lenguaje</a:t>
            </a:r>
            <a:endParaRPr lang="en-US" sz="1600" dirty="0"/>
          </a:p>
          <a:p>
            <a:pPr lvl="1" marL="457200" indent="-228600">
              <a:spcAft>
                <a:spcPts val="400"/>
              </a:spcAft>
              <a:buSzPct val="100000"/>
              <a:buChar char="•"/>
            </a:pPr>
            <a:r>
              <a:rPr lang="en-US" sz="1500" dirty="0">
                <a:solidFill>
                  <a:srgbClr val="8B94A3"/>
                </a:solidFill>
                <a:latin typeface="Calibri" pitchFamily="34" charset="0"/>
                <a:ea typeface="Calibri" pitchFamily="34" charset="-122"/>
                <a:cs typeface="Calibri" pitchFamily="34" charset="-120"/>
              </a:rPr>
              <a:t>Adicción</a:t>
            </a:r>
            <a:endParaRPr lang="en-US" sz="1600" dirty="0"/>
          </a:p>
          <a:p>
            <a:pPr lvl="1" marL="457200" indent="-228600">
              <a:spcAft>
                <a:spcPts val="400"/>
              </a:spcAft>
              <a:buSzPct val="100000"/>
              <a:buChar char="•"/>
            </a:pPr>
            <a:r>
              <a:rPr lang="en-US" sz="1500" dirty="0">
                <a:solidFill>
                  <a:srgbClr val="8B94A3"/>
                </a:solidFill>
                <a:latin typeface="Calibri" pitchFamily="34" charset="0"/>
                <a:ea typeface="Calibri" pitchFamily="34" charset="-122"/>
                <a:cs typeface="Calibri" pitchFamily="34" charset="-120"/>
              </a:rPr>
              <a:t>Forrajeo</a:t>
            </a:r>
            <a:endParaRPr lang="en-US" sz="1600" dirty="0"/>
          </a:p>
          <a:p>
            <a:pPr lvl="1" marL="457200" indent="-228600">
              <a:spcAft>
                <a:spcPts val="400"/>
              </a:spcAft>
              <a:buSzPct val="100000"/>
              <a:buChar char="•"/>
            </a:pPr>
            <a:r>
              <a:rPr lang="en-US" sz="1500" dirty="0">
                <a:solidFill>
                  <a:srgbClr val="8B94A3"/>
                </a:solidFill>
                <a:latin typeface="Calibri" pitchFamily="34" charset="0"/>
                <a:ea typeface="Calibri" pitchFamily="34" charset="-122"/>
                <a:cs typeface="Calibri" pitchFamily="34" charset="-120"/>
              </a:rPr>
              <a:t>Aprendizaje de habilidades motoras</a:t>
            </a:r>
            <a:endParaRPr lang="en-US" sz="1600" dirty="0"/>
          </a:p>
          <a:p>
            <a:pPr marL="342900" indent="-342900">
              <a:spcAft>
                <a:spcPts val="600"/>
              </a:spcAft>
              <a:buSzPct val="100000"/>
              <a:buChar char="•"/>
            </a:pPr>
            <a:r>
              <a:rPr lang="en-US" sz="1600" b="1" dirty="0">
                <a:solidFill>
                  <a:srgbClr val="5B8DB8"/>
                </a:solidFill>
                <a:latin typeface="Calibri" pitchFamily="34" charset="0"/>
                <a:ea typeface="Calibri" pitchFamily="34" charset="-122"/>
                <a:cs typeface="Calibri" pitchFamily="34" charset="-120"/>
              </a:rPr>
              <a:t>Un conjunto de principios los abarca a todos.</a:t>
            </a:r>
            <a:endParaRPr lang="en-US" sz="1600" dirty="0"/>
          </a:p>
          <a:p>
            <a:pPr marL="342900" indent="-342900">
              <a:spcAft>
                <a:spcPts val="600"/>
              </a:spcAft>
              <a:buSzPct val="100000"/>
              <a:buChar char="•"/>
            </a:pPr>
            <a:r>
              <a:rPr lang="en-US" sz="1600" i="1" dirty="0">
                <a:solidFill>
                  <a:srgbClr val="8B94A3"/>
                </a:solidFill>
                <a:latin typeface="Calibri" pitchFamily="34" charset="0"/>
                <a:ea typeface="Calibri" pitchFamily="34" charset="-122"/>
                <a:cs typeface="Calibri" pitchFamily="34" charset="-120"/>
              </a:rPr>
              <a:t>Esta capacidad unificadora es parte del valor explicativo del enfoque conductual.</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31A27"/>
          </a:solidFill>
          <a:ln w="12700">
            <a:solidFill>
              <a:srgbClr val="131A27"/>
            </a:solidFill>
            <a:prstDash val="solid"/>
          </a:ln>
        </p:spPr>
      </p:sp>
      <p:sp>
        <p:nvSpPr>
          <p:cNvPr id="3" name="Text 1"/>
          <p:cNvSpPr/>
          <p:nvPr/>
        </p:nvSpPr>
        <p:spPr>
          <a:xfrm>
            <a:off x="411480" y="73152"/>
            <a:ext cx="8503920" cy="76809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Explicación Mecanicista: El Nuevo Mecanicismo</a:t>
            </a:r>
            <a:endParaRPr lang="en-US" sz="2200" dirty="0"/>
          </a:p>
        </p:txBody>
      </p:sp>
      <p:sp>
        <p:nvSpPr>
          <p:cNvPr id="4" name="Text 2"/>
          <p:cNvSpPr/>
          <p:nvPr/>
        </p:nvSpPr>
        <p:spPr>
          <a:xfrm>
            <a:off x="411480" y="1051560"/>
            <a:ext cx="8321040" cy="3840480"/>
          </a:xfrm>
          <a:prstGeom prst="rect">
            <a:avLst/>
          </a:prstGeom>
          <a:noFill/>
          <a:ln/>
        </p:spPr>
        <p:txBody>
          <a:bodyPr wrap="square" rtlCol="0" anchor="t"/>
          <a:lstStyle/>
          <a:p>
            <a:pPr marL="342900" indent="-342900">
              <a:spcAft>
                <a:spcPts val="600"/>
              </a:spcAft>
              <a:buSzPct val="100000"/>
              <a:buChar char="•"/>
            </a:pPr>
            <a:r>
              <a:rPr lang="en-US" sz="1500" dirty="0">
                <a:solidFill>
                  <a:srgbClr val="D1D5DB"/>
                </a:solidFill>
                <a:latin typeface="Calibri" pitchFamily="34" charset="0"/>
                <a:ea typeface="Calibri" pitchFamily="34" charset="-122"/>
                <a:cs typeface="Calibri" pitchFamily="34" charset="-120"/>
              </a:rPr>
              <a:t>A comienzos del siglo XXI, Carl Craver y William Bechtel articularon el nuevo mecanicismo.</a:t>
            </a:r>
            <a:endParaRPr lang="en-US" sz="1500" dirty="0"/>
          </a:p>
          <a:p>
            <a:pPr marL="342900" indent="-342900">
              <a:spcAft>
                <a:spcPts val="600"/>
              </a:spcAft>
              <a:buSzPct val="100000"/>
              <a:buChar char="•"/>
            </a:pPr>
            <a:r>
              <a:rPr lang="en-US" sz="1500" b="1" dirty="0">
                <a:solidFill>
                  <a:srgbClr val="FFFFFF"/>
                </a:solidFill>
                <a:latin typeface="Calibri" pitchFamily="34" charset="0"/>
                <a:ea typeface="Calibri" pitchFamily="34" charset="-122"/>
                <a:cs typeface="Calibri" pitchFamily="34" charset="-120"/>
              </a:rPr>
              <a:t>Definición: un mecanismo para un fenómeno consiste de entidades cuyas actividades e interacciones están organizadas de forma que producen ese fenómeno.</a:t>
            </a:r>
            <a:endParaRPr lang="en-US" sz="1500" dirty="0"/>
          </a:p>
          <a:p>
            <a:pPr marL="342900" indent="-342900">
              <a:spcAft>
                <a:spcPts val="600"/>
              </a:spcAft>
              <a:buSzPct val="100000"/>
              <a:buChar char="•"/>
            </a:pPr>
            <a:r>
              <a:rPr lang="en-US" sz="1500" dirty="0">
                <a:solidFill>
                  <a:srgbClr val="D1D5DB"/>
                </a:solidFill>
                <a:latin typeface="Calibri" pitchFamily="34" charset="0"/>
                <a:ea typeface="Calibri" pitchFamily="34" charset="-122"/>
                <a:cs typeface="Calibri" pitchFamily="34" charset="-120"/>
              </a:rPr>
              <a:t>Componentes:</a:t>
            </a:r>
            <a:endParaRPr lang="en-US" sz="1500" dirty="0"/>
          </a:p>
          <a:p>
            <a:pPr lvl="1" marL="457200" indent="-228600">
              <a:spcAft>
                <a:spcPts val="400"/>
              </a:spcAft>
              <a:buSzPct val="100000"/>
              <a:buChar char="•"/>
            </a:pPr>
            <a:r>
              <a:rPr lang="en-US" sz="1400" dirty="0">
                <a:solidFill>
                  <a:srgbClr val="8B94A3"/>
                </a:solidFill>
                <a:latin typeface="Calibri" pitchFamily="34" charset="0"/>
                <a:ea typeface="Calibri" pitchFamily="34" charset="-122"/>
                <a:cs typeface="Calibri" pitchFamily="34" charset="-120"/>
              </a:rPr>
              <a:t>Entidades → los componentes del sistema</a:t>
            </a:r>
            <a:endParaRPr lang="en-US" sz="1500" dirty="0"/>
          </a:p>
          <a:p>
            <a:pPr lvl="1" marL="457200" indent="-228600">
              <a:spcAft>
                <a:spcPts val="400"/>
              </a:spcAft>
              <a:buSzPct val="100000"/>
              <a:buChar char="•"/>
            </a:pPr>
            <a:r>
              <a:rPr lang="en-US" sz="1400" dirty="0">
                <a:solidFill>
                  <a:srgbClr val="8B94A3"/>
                </a:solidFill>
                <a:latin typeface="Calibri" pitchFamily="34" charset="0"/>
                <a:ea typeface="Calibri" pitchFamily="34" charset="-122"/>
                <a:cs typeface="Calibri" pitchFamily="34" charset="-120"/>
              </a:rPr>
              <a:t>Actividades → lo que cada componente hace</a:t>
            </a:r>
            <a:endParaRPr lang="en-US" sz="1500" dirty="0"/>
          </a:p>
          <a:p>
            <a:pPr lvl="1" marL="457200" indent="-228600">
              <a:spcAft>
                <a:spcPts val="400"/>
              </a:spcAft>
              <a:buSzPct val="100000"/>
              <a:buChar char="•"/>
            </a:pPr>
            <a:r>
              <a:rPr lang="en-US" sz="1400" dirty="0">
                <a:solidFill>
                  <a:srgbClr val="8B94A3"/>
                </a:solidFill>
                <a:latin typeface="Calibri" pitchFamily="34" charset="0"/>
                <a:ea typeface="Calibri" pitchFamily="34" charset="-122"/>
                <a:cs typeface="Calibri" pitchFamily="34" charset="-120"/>
              </a:rPr>
              <a:t>Organización → estructura espacial y temporal de sus interacciones</a:t>
            </a:r>
            <a:endParaRPr lang="en-US" sz="1500" dirty="0"/>
          </a:p>
          <a:p>
            <a:pPr lvl="1" marL="457200" indent="-228600">
              <a:spcAft>
                <a:spcPts val="400"/>
              </a:spcAft>
              <a:buSzPct val="100000"/>
              <a:buChar char="•"/>
            </a:pPr>
            <a:r>
              <a:rPr lang="en-US" sz="1400" dirty="0">
                <a:solidFill>
                  <a:srgbClr val="8B94A3"/>
                </a:solidFill>
                <a:latin typeface="Calibri" pitchFamily="34" charset="0"/>
                <a:ea typeface="Calibri" pitchFamily="34" charset="-122"/>
                <a:cs typeface="Calibri" pitchFamily="34" charset="-120"/>
              </a:rPr>
              <a:t>Fenómeno → resultado de nivel superior que queremos explicar</a:t>
            </a:r>
            <a:endParaRPr lang="en-US" sz="1500" dirty="0"/>
          </a:p>
          <a:p>
            <a:pPr marL="342900" indent="-342900">
              <a:spcAft>
                <a:spcPts val="600"/>
              </a:spcAft>
              <a:buSzPct val="100000"/>
              <a:buChar char="•"/>
            </a:pPr>
            <a:r>
              <a:rPr lang="en-US" sz="1500" i="1" dirty="0">
                <a:solidFill>
                  <a:srgbClr val="8B94A3"/>
                </a:solidFill>
                <a:latin typeface="Calibri" pitchFamily="34" charset="0"/>
                <a:ea typeface="Calibri" pitchFamily="34" charset="-122"/>
                <a:cs typeface="Calibri" pitchFamily="34" charset="-120"/>
              </a:rPr>
              <a:t>El comportamiento de las entidades que conforman el mecanismo es diferente al comportamiento que se explica.</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31A27"/>
          </a:solidFill>
          <a:ln w="12700">
            <a:solidFill>
              <a:srgbClr val="131A27"/>
            </a:solidFill>
            <a:prstDash val="solid"/>
          </a:ln>
        </p:spPr>
      </p:sp>
      <p:sp>
        <p:nvSpPr>
          <p:cNvPr id="3" name="Text 1"/>
          <p:cNvSpPr/>
          <p:nvPr/>
        </p:nvSpPr>
        <p:spPr>
          <a:xfrm>
            <a:off x="411480" y="73152"/>
            <a:ext cx="8503920" cy="76809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Mecanicismo Genuino vs. Sistema Nervioso Conceptual</a:t>
            </a:r>
            <a:endParaRPr lang="en-US" sz="2200" dirty="0"/>
          </a:p>
        </p:txBody>
      </p:sp>
      <p:sp>
        <p:nvSpPr>
          <p:cNvPr id="4" name="Text 2"/>
          <p:cNvSpPr/>
          <p:nvPr/>
        </p:nvSpPr>
        <p:spPr>
          <a:xfrm>
            <a:off x="411480" y="1051560"/>
            <a:ext cx="8321040" cy="3840480"/>
          </a:xfrm>
          <a:prstGeom prst="rect">
            <a:avLst/>
          </a:prstGeom>
          <a:noFill/>
          <a:ln/>
        </p:spPr>
        <p:txBody>
          <a:bodyPr wrap="square" rtlCol="0" anchor="t"/>
          <a:lstStyle/>
          <a:p>
            <a:pPr marL="342900" indent="-342900">
              <a:spcAft>
                <a:spcPts val="600"/>
              </a:spcAft>
              <a:buSzPct val="100000"/>
              <a:buChar char="•"/>
            </a:pPr>
            <a:r>
              <a:rPr lang="en-US" sz="1400" b="1" dirty="0">
                <a:solidFill>
                  <a:srgbClr val="D1D5DB"/>
                </a:solidFill>
                <a:latin typeface="Calibri" pitchFamily="34" charset="0"/>
                <a:ea typeface="Calibri" pitchFamily="34" charset="-122"/>
                <a:cs typeface="Calibri" pitchFamily="34" charset="-120"/>
              </a:rPr>
              <a:t>Skinner criticó lo que llamó el 'sistema nervioso conceptual':</a:t>
            </a:r>
            <a:endParaRPr lang="en-US" sz="1400" dirty="0"/>
          </a:p>
          <a:p>
            <a:pPr marL="342900" indent="-342900">
              <a:spcAft>
                <a:spcPts val="600"/>
              </a:spcAft>
              <a:buSzPct val="100000"/>
              <a:buChar char="•"/>
            </a:pPr>
            <a:r>
              <a:rPr lang="en-US" sz="1400" i="1" dirty="0">
                <a:solidFill>
                  <a:srgbClr val="8B94A3"/>
                </a:solidFill>
                <a:latin typeface="Calibri" pitchFamily="34" charset="0"/>
                <a:ea typeface="Calibri" pitchFamily="34" charset="-122"/>
                <a:cs typeface="Calibri" pitchFamily="34" charset="-120"/>
              </a:rPr>
              <a:t>La tendencia a postular procesos internos sin evidencia independiente de su existencia — solo renombrar el comportamiento con jerga mecanicista.</a:t>
            </a:r>
            <a:endParaRPr lang="en-US" sz="1400" dirty="0"/>
          </a:p>
          <a:p>
            <a:pPr marL="342900" indent="-342900">
              <a:spcAft>
                <a:spcPts val="600"/>
              </a:spcAft>
              <a:buSzPct val="100000"/>
              <a:buChar char="•"/>
            </a:pPr>
            <a:r>
              <a:rPr lang="en-US" sz="1400" dirty="0">
                <a:solidFill>
                  <a:srgbClr val="D1D5DB"/>
                </a:solidFill>
                <a:latin typeface="Calibri" pitchFamily="34" charset="0"/>
                <a:ea typeface="Calibri" pitchFamily="34" charset="-122"/>
                <a:cs typeface="Calibri" pitchFamily="34" charset="-120"/>
              </a:rPr>
              <a:t>Su objeción era válida. El nuevo mecanicismo la toma en serio.</a:t>
            </a:r>
            <a:endParaRPr lang="en-US" sz="1400" dirty="0"/>
          </a:p>
          <a:p>
            <a:pPr marL="342900" indent="-342900">
              <a:spcAft>
                <a:spcPts val="600"/>
              </a:spcAft>
              <a:buSzPct val="100000"/>
              <a:buChar char="•"/>
            </a:pPr>
            <a:r>
              <a:rPr lang="en-US" sz="1400" b="1" dirty="0">
                <a:solidFill>
                  <a:srgbClr val="5B8DB8"/>
                </a:solidFill>
                <a:latin typeface="Calibri" pitchFamily="34" charset="0"/>
                <a:ea typeface="Calibri" pitchFamily="34" charset="-122"/>
                <a:cs typeface="Calibri" pitchFamily="34" charset="-120"/>
              </a:rPr>
              <a:t>Un mecanismo genuino requiere componentes reales, identificables de manera independiente al fenómeno que explican.</a:t>
            </a:r>
            <a:endParaRPr lang="en-US" sz="1400" dirty="0"/>
          </a:p>
          <a:p>
            <a:pPr marL="342900" indent="-342900">
              <a:spcAft>
                <a:spcPts val="600"/>
              </a:spcAft>
              <a:buSzPct val="100000"/>
              <a:buChar char="•"/>
            </a:pPr>
            <a:r>
              <a:rPr lang="en-US" sz="1400" dirty="0">
                <a:solidFill>
                  <a:srgbClr val="D1D5DB"/>
                </a:solidFill>
                <a:latin typeface="Calibri" pitchFamily="34" charset="0"/>
                <a:ea typeface="Calibri" pitchFamily="34" charset="-122"/>
                <a:cs typeface="Calibri" pitchFamily="34" charset="-120"/>
              </a:rPr>
              <a:t>Ejemplo — neuronas dopaminérgicas del mesencéfalo:</a:t>
            </a:r>
            <a:endParaRPr lang="en-US" sz="1400" dirty="0"/>
          </a:p>
          <a:p>
            <a:pPr lvl="1" marL="457200" indent="-228600">
              <a:spcAft>
                <a:spcPts val="400"/>
              </a:spcAft>
              <a:buSzPct val="100000"/>
              <a:buChar char="•"/>
            </a:pPr>
            <a:r>
              <a:rPr lang="en-US" sz="1300" dirty="0">
                <a:solidFill>
                  <a:srgbClr val="8B94A3"/>
                </a:solidFill>
                <a:latin typeface="Calibri" pitchFamily="34" charset="0"/>
                <a:ea typeface="Calibri" pitchFamily="34" charset="-122"/>
                <a:cs typeface="Calibri" pitchFamily="34" charset="-120"/>
              </a:rPr>
              <a:t>Codifican señales de error de predicción de recompensa</a:t>
            </a:r>
            <a:endParaRPr lang="en-US" sz="1400" dirty="0"/>
          </a:p>
          <a:p>
            <a:pPr lvl="1" marL="457200" indent="-228600">
              <a:spcAft>
                <a:spcPts val="400"/>
              </a:spcAft>
              <a:buSzPct val="100000"/>
              <a:buChar char="•"/>
            </a:pPr>
            <a:r>
              <a:rPr lang="en-US" sz="1300" dirty="0">
                <a:solidFill>
                  <a:srgbClr val="8B94A3"/>
                </a:solidFill>
                <a:latin typeface="Calibri" pitchFamily="34" charset="0"/>
                <a:ea typeface="Calibri" pitchFamily="34" charset="-122"/>
                <a:cs typeface="Calibri" pitchFamily="34" charset="-120"/>
              </a:rPr>
              <a:t>El mismo tipo de señal que aparece en los modelos de diferencias temporales</a:t>
            </a:r>
            <a:endParaRPr lang="en-US" sz="1400" dirty="0"/>
          </a:p>
          <a:p>
            <a:pPr lvl="1" marL="457200" indent="-228600">
              <a:spcAft>
                <a:spcPts val="400"/>
              </a:spcAft>
              <a:buSzPct val="100000"/>
              <a:buChar char="•"/>
            </a:pPr>
            <a:r>
              <a:rPr lang="en-US" sz="1300" dirty="0">
                <a:solidFill>
                  <a:srgbClr val="8B94A3"/>
                </a:solidFill>
                <a:latin typeface="Calibri" pitchFamily="34" charset="0"/>
                <a:ea typeface="Calibri" pitchFamily="34" charset="-122"/>
                <a:cs typeface="Calibri" pitchFamily="34" charset="-120"/>
              </a:rPr>
              <a:t>→ Explicación mecanicista genuina: un componente identificable independientemente que implementa el proceso descrito a nivel algorítmico</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5B8DB8"/>
          </a:solidFill>
          <a:ln w="12700">
            <a:solidFill>
              <a:srgbClr val="5B8DB8"/>
            </a:solidFill>
            <a:prstDash val="solid"/>
          </a:ln>
        </p:spPr>
      </p:sp>
      <p:sp>
        <p:nvSpPr>
          <p:cNvPr id="3" name="Text 1"/>
          <p:cNvSpPr/>
          <p:nvPr/>
        </p:nvSpPr>
        <p:spPr>
          <a:xfrm>
            <a:off x="457200" y="1554480"/>
            <a:ext cx="8412480" cy="128016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IV. Niveles de Análisis</a:t>
            </a:r>
            <a:endParaRPr lang="en-US" sz="3400" dirty="0"/>
          </a:p>
        </p:txBody>
      </p:sp>
      <p:sp>
        <p:nvSpPr>
          <p:cNvPr id="4" name="Text 2"/>
          <p:cNvSpPr/>
          <p:nvPr/>
        </p:nvSpPr>
        <p:spPr>
          <a:xfrm>
            <a:off x="457200" y="3017520"/>
            <a:ext cx="8412480" cy="640080"/>
          </a:xfrm>
          <a:prstGeom prst="rect">
            <a:avLst/>
          </a:prstGeom>
          <a:noFill/>
          <a:ln/>
        </p:spPr>
        <p:txBody>
          <a:bodyPr wrap="square" rtlCol="0" anchor="t"/>
          <a:lstStyle/>
          <a:p>
            <a:pPr indent="0" marL="0">
              <a:buNone/>
            </a:pPr>
            <a:r>
              <a:rPr lang="en-US" sz="1600" i="1" dirty="0">
                <a:solidFill>
                  <a:srgbClr val="8B94A3"/>
                </a:solidFill>
                <a:latin typeface="Calibri" pitchFamily="34" charset="0"/>
                <a:ea typeface="Calibri" pitchFamily="34" charset="-122"/>
                <a:cs typeface="Calibri" pitchFamily="34" charset="-120"/>
              </a:rPr>
              <a:t>Tinbergen · Marr · Killeen</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31A27"/>
          </a:solidFill>
          <a:ln w="12700">
            <a:solidFill>
              <a:srgbClr val="131A27"/>
            </a:solidFill>
            <a:prstDash val="solid"/>
          </a:ln>
        </p:spPr>
      </p:sp>
      <p:sp>
        <p:nvSpPr>
          <p:cNvPr id="3" name="Text 1"/>
          <p:cNvSpPr/>
          <p:nvPr/>
        </p:nvSpPr>
        <p:spPr>
          <a:xfrm>
            <a:off x="411480" y="73152"/>
            <a:ext cx="8503920" cy="76809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¿Por qué pensar en niveles?</a:t>
            </a:r>
            <a:endParaRPr lang="en-US" sz="2200" dirty="0"/>
          </a:p>
        </p:txBody>
      </p:sp>
      <p:sp>
        <p:nvSpPr>
          <p:cNvPr id="4" name="Text 2"/>
          <p:cNvSpPr/>
          <p:nvPr/>
        </p:nvSpPr>
        <p:spPr>
          <a:xfrm>
            <a:off x="411480" y="1051560"/>
            <a:ext cx="8321040" cy="3840480"/>
          </a:xfrm>
          <a:prstGeom prst="rect">
            <a:avLst/>
          </a:prstGeom>
          <a:noFill/>
          <a:ln/>
        </p:spPr>
        <p:txBody>
          <a:bodyPr wrap="square" rtlCol="0" anchor="t"/>
          <a:lstStyle/>
          <a:p>
            <a:pPr marL="342900" indent="-342900">
              <a:spcAft>
                <a:spcPts val="600"/>
              </a:spcAft>
              <a:buSzPct val="100000"/>
              <a:buChar char="•"/>
            </a:pPr>
            <a:r>
              <a:rPr lang="en-US" sz="1600" dirty="0">
                <a:solidFill>
                  <a:srgbClr val="D1D5DB"/>
                </a:solidFill>
                <a:latin typeface="Calibri" pitchFamily="34" charset="0"/>
                <a:ea typeface="Calibri" pitchFamily="34" charset="-122"/>
                <a:cs typeface="Calibri" pitchFamily="34" charset="-120"/>
              </a:rPr>
              <a:t>Existen múltiples tipos de explicación legítima, cada uno apropiado para un tipo de pregunta.</a:t>
            </a:r>
            <a:endParaRPr lang="en-US" sz="1600" dirty="0"/>
          </a:p>
          <a:p>
            <a:pPr marL="342900" indent="-342900">
              <a:spcAft>
                <a:spcPts val="600"/>
              </a:spcAft>
              <a:buSzPct val="100000"/>
              <a:buChar char="•"/>
            </a:pPr>
            <a:r>
              <a:rPr lang="en-US" sz="1600" dirty="0">
                <a:solidFill>
                  <a:srgbClr val="D1D5DB"/>
                </a:solidFill>
                <a:latin typeface="Calibri" pitchFamily="34" charset="0"/>
                <a:ea typeface="Calibri" pitchFamily="34" charset="-122"/>
                <a:cs typeface="Calibri" pitchFamily="34" charset="-120"/>
              </a:rPr>
              <a:t>La respuesta que ha emergido desde varias disciplinas es pensar en términos de niveles de análisis.</a:t>
            </a:r>
            <a:endParaRPr lang="en-US" sz="1600" dirty="0"/>
          </a:p>
          <a:p>
            <a:pPr marL="342900" indent="-342900">
              <a:spcAft>
                <a:spcPts val="600"/>
              </a:spcAft>
              <a:buSzPct val="100000"/>
              <a:buChar char="•"/>
            </a:pPr>
            <a:r>
              <a:rPr lang="en-US" sz="1600" b="1" dirty="0">
                <a:solidFill>
                  <a:srgbClr val="FFFFFF"/>
                </a:solidFill>
                <a:latin typeface="Calibri" pitchFamily="34" charset="0"/>
                <a:ea typeface="Calibri" pitchFamily="34" charset="-122"/>
                <a:cs typeface="Calibri" pitchFamily="34" charset="-120"/>
              </a:rPr>
              <a:t>Fenómenos complejos pueden analizarse en distintos niveles, cada uno con sus propios conceptos, métodos y tipos de explicación.</a:t>
            </a:r>
            <a:endParaRPr lang="en-US" sz="1600" dirty="0"/>
          </a:p>
          <a:p>
            <a:pPr marL="342900" indent="-342900">
              <a:spcAft>
                <a:spcPts val="600"/>
              </a:spcAft>
              <a:buSzPct val="100000"/>
              <a:buChar char="•"/>
            </a:pPr>
            <a:r>
              <a:rPr lang="en-US" sz="1600" dirty="0">
                <a:solidFill>
                  <a:srgbClr val="D1D5DB"/>
                </a:solidFill>
                <a:latin typeface="Calibri" pitchFamily="34" charset="0"/>
                <a:ea typeface="Calibri" pitchFamily="34" charset="-122"/>
                <a:cs typeface="Calibri" pitchFamily="34" charset="-120"/>
              </a:rPr>
              <a:t>Tres marcos organizan esos niveles de maneras complementarias:</a:t>
            </a:r>
            <a:endParaRPr lang="en-US" sz="1600" dirty="0"/>
          </a:p>
          <a:p>
            <a:pPr lvl="1" marL="457200" indent="-228600">
              <a:spcAft>
                <a:spcPts val="400"/>
              </a:spcAft>
              <a:buSzPct val="100000"/>
              <a:buChar char="•"/>
            </a:pPr>
            <a:r>
              <a:rPr lang="en-US" sz="1500" dirty="0">
                <a:solidFill>
                  <a:srgbClr val="8B94A3"/>
                </a:solidFill>
                <a:latin typeface="Calibri" pitchFamily="34" charset="0"/>
                <a:ea typeface="Calibri" pitchFamily="34" charset="-122"/>
                <a:cs typeface="Calibri" pitchFamily="34" charset="-120"/>
              </a:rPr>
              <a:t>Las cuatro preguntas de Tinbergen</a:t>
            </a:r>
            <a:endParaRPr lang="en-US" sz="1600" dirty="0"/>
          </a:p>
          <a:p>
            <a:pPr lvl="1" marL="457200" indent="-228600">
              <a:spcAft>
                <a:spcPts val="400"/>
              </a:spcAft>
              <a:buSzPct val="100000"/>
              <a:buChar char="•"/>
            </a:pPr>
            <a:r>
              <a:rPr lang="en-US" sz="1500" dirty="0">
                <a:solidFill>
                  <a:srgbClr val="8B94A3"/>
                </a:solidFill>
                <a:latin typeface="Calibri" pitchFamily="34" charset="0"/>
                <a:ea typeface="Calibri" pitchFamily="34" charset="-122"/>
                <a:cs typeface="Calibri" pitchFamily="34" charset="-120"/>
              </a:rPr>
              <a:t>Los tres niveles de Marr</a:t>
            </a:r>
            <a:endParaRPr lang="en-US" sz="1600" dirty="0"/>
          </a:p>
          <a:p>
            <a:pPr lvl="1" marL="457200" indent="-228600">
              <a:spcAft>
                <a:spcPts val="400"/>
              </a:spcAft>
              <a:buSzPct val="100000"/>
              <a:buChar char="•"/>
            </a:pPr>
            <a:r>
              <a:rPr lang="en-US" sz="1500" dirty="0">
                <a:solidFill>
                  <a:srgbClr val="8B94A3"/>
                </a:solidFill>
                <a:latin typeface="Calibri" pitchFamily="34" charset="0"/>
                <a:ea typeface="Calibri" pitchFamily="34" charset="-122"/>
                <a:cs typeface="Calibri" pitchFamily="34" charset="-120"/>
              </a:rPr>
              <a:t>El vocabulario de Killeen</a:t>
            </a:r>
            <a:endParaRPr lang="en-US" sz="1600" dirty="0"/>
          </a:p>
          <a:p>
            <a:pPr marL="342900" indent="-342900">
              <a:spcAft>
                <a:spcPts val="600"/>
              </a:spcAft>
              <a:buSzPct val="100000"/>
              <a:buChar char="•"/>
            </a:pPr>
            <a:r>
              <a:rPr lang="en-US" sz="1600" i="1" dirty="0">
                <a:solidFill>
                  <a:srgbClr val="5B8DB8"/>
                </a:solidFill>
                <a:latin typeface="Calibri" pitchFamily="34" charset="0"/>
                <a:ea typeface="Calibri" pitchFamily="34" charset="-122"/>
                <a:cs typeface="Calibri" pitchFamily="34" charset="-120"/>
              </a:rPr>
              <a:t>Cuando dos modelos parecen incompatibles, la primera pregunta es: ¿están operando al mismo nivel?</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31A27"/>
          </a:solidFill>
          <a:ln w="12700">
            <a:solidFill>
              <a:srgbClr val="131A27"/>
            </a:solidFill>
            <a:prstDash val="solid"/>
          </a:ln>
        </p:spPr>
      </p:sp>
      <p:sp>
        <p:nvSpPr>
          <p:cNvPr id="3" name="Text 1"/>
          <p:cNvSpPr/>
          <p:nvPr/>
        </p:nvSpPr>
        <p:spPr>
          <a:xfrm>
            <a:off x="411480" y="73152"/>
            <a:ext cx="8503920" cy="76809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Las Cuatro Preguntas de Tinbergen</a:t>
            </a:r>
            <a:endParaRPr lang="en-US" sz="2200" dirty="0"/>
          </a:p>
        </p:txBody>
      </p:sp>
      <p:sp>
        <p:nvSpPr>
          <p:cNvPr id="4" name="Text 2"/>
          <p:cNvSpPr/>
          <p:nvPr/>
        </p:nvSpPr>
        <p:spPr>
          <a:xfrm>
            <a:off x="411480" y="1051560"/>
            <a:ext cx="3840480" cy="320040"/>
          </a:xfrm>
          <a:prstGeom prst="rect">
            <a:avLst/>
          </a:prstGeom>
          <a:noFill/>
          <a:ln/>
        </p:spPr>
        <p:txBody>
          <a:bodyPr wrap="square" rtlCol="0" anchor="ctr"/>
          <a:lstStyle/>
          <a:p>
            <a:pPr indent="0" marL="0">
              <a:buNone/>
            </a:pPr>
            <a:r>
              <a:rPr lang="en-US" sz="1300" b="1" dirty="0">
                <a:solidFill>
                  <a:srgbClr val="5B8DB8"/>
                </a:solidFill>
                <a:latin typeface="Calibri" pitchFamily="34" charset="0"/>
                <a:ea typeface="Calibri" pitchFamily="34" charset="-122"/>
                <a:cs typeface="Calibri" pitchFamily="34" charset="-120"/>
              </a:rPr>
              <a:t>Causas próximas</a:t>
            </a:r>
            <a:endParaRPr lang="en-US" sz="1300" dirty="0"/>
          </a:p>
        </p:txBody>
      </p:sp>
      <p:sp>
        <p:nvSpPr>
          <p:cNvPr id="5" name="Text 3"/>
          <p:cNvSpPr/>
          <p:nvPr/>
        </p:nvSpPr>
        <p:spPr>
          <a:xfrm>
            <a:off x="4846320" y="1051560"/>
            <a:ext cx="3840480" cy="320040"/>
          </a:xfrm>
          <a:prstGeom prst="rect">
            <a:avLst/>
          </a:prstGeom>
          <a:noFill/>
          <a:ln/>
        </p:spPr>
        <p:txBody>
          <a:bodyPr wrap="square" rtlCol="0" anchor="ctr"/>
          <a:lstStyle/>
          <a:p>
            <a:pPr indent="0" marL="0">
              <a:buNone/>
            </a:pPr>
            <a:r>
              <a:rPr lang="en-US" sz="1300" b="1" dirty="0">
                <a:solidFill>
                  <a:srgbClr val="5B8DB8"/>
                </a:solidFill>
                <a:latin typeface="Calibri" pitchFamily="34" charset="0"/>
                <a:ea typeface="Calibri" pitchFamily="34" charset="-122"/>
                <a:cs typeface="Calibri" pitchFamily="34" charset="-120"/>
              </a:rPr>
              <a:t>Causas últimas</a:t>
            </a:r>
            <a:endParaRPr lang="en-US" sz="1300" dirty="0"/>
          </a:p>
        </p:txBody>
      </p:sp>
      <p:sp>
        <p:nvSpPr>
          <p:cNvPr id="6" name="Shape 4"/>
          <p:cNvSpPr/>
          <p:nvPr/>
        </p:nvSpPr>
        <p:spPr>
          <a:xfrm>
            <a:off x="4572000" y="1005840"/>
            <a:ext cx="0" cy="3840480"/>
          </a:xfrm>
          <a:prstGeom prst="line">
            <a:avLst/>
          </a:prstGeom>
          <a:noFill/>
          <a:ln w="6350">
            <a:solidFill>
              <a:srgbClr val="5B8DB8"/>
            </a:solidFill>
            <a:prstDash val="solid"/>
          </a:ln>
        </p:spPr>
      </p:sp>
      <p:sp>
        <p:nvSpPr>
          <p:cNvPr id="7" name="Text 5"/>
          <p:cNvSpPr/>
          <p:nvPr/>
        </p:nvSpPr>
        <p:spPr>
          <a:xfrm>
            <a:off x="411480" y="1417320"/>
            <a:ext cx="3931920" cy="3474720"/>
          </a:xfrm>
          <a:prstGeom prst="rect">
            <a:avLst/>
          </a:prstGeom>
          <a:noFill/>
          <a:ln/>
        </p:spPr>
        <p:txBody>
          <a:bodyPr wrap="square" rtlCol="0" anchor="t"/>
          <a:lstStyle/>
          <a:p>
            <a:pPr marL="342900" indent="-342900">
              <a:spcAft>
                <a:spcPts val="700"/>
              </a:spcAft>
              <a:buSzPct val="100000"/>
              <a:buChar char="•"/>
            </a:pPr>
            <a:r>
              <a:rPr lang="en-US" sz="1400" dirty="0">
                <a:solidFill>
                  <a:srgbClr val="D1D5DB"/>
                </a:solidFill>
                <a:latin typeface="Calibri" pitchFamily="34" charset="0"/>
                <a:ea typeface="Calibri" pitchFamily="34" charset="-122"/>
                <a:cs typeface="Calibri" pitchFamily="34" charset="-120"/>
              </a:rPr>
              <a:t>CAUSAS PRÓXIMAS</a:t>
            </a:r>
            <a:endParaRPr lang="en-US" sz="1400" dirty="0"/>
          </a:p>
          <a:p>
            <a:pPr marL="342900" indent="-342900">
              <a:spcAft>
                <a:spcPts val="700"/>
              </a:spcAft>
              <a:buSzPct val="100000"/>
              <a:buChar char="•"/>
            </a:pPr>
            <a:r>
              <a:rPr lang="en-US" sz="1400" dirty="0">
                <a:solidFill>
                  <a:srgbClr val="D1D5DB"/>
                </a:solidFill>
                <a:latin typeface="Calibri" pitchFamily="34" charset="0"/>
                <a:ea typeface="Calibri" pitchFamily="34" charset="-122"/>
                <a:cs typeface="Calibri" pitchFamily="34" charset="-120"/>
              </a:rPr>
              <a:t>¿Cómo funciona el comportamiento aquí y ahora?</a:t>
            </a:r>
            <a:endParaRPr lang="en-US" sz="1400" dirty="0"/>
          </a:p>
          <a:p>
            <a:pPr marL="342900" indent="-342900">
              <a:spcAft>
                <a:spcPts val="700"/>
              </a:spcAft>
              <a:buSzPct val="100000"/>
              <a:buChar char="•"/>
            </a:pPr>
            <a:endParaRPr lang="en-US" sz="1400" dirty="0"/>
          </a:p>
          <a:p>
            <a:pPr marL="342900" indent="-342900">
              <a:spcAft>
                <a:spcPts val="700"/>
              </a:spcAft>
              <a:buSzPct val="100000"/>
              <a:buChar char="•"/>
            </a:pPr>
            <a:r>
              <a:rPr lang="en-US" sz="1400" dirty="0">
                <a:solidFill>
                  <a:srgbClr val="D1D5DB"/>
                </a:solidFill>
                <a:latin typeface="Calibri" pitchFamily="34" charset="0"/>
                <a:ea typeface="Calibri" pitchFamily="34" charset="-122"/>
                <a:cs typeface="Calibri" pitchFamily="34" charset="-120"/>
              </a:rPr>
              <a:t>Mecanismo</a:t>
            </a:r>
            <a:endParaRPr lang="en-US" sz="1400" dirty="0"/>
          </a:p>
          <a:p>
            <a:pPr marL="342900" indent="-342900">
              <a:spcAft>
                <a:spcPts val="700"/>
              </a:spcAft>
              <a:buSzPct val="100000"/>
              <a:buChar char="•"/>
            </a:pPr>
            <a:r>
              <a:rPr lang="en-US" sz="1400" dirty="0">
                <a:solidFill>
                  <a:srgbClr val="D1D5DB"/>
                </a:solidFill>
                <a:latin typeface="Calibri" pitchFamily="34" charset="0"/>
                <a:ea typeface="Calibri" pitchFamily="34" charset="-122"/>
                <a:cs typeface="Calibri" pitchFamily="34" charset="-120"/>
              </a:rPr>
              <a:t>¿Qué procesos fisiológicos y psicológicos producen el comportamiento?</a:t>
            </a:r>
            <a:endParaRPr lang="en-US" sz="1400" dirty="0"/>
          </a:p>
          <a:p>
            <a:pPr marL="342900" indent="-342900">
              <a:spcAft>
                <a:spcPts val="700"/>
              </a:spcAft>
              <a:buSzPct val="100000"/>
              <a:buChar char="•"/>
            </a:pPr>
            <a:endParaRPr lang="en-US" sz="1400" dirty="0"/>
          </a:p>
          <a:p>
            <a:pPr marL="342900" indent="-342900">
              <a:spcAft>
                <a:spcPts val="700"/>
              </a:spcAft>
              <a:buSzPct val="100000"/>
              <a:buChar char="•"/>
            </a:pPr>
            <a:r>
              <a:rPr lang="en-US" sz="1400" dirty="0">
                <a:solidFill>
                  <a:srgbClr val="D1D5DB"/>
                </a:solidFill>
                <a:latin typeface="Calibri" pitchFamily="34" charset="0"/>
                <a:ea typeface="Calibri" pitchFamily="34" charset="-122"/>
                <a:cs typeface="Calibri" pitchFamily="34" charset="-120"/>
              </a:rPr>
              <a:t>Desarrollo</a:t>
            </a:r>
            <a:endParaRPr lang="en-US" sz="1400" dirty="0"/>
          </a:p>
          <a:p>
            <a:pPr marL="342900" indent="-342900">
              <a:spcAft>
                <a:spcPts val="700"/>
              </a:spcAft>
              <a:buSzPct val="100000"/>
              <a:buChar char="•"/>
            </a:pPr>
            <a:r>
              <a:rPr lang="en-US" sz="1400" dirty="0">
                <a:solidFill>
                  <a:srgbClr val="D1D5DB"/>
                </a:solidFill>
                <a:latin typeface="Calibri" pitchFamily="34" charset="0"/>
                <a:ea typeface="Calibri" pitchFamily="34" charset="-122"/>
                <a:cs typeface="Calibri" pitchFamily="34" charset="-120"/>
              </a:rPr>
              <a:t>¿Cómo se forma el comportamiento a lo largo de la vida del individuo?</a:t>
            </a:r>
            <a:endParaRPr lang="en-US" sz="1400" dirty="0"/>
          </a:p>
        </p:txBody>
      </p:sp>
      <p:sp>
        <p:nvSpPr>
          <p:cNvPr id="8" name="Text 6"/>
          <p:cNvSpPr/>
          <p:nvPr/>
        </p:nvSpPr>
        <p:spPr>
          <a:xfrm>
            <a:off x="4754880" y="1417320"/>
            <a:ext cx="4023360" cy="3474720"/>
          </a:xfrm>
          <a:prstGeom prst="rect">
            <a:avLst/>
          </a:prstGeom>
          <a:noFill/>
          <a:ln/>
        </p:spPr>
        <p:txBody>
          <a:bodyPr wrap="square" rtlCol="0" anchor="t"/>
          <a:lstStyle/>
          <a:p>
            <a:pPr marL="342900" indent="-342900">
              <a:spcAft>
                <a:spcPts val="700"/>
              </a:spcAft>
              <a:buSzPct val="100000"/>
              <a:buChar char="•"/>
            </a:pPr>
            <a:r>
              <a:rPr lang="en-US" sz="1400" dirty="0">
                <a:solidFill>
                  <a:srgbClr val="D1D5DB"/>
                </a:solidFill>
                <a:latin typeface="Calibri" pitchFamily="34" charset="0"/>
                <a:ea typeface="Calibri" pitchFamily="34" charset="-122"/>
                <a:cs typeface="Calibri" pitchFamily="34" charset="-120"/>
              </a:rPr>
              <a:t>CAUSAS ÚLTIMAS</a:t>
            </a:r>
            <a:endParaRPr lang="en-US" sz="1400" dirty="0"/>
          </a:p>
          <a:p>
            <a:pPr marL="342900" indent="-342900">
              <a:spcAft>
                <a:spcPts val="700"/>
              </a:spcAft>
              <a:buSzPct val="100000"/>
              <a:buChar char="•"/>
            </a:pPr>
            <a:r>
              <a:rPr lang="en-US" sz="1400" dirty="0">
                <a:solidFill>
                  <a:srgbClr val="D1D5DB"/>
                </a:solidFill>
                <a:latin typeface="Calibri" pitchFamily="34" charset="0"/>
                <a:ea typeface="Calibri" pitchFamily="34" charset="-122"/>
                <a:cs typeface="Calibri" pitchFamily="34" charset="-120"/>
              </a:rPr>
              <a:t>¿Por qué evolucionó el comportamiento?</a:t>
            </a:r>
            <a:endParaRPr lang="en-US" sz="1400" dirty="0"/>
          </a:p>
          <a:p>
            <a:pPr marL="342900" indent="-342900">
              <a:spcAft>
                <a:spcPts val="700"/>
              </a:spcAft>
              <a:buSzPct val="100000"/>
              <a:buChar char="•"/>
            </a:pPr>
            <a:endParaRPr lang="en-US" sz="1400" dirty="0"/>
          </a:p>
          <a:p>
            <a:pPr marL="342900" indent="-342900">
              <a:spcAft>
                <a:spcPts val="700"/>
              </a:spcAft>
              <a:buSzPct val="100000"/>
              <a:buChar char="•"/>
            </a:pPr>
            <a:r>
              <a:rPr lang="en-US" sz="1400" dirty="0">
                <a:solidFill>
                  <a:srgbClr val="D1D5DB"/>
                </a:solidFill>
                <a:latin typeface="Calibri" pitchFamily="34" charset="0"/>
                <a:ea typeface="Calibri" pitchFamily="34" charset="-122"/>
                <a:cs typeface="Calibri" pitchFamily="34" charset="-120"/>
              </a:rPr>
              <a:t>Función</a:t>
            </a:r>
            <a:endParaRPr lang="en-US" sz="1400" dirty="0"/>
          </a:p>
          <a:p>
            <a:pPr marL="342900" indent="-342900">
              <a:spcAft>
                <a:spcPts val="700"/>
              </a:spcAft>
              <a:buSzPct val="100000"/>
              <a:buChar char="•"/>
            </a:pPr>
            <a:r>
              <a:rPr lang="en-US" sz="1400" dirty="0">
                <a:solidFill>
                  <a:srgbClr val="D1D5DB"/>
                </a:solidFill>
                <a:latin typeface="Calibri" pitchFamily="34" charset="0"/>
                <a:ea typeface="Calibri" pitchFamily="34" charset="-122"/>
                <a:cs typeface="Calibri" pitchFamily="34" charset="-120"/>
              </a:rPr>
              <a:t>¿Cuál es el valor adaptativo del comportamiento?</a:t>
            </a:r>
            <a:endParaRPr lang="en-US" sz="1400" dirty="0"/>
          </a:p>
          <a:p>
            <a:pPr marL="342900" indent="-342900">
              <a:spcAft>
                <a:spcPts val="700"/>
              </a:spcAft>
              <a:buSzPct val="100000"/>
              <a:buChar char="•"/>
            </a:pPr>
            <a:endParaRPr lang="en-US" sz="1400" dirty="0"/>
          </a:p>
          <a:p>
            <a:pPr marL="342900" indent="-342900">
              <a:spcAft>
                <a:spcPts val="700"/>
              </a:spcAft>
              <a:buSzPct val="100000"/>
              <a:buChar char="•"/>
            </a:pPr>
            <a:r>
              <a:rPr lang="en-US" sz="1400" dirty="0">
                <a:solidFill>
                  <a:srgbClr val="D1D5DB"/>
                </a:solidFill>
                <a:latin typeface="Calibri" pitchFamily="34" charset="0"/>
                <a:ea typeface="Calibri" pitchFamily="34" charset="-122"/>
                <a:cs typeface="Calibri" pitchFamily="34" charset="-120"/>
              </a:rPr>
              <a:t>Evolución</a:t>
            </a:r>
            <a:endParaRPr lang="en-US" sz="1400" dirty="0"/>
          </a:p>
          <a:p>
            <a:pPr marL="342900" indent="-342900">
              <a:spcAft>
                <a:spcPts val="700"/>
              </a:spcAft>
              <a:buSzPct val="100000"/>
              <a:buChar char="•"/>
            </a:pPr>
            <a:r>
              <a:rPr lang="en-US" sz="1400" dirty="0">
                <a:solidFill>
                  <a:srgbClr val="D1D5DB"/>
                </a:solidFill>
                <a:latin typeface="Calibri" pitchFamily="34" charset="0"/>
                <a:ea typeface="Calibri" pitchFamily="34" charset="-122"/>
                <a:cs typeface="Calibri" pitchFamily="34" charset="-120"/>
              </a:rPr>
              <a:t>¿Cómo llegó ese comportamiento a existir en la historia de la especie?</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31A27"/>
          </a:solidFill>
          <a:ln w="12700">
            <a:solidFill>
              <a:srgbClr val="131A27"/>
            </a:solidFill>
            <a:prstDash val="solid"/>
          </a:ln>
        </p:spPr>
      </p:sp>
      <p:sp>
        <p:nvSpPr>
          <p:cNvPr id="3" name="Text 1"/>
          <p:cNvSpPr/>
          <p:nvPr/>
        </p:nvSpPr>
        <p:spPr>
          <a:xfrm>
            <a:off x="411480" y="73152"/>
            <a:ext cx="8503920" cy="76809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Ejemplo: Bacterias y Quimiotaxis (Tinbergen)</a:t>
            </a:r>
            <a:endParaRPr lang="en-US" sz="2200" dirty="0"/>
          </a:p>
        </p:txBody>
      </p:sp>
      <p:sp>
        <p:nvSpPr>
          <p:cNvPr id="4" name="Text 2"/>
          <p:cNvSpPr/>
          <p:nvPr/>
        </p:nvSpPr>
        <p:spPr>
          <a:xfrm>
            <a:off x="411480" y="1005840"/>
            <a:ext cx="8321040" cy="3886200"/>
          </a:xfrm>
          <a:prstGeom prst="rect">
            <a:avLst/>
          </a:prstGeom>
          <a:noFill/>
          <a:ln/>
        </p:spPr>
        <p:txBody>
          <a:bodyPr wrap="square" rtlCol="0" anchor="t"/>
          <a:lstStyle/>
          <a:p>
            <a:pPr marL="342900" indent="-342900">
              <a:spcAft>
                <a:spcPts val="600"/>
              </a:spcAft>
              <a:buSzPct val="100000"/>
              <a:buChar char="•"/>
            </a:pPr>
            <a:r>
              <a:rPr lang="en-US" sz="1400" b="1" dirty="0">
                <a:solidFill>
                  <a:srgbClr val="FFFFFF"/>
                </a:solidFill>
                <a:latin typeface="Calibri" pitchFamily="34" charset="0"/>
                <a:ea typeface="Calibri" pitchFamily="34" charset="-122"/>
                <a:cs typeface="Calibri" pitchFamily="34" charset="-120"/>
              </a:rPr>
              <a:t>Fenómeno: las bacterias se mueven hacia concentraciones más altas de nutrientes.</a:t>
            </a:r>
            <a:endParaRPr lang="en-US" sz="1400" dirty="0"/>
          </a:p>
          <a:p>
            <a:pPr marL="342900" indent="-342900">
              <a:spcAft>
                <a:spcPts val="600"/>
              </a:spcAft>
              <a:buSzPct val="100000"/>
              <a:buChar char="•"/>
            </a:pPr>
            <a:r>
              <a:rPr lang="en-US" sz="1400" b="1" dirty="0">
                <a:solidFill>
                  <a:srgbClr val="D1D5DB"/>
                </a:solidFill>
                <a:latin typeface="Calibri" pitchFamily="34" charset="0"/>
                <a:ea typeface="Calibri" pitchFamily="34" charset="-122"/>
                <a:cs typeface="Calibri" pitchFamily="34" charset="-120"/>
              </a:rPr>
              <a:t>Mecanismo:</a:t>
            </a:r>
            <a:endParaRPr lang="en-US" sz="1400" dirty="0"/>
          </a:p>
          <a:p>
            <a:pPr marL="342900" indent="-342900">
              <a:spcAft>
                <a:spcPts val="600"/>
              </a:spcAft>
              <a:buSzPct val="100000"/>
              <a:buChar char="•"/>
            </a:pPr>
            <a:r>
              <a:rPr lang="en-US" sz="1400" dirty="0">
                <a:solidFill>
                  <a:srgbClr val="8B94A3"/>
                </a:solidFill>
                <a:latin typeface="Calibri" pitchFamily="34" charset="0"/>
                <a:ea typeface="Calibri" pitchFamily="34" charset="-122"/>
                <a:cs typeface="Calibri" pitchFamily="34" charset="-120"/>
              </a:rPr>
              <a:t>Receptores de quimiotaxis y flagelos que cambian su sentido de rotación.</a:t>
            </a:r>
            <a:endParaRPr lang="en-US" sz="1400" dirty="0"/>
          </a:p>
          <a:p>
            <a:pPr marL="342900" indent="-342900">
              <a:spcAft>
                <a:spcPts val="600"/>
              </a:spcAft>
              <a:buSzPct val="100000"/>
              <a:buChar char="•"/>
            </a:pPr>
            <a:r>
              <a:rPr lang="en-US" sz="1400" b="1" dirty="0">
                <a:solidFill>
                  <a:srgbClr val="D1D5DB"/>
                </a:solidFill>
                <a:latin typeface="Calibri" pitchFamily="34" charset="0"/>
                <a:ea typeface="Calibri" pitchFamily="34" charset="-122"/>
                <a:cs typeface="Calibri" pitchFamily="34" charset="-120"/>
              </a:rPr>
              <a:t>Desarrollo:</a:t>
            </a:r>
            <a:endParaRPr lang="en-US" sz="1400" dirty="0"/>
          </a:p>
          <a:p>
            <a:pPr marL="342900" indent="-342900">
              <a:spcAft>
                <a:spcPts val="600"/>
              </a:spcAft>
              <a:buSzPct val="100000"/>
              <a:buChar char="•"/>
            </a:pPr>
            <a:r>
              <a:rPr lang="en-US" sz="1400" dirty="0">
                <a:solidFill>
                  <a:srgbClr val="8B94A3"/>
                </a:solidFill>
                <a:latin typeface="Calibri" pitchFamily="34" charset="0"/>
                <a:ea typeface="Calibri" pitchFamily="34" charset="-122"/>
                <a:cs typeface="Calibri" pitchFamily="34" charset="-120"/>
              </a:rPr>
              <a:t>Expresión genética durante el ciclo de vida de la bacteria.</a:t>
            </a:r>
            <a:endParaRPr lang="en-US" sz="1400" dirty="0"/>
          </a:p>
          <a:p>
            <a:pPr marL="342900" indent="-342900">
              <a:spcAft>
                <a:spcPts val="600"/>
              </a:spcAft>
              <a:buSzPct val="100000"/>
              <a:buChar char="•"/>
            </a:pPr>
            <a:r>
              <a:rPr lang="en-US" sz="1400" b="1" dirty="0">
                <a:solidFill>
                  <a:srgbClr val="D1D5DB"/>
                </a:solidFill>
                <a:latin typeface="Calibri" pitchFamily="34" charset="0"/>
                <a:ea typeface="Calibri" pitchFamily="34" charset="-122"/>
                <a:cs typeface="Calibri" pitchFamily="34" charset="-120"/>
              </a:rPr>
              <a:t>Función:</a:t>
            </a:r>
            <a:endParaRPr lang="en-US" sz="1400" dirty="0"/>
          </a:p>
          <a:p>
            <a:pPr marL="342900" indent="-342900">
              <a:spcAft>
                <a:spcPts val="600"/>
              </a:spcAft>
              <a:buSzPct val="100000"/>
              <a:buChar char="•"/>
            </a:pPr>
            <a:r>
              <a:rPr lang="en-US" sz="1400" dirty="0">
                <a:solidFill>
                  <a:srgbClr val="8B94A3"/>
                </a:solidFill>
                <a:latin typeface="Calibri" pitchFamily="34" charset="0"/>
                <a:ea typeface="Calibri" pitchFamily="34" charset="-122"/>
                <a:cs typeface="Calibri" pitchFamily="34" charset="-120"/>
              </a:rPr>
              <a:t>Incrementa la probabilidad de sobrevivencia en entornos con distribución heterogénea de recursos.</a:t>
            </a:r>
            <a:endParaRPr lang="en-US" sz="1400" dirty="0"/>
          </a:p>
          <a:p>
            <a:pPr marL="342900" indent="-342900">
              <a:spcAft>
                <a:spcPts val="600"/>
              </a:spcAft>
              <a:buSzPct val="100000"/>
              <a:buChar char="•"/>
            </a:pPr>
            <a:r>
              <a:rPr lang="en-US" sz="1400" b="1" dirty="0">
                <a:solidFill>
                  <a:srgbClr val="D1D5DB"/>
                </a:solidFill>
                <a:latin typeface="Calibri" pitchFamily="34" charset="0"/>
                <a:ea typeface="Calibri" pitchFamily="34" charset="-122"/>
                <a:cs typeface="Calibri" pitchFamily="34" charset="-120"/>
              </a:rPr>
              <a:t>Evolución:</a:t>
            </a:r>
            <a:endParaRPr lang="en-US" sz="1400" dirty="0"/>
          </a:p>
          <a:p>
            <a:pPr marL="342900" indent="-342900">
              <a:spcAft>
                <a:spcPts val="600"/>
              </a:spcAft>
              <a:buSzPct val="100000"/>
              <a:buChar char="•"/>
            </a:pPr>
            <a:r>
              <a:rPr lang="en-US" sz="1400" dirty="0">
                <a:solidFill>
                  <a:srgbClr val="8B94A3"/>
                </a:solidFill>
                <a:latin typeface="Calibri" pitchFamily="34" charset="0"/>
                <a:ea typeface="Calibri" pitchFamily="34" charset="-122"/>
                <a:cs typeface="Calibri" pitchFamily="34" charset="-120"/>
              </a:rPr>
              <a:t>Selección natural favorecería organismos con esta capacidad en ancestros primitivos.</a:t>
            </a:r>
            <a:endParaRPr lang="en-US" sz="1400" dirty="0"/>
          </a:p>
          <a:p>
            <a:pPr marL="342900" indent="-342900">
              <a:spcAft>
                <a:spcPts val="600"/>
              </a:spcAft>
              <a:buSzPct val="100000"/>
              <a:buChar char="•"/>
            </a:pPr>
            <a:r>
              <a:rPr lang="en-US" sz="1400" b="1" dirty="0">
                <a:solidFill>
                  <a:srgbClr val="5B8DB8"/>
                </a:solidFill>
                <a:latin typeface="Calibri" pitchFamily="34" charset="0"/>
                <a:ea typeface="Calibri" pitchFamily="34" charset="-122"/>
                <a:cs typeface="Calibri" pitchFamily="34" charset="-120"/>
              </a:rPr>
              <a:t>Estas cuatro respuestas no compiten; cada una es completa en su nivel.</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31A27"/>
          </a:solidFill>
          <a:ln w="12700">
            <a:solidFill>
              <a:srgbClr val="131A27"/>
            </a:solidFill>
            <a:prstDash val="solid"/>
          </a:ln>
        </p:spPr>
      </p:sp>
      <p:sp>
        <p:nvSpPr>
          <p:cNvPr id="3" name="Text 1"/>
          <p:cNvSpPr/>
          <p:nvPr/>
        </p:nvSpPr>
        <p:spPr>
          <a:xfrm>
            <a:off x="411480" y="73152"/>
            <a:ext cx="8503920" cy="76809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El Error que Tinbergen Quería Prevenir</a:t>
            </a:r>
            <a:endParaRPr lang="en-US" sz="2200" dirty="0"/>
          </a:p>
        </p:txBody>
      </p:sp>
      <p:sp>
        <p:nvSpPr>
          <p:cNvPr id="4" name="Text 2"/>
          <p:cNvSpPr/>
          <p:nvPr/>
        </p:nvSpPr>
        <p:spPr>
          <a:xfrm>
            <a:off x="411480" y="1051560"/>
            <a:ext cx="8321040" cy="3840480"/>
          </a:xfrm>
          <a:prstGeom prst="rect">
            <a:avLst/>
          </a:prstGeom>
          <a:noFill/>
          <a:ln/>
        </p:spPr>
        <p:txBody>
          <a:bodyPr wrap="square" rtlCol="0" anchor="t"/>
          <a:lstStyle/>
          <a:p>
            <a:pPr marL="342900" indent="-342900">
              <a:spcAft>
                <a:spcPts val="600"/>
              </a:spcAft>
              <a:buSzPct val="100000"/>
              <a:buChar char="•"/>
            </a:pPr>
            <a:r>
              <a:rPr lang="en-US" sz="1600" dirty="0">
                <a:solidFill>
                  <a:srgbClr val="D1D5DB"/>
                </a:solidFill>
                <a:latin typeface="Calibri" pitchFamily="34" charset="0"/>
                <a:ea typeface="Calibri" pitchFamily="34" charset="-122"/>
                <a:cs typeface="Calibri" pitchFamily="34" charset="-120"/>
              </a:rPr>
              <a:t>Tratar las cuatro preguntas como si fueran la misma.</a:t>
            </a:r>
            <a:endParaRPr lang="en-US" sz="1600" dirty="0"/>
          </a:p>
          <a:p>
            <a:pPr marL="342900" indent="-342900">
              <a:spcAft>
                <a:spcPts val="600"/>
              </a:spcAft>
              <a:buSzPct val="100000"/>
              <a:buChar char="•"/>
            </a:pPr>
            <a:r>
              <a:rPr lang="en-US" sz="1600" dirty="0">
                <a:solidFill>
                  <a:srgbClr val="D1D5DB"/>
                </a:solidFill>
                <a:latin typeface="Calibri" pitchFamily="34" charset="0"/>
                <a:ea typeface="Calibri" pitchFamily="34" charset="-122"/>
                <a:cs typeface="Calibri" pitchFamily="34" charset="-120"/>
              </a:rPr>
              <a:t>Ejemplos del error:</a:t>
            </a:r>
            <a:endParaRPr lang="en-US" sz="1600" dirty="0"/>
          </a:p>
          <a:p>
            <a:pPr lvl="1" marL="457200" indent="-228600">
              <a:spcAft>
                <a:spcPts val="400"/>
              </a:spcAft>
              <a:buSzPct val="100000"/>
              <a:buChar char="•"/>
            </a:pPr>
            <a:r>
              <a:rPr lang="en-US" sz="1500" dirty="0">
                <a:solidFill>
                  <a:srgbClr val="8B94A3"/>
                </a:solidFill>
                <a:latin typeface="Calibri" pitchFamily="34" charset="0"/>
                <a:ea typeface="Calibri" pitchFamily="34" charset="-122"/>
                <a:cs typeface="Calibri" pitchFamily="34" charset="-120"/>
              </a:rPr>
              <a:t>Decir que las bacterias se mueven hacia los nutrientes 'para sobrevivir' (función) no dice nada sobre el mecanismo molecular</a:t>
            </a:r>
            <a:endParaRPr lang="en-US" sz="1600" dirty="0"/>
          </a:p>
          <a:p>
            <a:pPr lvl="1" marL="457200" indent="-228600">
              <a:spcAft>
                <a:spcPts val="400"/>
              </a:spcAft>
              <a:buSzPct val="100000"/>
              <a:buChar char="•"/>
            </a:pPr>
            <a:r>
              <a:rPr lang="en-US" sz="1500" dirty="0">
                <a:solidFill>
                  <a:srgbClr val="8B94A3"/>
                </a:solidFill>
                <a:latin typeface="Calibri" pitchFamily="34" charset="0"/>
                <a:ea typeface="Calibri" pitchFamily="34" charset="-122"/>
                <a:cs typeface="Calibri" pitchFamily="34" charset="-120"/>
              </a:rPr>
              <a:t>Describir los receptores de quimiotaxis (mecanismo) no explica por qué ese mecanismo evolucionó</a:t>
            </a:r>
            <a:endParaRPr lang="en-US" sz="1600" dirty="0"/>
          </a:p>
          <a:p>
            <a:pPr lvl="1" marL="457200" indent="-228600">
              <a:spcAft>
                <a:spcPts val="400"/>
              </a:spcAft>
              <a:buSzPct val="100000"/>
              <a:buChar char="•"/>
            </a:pPr>
            <a:r>
              <a:rPr lang="en-US" sz="1500" dirty="0">
                <a:solidFill>
                  <a:srgbClr val="8B94A3"/>
                </a:solidFill>
                <a:latin typeface="Calibri" pitchFamily="34" charset="0"/>
                <a:ea typeface="Calibri" pitchFamily="34" charset="-122"/>
                <a:cs typeface="Calibri" pitchFamily="34" charset="-120"/>
              </a:rPr>
              <a:t>Confundir los niveles genera debates estériles: los investigadores no están en desacuerdo sobre los hechos, sino hablando sobre preguntas diferentes</a:t>
            </a:r>
            <a:endParaRPr lang="en-US" sz="1600" dirty="0"/>
          </a:p>
          <a:p>
            <a:pPr marL="342900" indent="-342900">
              <a:spcAft>
                <a:spcPts val="600"/>
              </a:spcAft>
              <a:buSzPct val="100000"/>
              <a:buChar char="•"/>
            </a:pPr>
            <a:r>
              <a:rPr lang="en-US" sz="1600" b="1" dirty="0">
                <a:solidFill>
                  <a:srgbClr val="5B8DB8"/>
                </a:solidFill>
                <a:latin typeface="Calibri" pitchFamily="34" charset="0"/>
                <a:ea typeface="Calibri" pitchFamily="34" charset="-122"/>
                <a:cs typeface="Calibri" pitchFamily="34" charset="-120"/>
              </a:rPr>
              <a:t>Regla práctica: cuando dos investigadores parecen en desacuerdo sobre una explicación, pregúntate primero si están respondiendo la misma pregunta de Tinbergen.</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31A27"/>
          </a:solidFill>
          <a:ln w="12700">
            <a:solidFill>
              <a:srgbClr val="131A27"/>
            </a:solidFill>
            <a:prstDash val="solid"/>
          </a:ln>
        </p:spPr>
      </p:sp>
      <p:sp>
        <p:nvSpPr>
          <p:cNvPr id="3" name="Text 1"/>
          <p:cNvSpPr/>
          <p:nvPr/>
        </p:nvSpPr>
        <p:spPr>
          <a:xfrm>
            <a:off x="411480" y="73152"/>
            <a:ext cx="8503920" cy="76809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Los Tres Niveles de Marr (sistemas de procesamiento de información)</a:t>
            </a:r>
            <a:endParaRPr lang="en-US" sz="2200" dirty="0"/>
          </a:p>
        </p:txBody>
      </p:sp>
      <p:sp>
        <p:nvSpPr>
          <p:cNvPr id="4" name="Text 2"/>
          <p:cNvSpPr/>
          <p:nvPr/>
        </p:nvSpPr>
        <p:spPr>
          <a:xfrm>
            <a:off x="411480" y="1005840"/>
            <a:ext cx="8321040" cy="3886200"/>
          </a:xfrm>
          <a:prstGeom prst="rect">
            <a:avLst/>
          </a:prstGeom>
          <a:noFill/>
          <a:ln/>
        </p:spPr>
        <p:txBody>
          <a:bodyPr wrap="square" rtlCol="0" anchor="t"/>
          <a:lstStyle/>
          <a:p>
            <a:pPr marL="342900" indent="-342900">
              <a:spcAft>
                <a:spcPts val="600"/>
              </a:spcAft>
              <a:buSzPct val="100000"/>
              <a:buChar char="•"/>
            </a:pPr>
            <a:r>
              <a:rPr lang="en-US" sz="1500" b="1" dirty="0">
                <a:solidFill>
                  <a:srgbClr val="FFFFFF"/>
                </a:solidFill>
                <a:latin typeface="Calibri" pitchFamily="34" charset="0"/>
                <a:ea typeface="Calibri" pitchFamily="34" charset="-122"/>
                <a:cs typeface="Calibri" pitchFamily="34" charset="-120"/>
              </a:rPr>
              <a:t>Nivel computacional</a:t>
            </a:r>
            <a:endParaRPr lang="en-US" sz="1500" dirty="0"/>
          </a:p>
          <a:p>
            <a:pPr marL="342900" indent="-342900">
              <a:spcAft>
                <a:spcPts val="600"/>
              </a:spcAft>
              <a:buSzPct val="100000"/>
              <a:buChar char="•"/>
            </a:pPr>
            <a:r>
              <a:rPr lang="en-US" sz="1500" dirty="0">
                <a:solidFill>
                  <a:srgbClr val="8B94A3"/>
                </a:solidFill>
                <a:latin typeface="Calibri" pitchFamily="34" charset="0"/>
                <a:ea typeface="Calibri" pitchFamily="34" charset="-122"/>
                <a:cs typeface="Calibri" pitchFamily="34" charset="-120"/>
              </a:rPr>
              <a:t>¿Qué computa el sistema y por qué? Define el problema en términos abstractos sin comprometerse con cómo se resuelve.</a:t>
            </a:r>
            <a:endParaRPr lang="en-US" sz="1500" dirty="0"/>
          </a:p>
          <a:p>
            <a:pPr marL="342900" indent="-342900">
              <a:spcAft>
                <a:spcPts val="600"/>
              </a:spcAft>
              <a:buSzPct val="100000"/>
              <a:buChar char="•"/>
            </a:pPr>
            <a:r>
              <a:rPr lang="en-US" sz="1500" b="1" dirty="0">
                <a:solidFill>
                  <a:srgbClr val="FFFFFF"/>
                </a:solidFill>
                <a:latin typeface="Calibri" pitchFamily="34" charset="0"/>
                <a:ea typeface="Calibri" pitchFamily="34" charset="-122"/>
                <a:cs typeface="Calibri" pitchFamily="34" charset="-120"/>
              </a:rPr>
              <a:t>Nivel algorítmico</a:t>
            </a:r>
            <a:endParaRPr lang="en-US" sz="1500" dirty="0"/>
          </a:p>
          <a:p>
            <a:pPr marL="342900" indent="-342900">
              <a:spcAft>
                <a:spcPts val="600"/>
              </a:spcAft>
              <a:buSzPct val="100000"/>
              <a:buChar char="•"/>
            </a:pPr>
            <a:r>
              <a:rPr lang="en-US" sz="1500" dirty="0">
                <a:solidFill>
                  <a:srgbClr val="8B94A3"/>
                </a:solidFill>
                <a:latin typeface="Calibri" pitchFamily="34" charset="0"/>
                <a:ea typeface="Calibri" pitchFamily="34" charset="-122"/>
                <a:cs typeface="Calibri" pitchFamily="34" charset="-120"/>
              </a:rPr>
              <a:t>¿Cómo lo computa? Especifica los procedimientos y representaciones mediante los cuales el sistema realiza esa computación.</a:t>
            </a:r>
            <a:endParaRPr lang="en-US" sz="1500" dirty="0"/>
          </a:p>
          <a:p>
            <a:pPr marL="342900" indent="-342900">
              <a:spcAft>
                <a:spcPts val="600"/>
              </a:spcAft>
              <a:buSzPct val="100000"/>
              <a:buChar char="•"/>
            </a:pPr>
            <a:r>
              <a:rPr lang="en-US" sz="1500" b="1" dirty="0">
                <a:solidFill>
                  <a:srgbClr val="FFFFFF"/>
                </a:solidFill>
                <a:latin typeface="Calibri" pitchFamily="34" charset="0"/>
                <a:ea typeface="Calibri" pitchFamily="34" charset="-122"/>
                <a:cs typeface="Calibri" pitchFamily="34" charset="-120"/>
              </a:rPr>
              <a:t>Nivel de implementación</a:t>
            </a:r>
            <a:endParaRPr lang="en-US" sz="1500" dirty="0"/>
          </a:p>
          <a:p>
            <a:pPr marL="342900" indent="-342900">
              <a:spcAft>
                <a:spcPts val="600"/>
              </a:spcAft>
              <a:buSzPct val="100000"/>
              <a:buChar char="•"/>
            </a:pPr>
            <a:r>
              <a:rPr lang="en-US" sz="1500" dirty="0">
                <a:solidFill>
                  <a:srgbClr val="8B94A3"/>
                </a:solidFill>
                <a:latin typeface="Calibri" pitchFamily="34" charset="0"/>
                <a:ea typeface="Calibri" pitchFamily="34" charset="-122"/>
                <a:cs typeface="Calibri" pitchFamily="34" charset="-120"/>
              </a:rPr>
              <a:t>¿En qué sustrato físico ocurre esa computación?</a:t>
            </a:r>
            <a:endParaRPr lang="en-US" sz="1500" dirty="0"/>
          </a:p>
          <a:p>
            <a:pPr marL="342900" indent="-342900">
              <a:spcAft>
                <a:spcPts val="600"/>
              </a:spcAft>
              <a:buSzPct val="100000"/>
              <a:buChar char="•"/>
            </a:pPr>
            <a:r>
              <a:rPr lang="en-US" sz="1500" i="1" dirty="0">
                <a:solidFill>
                  <a:srgbClr val="5B8DB8"/>
                </a:solidFill>
                <a:latin typeface="Calibri" pitchFamily="34" charset="0"/>
                <a:ea typeface="Calibri" pitchFamily="34" charset="-122"/>
                <a:cs typeface="Calibri" pitchFamily="34" charset="-120"/>
              </a:rPr>
              <a:t>En este curso: niveles computacional y algorítmico en Semestre I · Implementación neural en Semestre II.</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31A27"/>
          </a:solidFill>
          <a:ln w="12700">
            <a:solidFill>
              <a:srgbClr val="131A27"/>
            </a:solidFill>
            <a:prstDash val="solid"/>
          </a:ln>
        </p:spPr>
      </p:sp>
      <p:sp>
        <p:nvSpPr>
          <p:cNvPr id="3" name="Text 1"/>
          <p:cNvSpPr/>
          <p:nvPr/>
        </p:nvSpPr>
        <p:spPr>
          <a:xfrm>
            <a:off x="411480" y="73152"/>
            <a:ext cx="8503920" cy="76809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El Marco de Killeen (vocabulario del curso)</a:t>
            </a:r>
            <a:endParaRPr lang="en-US" sz="2200" dirty="0"/>
          </a:p>
        </p:txBody>
      </p:sp>
      <p:sp>
        <p:nvSpPr>
          <p:cNvPr id="4" name="Text 2"/>
          <p:cNvSpPr/>
          <p:nvPr/>
        </p:nvSpPr>
        <p:spPr>
          <a:xfrm>
            <a:off x="411480" y="1051560"/>
            <a:ext cx="8321040" cy="3840480"/>
          </a:xfrm>
          <a:prstGeom prst="rect">
            <a:avLst/>
          </a:prstGeom>
          <a:noFill/>
          <a:ln/>
        </p:spPr>
        <p:txBody>
          <a:bodyPr wrap="square" rtlCol="0" anchor="t"/>
          <a:lstStyle/>
          <a:p>
            <a:pPr marL="342900" indent="-342900">
              <a:spcAft>
                <a:spcPts val="600"/>
              </a:spcAft>
              <a:buSzPct val="100000"/>
              <a:buChar char="•"/>
            </a:pPr>
            <a:r>
              <a:rPr lang="en-US" sz="1600" dirty="0">
                <a:solidFill>
                  <a:srgbClr val="D1D5DB"/>
                </a:solidFill>
                <a:latin typeface="Calibri" pitchFamily="34" charset="0"/>
                <a:ea typeface="Calibri" pitchFamily="34" charset="-122"/>
                <a:cs typeface="Calibri" pitchFamily="34" charset="-120"/>
              </a:rPr>
              <a:t>Peter Killeen propone un vocabulario derivado de la distinción aristotélica entre tipos de causas, adaptado para las ciencias del comportamiento.</a:t>
            </a:r>
            <a:endParaRPr lang="en-US" sz="1600" dirty="0"/>
          </a:p>
          <a:p>
            <a:pPr marL="342900" indent="-342900">
              <a:spcAft>
                <a:spcPts val="600"/>
              </a:spcAft>
              <a:buSzPct val="100000"/>
              <a:buChar char="•"/>
            </a:pPr>
            <a:r>
              <a:rPr lang="en-US" sz="1600" dirty="0">
                <a:solidFill>
                  <a:srgbClr val="D1D5DB"/>
                </a:solidFill>
                <a:latin typeface="Calibri" pitchFamily="34" charset="0"/>
                <a:ea typeface="Calibri" pitchFamily="34" charset="-122"/>
                <a:cs typeface="Calibri" pitchFamily="34" charset="-120"/>
              </a:rPr>
              <a:t>Cuatro preguntas:</a:t>
            </a:r>
            <a:endParaRPr lang="en-US" sz="1600" dirty="0"/>
          </a:p>
          <a:p>
            <a:pPr lvl="1" marL="457200" indent="-228600">
              <a:spcAft>
                <a:spcPts val="400"/>
              </a:spcAft>
              <a:buSzPct val="100000"/>
              <a:buChar char="•"/>
            </a:pPr>
            <a:r>
              <a:rPr lang="en-US" sz="1500" dirty="0">
                <a:solidFill>
                  <a:srgbClr val="8B94A3"/>
                </a:solidFill>
                <a:latin typeface="Calibri" pitchFamily="34" charset="0"/>
                <a:ea typeface="Calibri" pitchFamily="34" charset="-122"/>
                <a:cs typeface="Calibri" pitchFamily="34" charset="-120"/>
              </a:rPr>
              <a:t>Subyace: ¿qué sustrato físico lo soporta? → corresponde al nivel de implementación</a:t>
            </a:r>
            <a:endParaRPr lang="en-US" sz="1600" dirty="0"/>
          </a:p>
          <a:p>
            <a:pPr lvl="1" marL="457200" indent="-228600">
              <a:spcAft>
                <a:spcPts val="400"/>
              </a:spcAft>
              <a:buSzPct val="100000"/>
              <a:buChar char="•"/>
            </a:pPr>
            <a:r>
              <a:rPr lang="en-US" sz="1500" dirty="0">
                <a:solidFill>
                  <a:srgbClr val="8B94A3"/>
                </a:solidFill>
                <a:latin typeface="Calibri" pitchFamily="34" charset="0"/>
                <a:ea typeface="Calibri" pitchFamily="34" charset="-122"/>
                <a:cs typeface="Calibri" pitchFamily="34" charset="-120"/>
              </a:rPr>
              <a:t>Induce: ¿qué variables lo producen? → nivel algorítmico / mecanismo próximo</a:t>
            </a:r>
            <a:endParaRPr lang="en-US" sz="1600" dirty="0"/>
          </a:p>
          <a:p>
            <a:pPr lvl="1" marL="457200" indent="-228600">
              <a:spcAft>
                <a:spcPts val="400"/>
              </a:spcAft>
              <a:buSzPct val="100000"/>
              <a:buChar char="•"/>
            </a:pPr>
            <a:r>
              <a:rPr lang="en-US" sz="1500" dirty="0">
                <a:solidFill>
                  <a:srgbClr val="8B94A3"/>
                </a:solidFill>
                <a:latin typeface="Calibri" pitchFamily="34" charset="0"/>
                <a:ea typeface="Calibri" pitchFamily="34" charset="-122"/>
                <a:cs typeface="Calibri" pitchFamily="34" charset="-120"/>
              </a:rPr>
              <a:t>Logra: ¿qué función adaptativa cumple? → función adaptativa (Tinbergen)</a:t>
            </a:r>
            <a:endParaRPr lang="en-US" sz="1600" dirty="0"/>
          </a:p>
          <a:p>
            <a:pPr lvl="1" marL="457200" indent="-228600">
              <a:spcAft>
                <a:spcPts val="400"/>
              </a:spcAft>
              <a:buSzPct val="100000"/>
              <a:buChar char="•"/>
            </a:pPr>
            <a:r>
              <a:rPr lang="en-US" sz="1500" dirty="0">
                <a:solidFill>
                  <a:srgbClr val="8B94A3"/>
                </a:solidFill>
                <a:latin typeface="Calibri" pitchFamily="34" charset="0"/>
                <a:ea typeface="Calibri" pitchFamily="34" charset="-122"/>
                <a:cs typeface="Calibri" pitchFamily="34" charset="-120"/>
              </a:rPr>
              <a:t>Representa: ¿qué estructura formal lo describe? → nivel computacional (Marr)</a:t>
            </a:r>
            <a:endParaRPr lang="en-US" sz="1600" dirty="0"/>
          </a:p>
          <a:p>
            <a:pPr marL="342900" indent="-342900">
              <a:spcAft>
                <a:spcPts val="600"/>
              </a:spcAft>
              <a:buSzPct val="100000"/>
              <a:buChar char="•"/>
            </a:pPr>
            <a:r>
              <a:rPr lang="en-US" sz="1600" b="1" dirty="0">
                <a:solidFill>
                  <a:srgbClr val="5B8DB8"/>
                </a:solidFill>
                <a:latin typeface="Calibri" pitchFamily="34" charset="0"/>
                <a:ea typeface="Calibri" pitchFamily="34" charset="-122"/>
                <a:cs typeface="Calibri" pitchFamily="34" charset="-120"/>
              </a:rPr>
              <a:t>Este es el vocabulario que encontrarás en el programa oficial del curso y en parte de la literatura.</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5B8DB8"/>
          </a:solidFill>
          <a:ln w="12700">
            <a:solidFill>
              <a:srgbClr val="5B8DB8"/>
            </a:solidFill>
            <a:prstDash val="solid"/>
          </a:ln>
        </p:spPr>
      </p:sp>
      <p:sp>
        <p:nvSpPr>
          <p:cNvPr id="3" name="Text 1"/>
          <p:cNvSpPr/>
          <p:nvPr/>
        </p:nvSpPr>
        <p:spPr>
          <a:xfrm>
            <a:off x="457200" y="1554480"/>
            <a:ext cx="8412480" cy="128016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V. Van Fraassen y los Modelos de Datos</a:t>
            </a:r>
            <a:endParaRPr lang="en-US" sz="3400" dirty="0"/>
          </a:p>
        </p:txBody>
      </p:sp>
      <p:sp>
        <p:nvSpPr>
          <p:cNvPr id="4" name="Text 2"/>
          <p:cNvSpPr/>
          <p:nvPr/>
        </p:nvSpPr>
        <p:spPr>
          <a:xfrm>
            <a:off x="457200" y="3017520"/>
            <a:ext cx="8412480" cy="640080"/>
          </a:xfrm>
          <a:prstGeom prst="rect">
            <a:avLst/>
          </a:prstGeom>
          <a:noFill/>
          <a:ln/>
        </p:spPr>
        <p:txBody>
          <a:bodyPr wrap="square" rtlCol="0" anchor="t"/>
          <a:lstStyle/>
          <a:p>
            <a:pPr indent="0" marL="0">
              <a:buNone/>
            </a:pPr>
            <a:r>
              <a:rPr lang="en-US" sz="1600" i="1" dirty="0">
                <a:solidFill>
                  <a:srgbClr val="8B94A3"/>
                </a:solidFill>
                <a:latin typeface="Calibri" pitchFamily="34" charset="0"/>
                <a:ea typeface="Calibri" pitchFamily="34" charset="-122"/>
                <a:cs typeface="Calibri" pitchFamily="34" charset="-120"/>
              </a:rPr>
              <a:t>La explicación como actividad pragmática</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31A27"/>
          </a:solidFill>
          <a:ln w="12700">
            <a:solidFill>
              <a:srgbClr val="131A27"/>
            </a:solidFill>
            <a:prstDash val="solid"/>
          </a:ln>
        </p:spPr>
      </p:sp>
      <p:sp>
        <p:nvSpPr>
          <p:cNvPr id="3" name="Text 1"/>
          <p:cNvSpPr/>
          <p:nvPr/>
        </p:nvSpPr>
        <p:spPr>
          <a:xfrm>
            <a:off x="411480" y="73152"/>
            <a:ext cx="8503920" cy="76809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Van Fraassen: Explicación como Respuesta a Preguntas</a:t>
            </a:r>
            <a:endParaRPr lang="en-US" sz="2200" dirty="0"/>
          </a:p>
        </p:txBody>
      </p:sp>
      <p:sp>
        <p:nvSpPr>
          <p:cNvPr id="4" name="Text 2"/>
          <p:cNvSpPr/>
          <p:nvPr/>
        </p:nvSpPr>
        <p:spPr>
          <a:xfrm>
            <a:off x="411480" y="1051560"/>
            <a:ext cx="8321040" cy="3840480"/>
          </a:xfrm>
          <a:prstGeom prst="rect">
            <a:avLst/>
          </a:prstGeom>
          <a:noFill/>
          <a:ln/>
        </p:spPr>
        <p:txBody>
          <a:bodyPr wrap="square" rtlCol="0" anchor="t"/>
          <a:lstStyle/>
          <a:p>
            <a:pPr marL="342900" indent="-342900">
              <a:spcAft>
                <a:spcPts val="600"/>
              </a:spcAft>
              <a:buSzPct val="100000"/>
              <a:buChar char="•"/>
            </a:pPr>
            <a:r>
              <a:rPr lang="en-US" sz="1600" b="1" dirty="0">
                <a:solidFill>
                  <a:srgbClr val="FFFFFF"/>
                </a:solidFill>
                <a:latin typeface="Calibri" pitchFamily="34" charset="0"/>
                <a:ea typeface="Calibri" pitchFamily="34" charset="-122"/>
                <a:cs typeface="Calibri" pitchFamily="34" charset="-120"/>
              </a:rPr>
              <a:t>Observación central: la explicación no es una relación lógica abstracta sino una actividad pragmática.</a:t>
            </a:r>
            <a:endParaRPr lang="en-US" sz="1600" dirty="0"/>
          </a:p>
          <a:p>
            <a:pPr marL="342900" indent="-342900">
              <a:spcAft>
                <a:spcPts val="600"/>
              </a:spcAft>
              <a:buSzPct val="100000"/>
              <a:buChar char="•"/>
            </a:pPr>
            <a:r>
              <a:rPr lang="en-US" sz="1600" dirty="0">
                <a:solidFill>
                  <a:srgbClr val="D1D5DB"/>
                </a:solidFill>
                <a:latin typeface="Calibri" pitchFamily="34" charset="0"/>
                <a:ea typeface="Calibri" pitchFamily="34" charset="-122"/>
                <a:cs typeface="Calibri" pitchFamily="34" charset="-120"/>
              </a:rPr>
              <a:t>Explicar es responder una pregunta de '¿por qué?' en un contexto dado.</a:t>
            </a:r>
            <a:endParaRPr lang="en-US" sz="1600" dirty="0"/>
          </a:p>
          <a:p>
            <a:pPr marL="342900" indent="-342900">
              <a:spcAft>
                <a:spcPts val="600"/>
              </a:spcAft>
              <a:buSzPct val="100000"/>
              <a:buChar char="•"/>
            </a:pPr>
            <a:r>
              <a:rPr lang="en-US" sz="1600" dirty="0">
                <a:solidFill>
                  <a:srgbClr val="D1D5DB"/>
                </a:solidFill>
                <a:latin typeface="Calibri" pitchFamily="34" charset="0"/>
                <a:ea typeface="Calibri" pitchFamily="34" charset="-122"/>
                <a:cs typeface="Calibri" pitchFamily="34" charset="-120"/>
              </a:rPr>
              <a:t>Estructura de las preguntas ¿por qué?:</a:t>
            </a:r>
            <a:endParaRPr lang="en-US" sz="1600" dirty="0"/>
          </a:p>
          <a:p>
            <a:pPr lvl="1" marL="457200" indent="-228600">
              <a:spcAft>
                <a:spcPts val="400"/>
              </a:spcAft>
              <a:buSzPct val="100000"/>
              <a:buChar char="•"/>
            </a:pPr>
            <a:r>
              <a:rPr lang="en-US" sz="1500" dirty="0">
                <a:solidFill>
                  <a:srgbClr val="8B94A3"/>
                </a:solidFill>
                <a:latin typeface="Calibri" pitchFamily="34" charset="0"/>
                <a:ea typeface="Calibri" pitchFamily="34" charset="-122"/>
                <a:cs typeface="Calibri" pitchFamily="34" charset="-120"/>
              </a:rPr>
              <a:t>No preguntamos '¿por qué P y no cualquier otra cosa concebible?'</a:t>
            </a:r>
            <a:endParaRPr lang="en-US" sz="1600" dirty="0"/>
          </a:p>
          <a:p>
            <a:pPr lvl="1" marL="457200" indent="-228600">
              <a:spcAft>
                <a:spcPts val="400"/>
              </a:spcAft>
              <a:buSzPct val="100000"/>
              <a:buChar char="•"/>
            </a:pPr>
            <a:r>
              <a:rPr lang="en-US" sz="1500" dirty="0">
                <a:solidFill>
                  <a:srgbClr val="8B94A3"/>
                </a:solidFill>
                <a:latin typeface="Calibri" pitchFamily="34" charset="0"/>
                <a:ea typeface="Calibri" pitchFamily="34" charset="-122"/>
                <a:cs typeface="Calibri" pitchFamily="34" charset="-120"/>
              </a:rPr>
              <a:t>Preguntamos '¿por qué P en lugar de Q?'</a:t>
            </a:r>
            <a:endParaRPr lang="en-US" sz="1600" dirty="0"/>
          </a:p>
          <a:p>
            <a:pPr lvl="1" marL="457200" indent="-228600">
              <a:spcAft>
                <a:spcPts val="400"/>
              </a:spcAft>
              <a:buSzPct val="100000"/>
              <a:buChar char="•"/>
            </a:pPr>
            <a:r>
              <a:rPr lang="en-US" sz="1500" dirty="0">
                <a:solidFill>
                  <a:srgbClr val="8B94A3"/>
                </a:solidFill>
                <a:latin typeface="Calibri" pitchFamily="34" charset="0"/>
                <a:ea typeface="Calibri" pitchFamily="34" charset="-122"/>
                <a:cs typeface="Calibri" pitchFamily="34" charset="-120"/>
              </a:rPr>
              <a:t>Q es el contraste implícito que depende del contexto</a:t>
            </a:r>
            <a:endParaRPr lang="en-US" sz="1600" dirty="0"/>
          </a:p>
          <a:p>
            <a:pPr marL="342900" indent="-342900">
              <a:spcAft>
                <a:spcPts val="600"/>
              </a:spcAft>
              <a:buSzPct val="100000"/>
              <a:buChar char="•"/>
            </a:pPr>
            <a:r>
              <a:rPr lang="en-US" sz="1600" i="1" dirty="0">
                <a:solidFill>
                  <a:srgbClr val="8B94A3"/>
                </a:solidFill>
                <a:latin typeface="Calibri" pitchFamily="34" charset="0"/>
                <a:ea typeface="Calibri" pitchFamily="34" charset="-122"/>
                <a:cs typeface="Calibri" pitchFamily="34" charset="-120"/>
              </a:rPr>
              <a:t>Consecuencia: la misma información puede ser explicativa en un contexto e irrelevante en otro.</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31A27"/>
          </a:solidFill>
          <a:ln w="12700">
            <a:solidFill>
              <a:srgbClr val="131A27"/>
            </a:solidFill>
            <a:prstDash val="solid"/>
          </a:ln>
        </p:spPr>
      </p:sp>
      <p:sp>
        <p:nvSpPr>
          <p:cNvPr id="3" name="Text 1"/>
          <p:cNvSpPr/>
          <p:nvPr/>
        </p:nvSpPr>
        <p:spPr>
          <a:xfrm>
            <a:off x="411480" y="73152"/>
            <a:ext cx="8503920" cy="76809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Contrastes Implícitos: Ejemplo</a:t>
            </a:r>
            <a:endParaRPr lang="en-US" sz="2200" dirty="0"/>
          </a:p>
        </p:txBody>
      </p:sp>
      <p:sp>
        <p:nvSpPr>
          <p:cNvPr id="4" name="Text 2"/>
          <p:cNvSpPr/>
          <p:nvPr/>
        </p:nvSpPr>
        <p:spPr>
          <a:xfrm>
            <a:off x="411480" y="1051560"/>
            <a:ext cx="8321040" cy="3840480"/>
          </a:xfrm>
          <a:prstGeom prst="rect">
            <a:avLst/>
          </a:prstGeom>
          <a:noFill/>
          <a:ln/>
        </p:spPr>
        <p:txBody>
          <a:bodyPr wrap="square" rtlCol="0" anchor="t"/>
          <a:lstStyle/>
          <a:p>
            <a:pPr marL="342900" indent="-342900">
              <a:spcAft>
                <a:spcPts val="600"/>
              </a:spcAft>
              <a:buSzPct val="100000"/>
              <a:buChar char="•"/>
            </a:pPr>
            <a:r>
              <a:rPr lang="en-US" sz="1400" b="1" dirty="0">
                <a:solidFill>
                  <a:srgbClr val="FFFFFF"/>
                </a:solidFill>
                <a:latin typeface="Calibri" pitchFamily="34" charset="0"/>
                <a:ea typeface="Calibri" pitchFamily="34" charset="-122"/>
                <a:cs typeface="Calibri" pitchFamily="34" charset="-120"/>
              </a:rPr>
              <a:t>Pregunta: '¿Por qué el niño tomó una manzana?'</a:t>
            </a:r>
            <a:endParaRPr lang="en-US" sz="1400" dirty="0"/>
          </a:p>
          <a:p>
            <a:pPr marL="342900" indent="-342900">
              <a:spcAft>
                <a:spcPts val="600"/>
              </a:spcAft>
              <a:buSzPct val="100000"/>
              <a:buChar char="•"/>
            </a:pPr>
            <a:r>
              <a:rPr lang="en-US" sz="1400" dirty="0">
                <a:solidFill>
                  <a:srgbClr val="D1D5DB"/>
                </a:solidFill>
                <a:latin typeface="Calibri" pitchFamily="34" charset="0"/>
                <a:ea typeface="Calibri" pitchFamily="34" charset="-122"/>
                <a:cs typeface="Calibri" pitchFamily="34" charset="-120"/>
              </a:rPr>
              <a:t>Contraste A: tomó / no tomó</a:t>
            </a:r>
            <a:endParaRPr lang="en-US" sz="1400" dirty="0"/>
          </a:p>
          <a:p>
            <a:pPr lvl="1" marL="457200" indent="-228600">
              <a:spcAft>
                <a:spcPts val="400"/>
              </a:spcAft>
              <a:buSzPct val="100000"/>
              <a:buChar char="•"/>
            </a:pPr>
            <a:r>
              <a:rPr lang="en-US" sz="1300" dirty="0">
                <a:solidFill>
                  <a:srgbClr val="8B94A3"/>
                </a:solidFill>
                <a:latin typeface="Calibri" pitchFamily="34" charset="0"/>
                <a:ea typeface="Calibri" pitchFamily="34" charset="-122"/>
                <a:cs typeface="Calibri" pitchFamily="34" charset="-120"/>
              </a:rPr>
              <a:t>Respuesta: tenía hambre</a:t>
            </a:r>
            <a:endParaRPr lang="en-US" sz="1400" dirty="0"/>
          </a:p>
          <a:p>
            <a:pPr marL="342900" indent="-342900">
              <a:spcAft>
                <a:spcPts val="600"/>
              </a:spcAft>
              <a:buSzPct val="100000"/>
              <a:buChar char="•"/>
            </a:pPr>
            <a:r>
              <a:rPr lang="en-US" sz="1400" dirty="0">
                <a:solidFill>
                  <a:srgbClr val="D1D5DB"/>
                </a:solidFill>
                <a:latin typeface="Calibri" pitchFamily="34" charset="0"/>
                <a:ea typeface="Calibri" pitchFamily="34" charset="-122"/>
                <a:cs typeface="Calibri" pitchFamily="34" charset="-120"/>
              </a:rPr>
              <a:t>Contraste B: manzana / naranja / plátano</a:t>
            </a:r>
            <a:endParaRPr lang="en-US" sz="1400" dirty="0"/>
          </a:p>
          <a:p>
            <a:pPr lvl="1" marL="457200" indent="-228600">
              <a:spcAft>
                <a:spcPts val="400"/>
              </a:spcAft>
              <a:buSzPct val="100000"/>
              <a:buChar char="•"/>
            </a:pPr>
            <a:r>
              <a:rPr lang="en-US" sz="1300" dirty="0">
                <a:solidFill>
                  <a:srgbClr val="8B94A3"/>
                </a:solidFill>
                <a:latin typeface="Calibri" pitchFamily="34" charset="0"/>
                <a:ea typeface="Calibri" pitchFamily="34" charset="-122"/>
                <a:cs typeface="Calibri" pitchFamily="34" charset="-120"/>
              </a:rPr>
              <a:t>Respuesta: prefiere las manzanas</a:t>
            </a:r>
            <a:endParaRPr lang="en-US" sz="1400" dirty="0"/>
          </a:p>
          <a:p>
            <a:pPr marL="342900" indent="-342900">
              <a:spcAft>
                <a:spcPts val="600"/>
              </a:spcAft>
              <a:buSzPct val="100000"/>
              <a:buChar char="•"/>
            </a:pPr>
            <a:r>
              <a:rPr lang="en-US" sz="1400" dirty="0">
                <a:solidFill>
                  <a:srgbClr val="D1D5DB"/>
                </a:solidFill>
                <a:latin typeface="Calibri" pitchFamily="34" charset="0"/>
                <a:ea typeface="Calibri" pitchFamily="34" charset="-122"/>
                <a:cs typeface="Calibri" pitchFamily="34" charset="-120"/>
              </a:rPr>
              <a:t>Contraste C: tomó / compró / pidió prestado</a:t>
            </a:r>
            <a:endParaRPr lang="en-US" sz="1400" dirty="0"/>
          </a:p>
          <a:p>
            <a:pPr lvl="1" marL="457200" indent="-228600">
              <a:spcAft>
                <a:spcPts val="400"/>
              </a:spcAft>
              <a:buSzPct val="100000"/>
              <a:buChar char="•"/>
            </a:pPr>
            <a:r>
              <a:rPr lang="en-US" sz="1300" dirty="0">
                <a:solidFill>
                  <a:srgbClr val="8B94A3"/>
                </a:solidFill>
                <a:latin typeface="Calibri" pitchFamily="34" charset="0"/>
                <a:ea typeface="Calibri" pitchFamily="34" charset="-122"/>
                <a:cs typeface="Calibri" pitchFamily="34" charset="-120"/>
              </a:rPr>
              <a:t>Respuesta: no tenía dinero</a:t>
            </a:r>
            <a:endParaRPr lang="en-US" sz="1400" dirty="0"/>
          </a:p>
          <a:p>
            <a:pPr marL="342900" indent="-342900">
              <a:spcAft>
                <a:spcPts val="600"/>
              </a:spcAft>
              <a:buSzPct val="100000"/>
              <a:buChar char="•"/>
            </a:pPr>
            <a:r>
              <a:rPr lang="en-US" sz="1400" b="1" dirty="0">
                <a:solidFill>
                  <a:srgbClr val="5B8DB8"/>
                </a:solidFill>
                <a:latin typeface="Calibri" pitchFamily="34" charset="0"/>
                <a:ea typeface="Calibri" pitchFamily="34" charset="-122"/>
                <a:cs typeface="Calibri" pitchFamily="34" charset="-120"/>
              </a:rPr>
              <a:t>Aplicación en psicología: cuando dos investigadores parecen en desacuerdo sobre qué 'explica' un fenómeno, con frecuencia están haciendo contrastes implícitos distintos.</a:t>
            </a:r>
            <a:endParaRPr lang="en-US" sz="1400" dirty="0"/>
          </a:p>
          <a:p>
            <a:pPr marL="342900" indent="-342900">
              <a:spcAft>
                <a:spcPts val="600"/>
              </a:spcAft>
              <a:buSzPct val="100000"/>
              <a:buChar char="•"/>
            </a:pPr>
            <a:r>
              <a:rPr lang="en-US" sz="1400" i="1" dirty="0">
                <a:solidFill>
                  <a:srgbClr val="8B94A3"/>
                </a:solidFill>
                <a:latin typeface="Calibri" pitchFamily="34" charset="0"/>
                <a:ea typeface="Calibri" pitchFamily="34" charset="-122"/>
                <a:cs typeface="Calibri" pitchFamily="34" charset="-120"/>
              </a:rPr>
              <a:t>La pregunta productiva: ¿qué contraste está haciendo cada uno, y es ese contraste legítimo dado el propósito de la investigación?</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31A27"/>
          </a:solidFill>
          <a:ln w="12700">
            <a:solidFill>
              <a:srgbClr val="131A27"/>
            </a:solidFill>
            <a:prstDash val="solid"/>
          </a:ln>
        </p:spPr>
      </p:sp>
      <p:sp>
        <p:nvSpPr>
          <p:cNvPr id="3" name="Text 1"/>
          <p:cNvSpPr/>
          <p:nvPr/>
        </p:nvSpPr>
        <p:spPr>
          <a:xfrm>
            <a:off x="411480" y="73152"/>
            <a:ext cx="8503920" cy="76809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Los Modelos de Datos (Patrick Suppes)</a:t>
            </a:r>
            <a:endParaRPr lang="en-US" sz="2200" dirty="0"/>
          </a:p>
        </p:txBody>
      </p:sp>
      <p:sp>
        <p:nvSpPr>
          <p:cNvPr id="4" name="Text 2"/>
          <p:cNvSpPr/>
          <p:nvPr/>
        </p:nvSpPr>
        <p:spPr>
          <a:xfrm>
            <a:off x="411480" y="1051560"/>
            <a:ext cx="8321040" cy="3840480"/>
          </a:xfrm>
          <a:prstGeom prst="rect">
            <a:avLst/>
          </a:prstGeom>
          <a:noFill/>
          <a:ln/>
        </p:spPr>
        <p:txBody>
          <a:bodyPr wrap="square" rtlCol="0" anchor="t"/>
          <a:lstStyle/>
          <a:p>
            <a:pPr marL="342900" indent="-342900">
              <a:spcAft>
                <a:spcPts val="600"/>
              </a:spcAft>
              <a:buSzPct val="100000"/>
              <a:buChar char="•"/>
            </a:pPr>
            <a:r>
              <a:rPr lang="en-US" sz="1400" dirty="0">
                <a:solidFill>
                  <a:srgbClr val="D1D5DB"/>
                </a:solidFill>
                <a:latin typeface="Calibri" pitchFamily="34" charset="0"/>
                <a:ea typeface="Calibri" pitchFamily="34" charset="-122"/>
                <a:cs typeface="Calibri" pitchFamily="34" charset="-120"/>
              </a:rPr>
              <a:t>El proceso científico no termina con la observación de un fenómeno ni comienza con la construcción de un modelo teórico.</a:t>
            </a:r>
            <a:endParaRPr lang="en-US" sz="1400" dirty="0"/>
          </a:p>
          <a:p>
            <a:pPr marL="342900" indent="-342900">
              <a:spcAft>
                <a:spcPts val="600"/>
              </a:spcAft>
              <a:buSzPct val="100000"/>
              <a:buChar char="•"/>
            </a:pPr>
            <a:r>
              <a:rPr lang="en-US" sz="1400" b="1" dirty="0">
                <a:solidFill>
                  <a:srgbClr val="D1D5DB"/>
                </a:solidFill>
                <a:latin typeface="Calibri" pitchFamily="34" charset="0"/>
                <a:ea typeface="Calibri" pitchFamily="34" charset="-122"/>
                <a:cs typeface="Calibri" pitchFamily="34" charset="-120"/>
              </a:rPr>
              <a:t>Entre ambos está el trabajo de organizar los datos empíricos de forma que sean interpretables.</a:t>
            </a:r>
            <a:endParaRPr lang="en-US" sz="1400" dirty="0"/>
          </a:p>
          <a:p>
            <a:pPr marL="342900" indent="-342900">
              <a:spcAft>
                <a:spcPts val="600"/>
              </a:spcAft>
              <a:buSzPct val="100000"/>
              <a:buChar char="•"/>
            </a:pPr>
            <a:r>
              <a:rPr lang="en-US" sz="1400" dirty="0">
                <a:solidFill>
                  <a:srgbClr val="D1D5DB"/>
                </a:solidFill>
                <a:latin typeface="Calibri" pitchFamily="34" charset="0"/>
                <a:ea typeface="Calibri" pitchFamily="34" charset="-122"/>
                <a:cs typeface="Calibri" pitchFamily="34" charset="-120"/>
              </a:rPr>
              <a:t>Patrick Suppes llamó a este paso la construcción de un modelo de datos: la transformación de registros crudos en una representación canónica del fenómeno.</a:t>
            </a:r>
            <a:endParaRPr lang="en-US" sz="1400" dirty="0"/>
          </a:p>
          <a:p>
            <a:pPr marL="342900" indent="-342900">
              <a:spcAft>
                <a:spcPts val="600"/>
              </a:spcAft>
              <a:buSzPct val="100000"/>
              <a:buChar char="•"/>
            </a:pPr>
            <a:r>
              <a:rPr lang="en-US" sz="1400" dirty="0">
                <a:solidFill>
                  <a:srgbClr val="D1D5DB"/>
                </a:solidFill>
                <a:latin typeface="Calibri" pitchFamily="34" charset="0"/>
                <a:ea typeface="Calibri" pitchFamily="34" charset="-122"/>
                <a:cs typeface="Calibri" pitchFamily="34" charset="-120"/>
              </a:rPr>
              <a:t>Los modelos de datos no son neutros:</a:t>
            </a:r>
            <a:endParaRPr lang="en-US" sz="1400" dirty="0"/>
          </a:p>
          <a:p>
            <a:pPr lvl="1" marL="457200" indent="-228600">
              <a:spcAft>
                <a:spcPts val="400"/>
              </a:spcAft>
              <a:buSzPct val="100000"/>
              <a:buChar char="•"/>
            </a:pPr>
            <a:r>
              <a:rPr lang="en-US" sz="1300" dirty="0">
                <a:solidFill>
                  <a:srgbClr val="8B94A3"/>
                </a:solidFill>
                <a:latin typeface="Calibri" pitchFamily="34" charset="0"/>
                <a:ea typeface="Calibri" pitchFamily="34" charset="-122"/>
                <a:cs typeface="Calibri" pitchFamily="34" charset="-120"/>
              </a:rPr>
              <a:t>Cuando Skinner decidió representar el comportamiento como tasa de respuesta, tomaba una decisión teórica disfrazada de decisión técnica</a:t>
            </a:r>
            <a:endParaRPr lang="en-US" sz="1400" dirty="0"/>
          </a:p>
          <a:p>
            <a:pPr lvl="1" marL="457200" indent="-228600">
              <a:spcAft>
                <a:spcPts val="400"/>
              </a:spcAft>
              <a:buSzPct val="100000"/>
              <a:buChar char="•"/>
            </a:pPr>
            <a:r>
              <a:rPr lang="en-US" sz="1300" dirty="0">
                <a:solidFill>
                  <a:srgbClr val="8B94A3"/>
                </a:solidFill>
                <a:latin typeface="Calibri" pitchFamily="34" charset="0"/>
                <a:ea typeface="Calibri" pitchFamily="34" charset="-122"/>
                <a:cs typeface="Calibri" pitchFamily="34" charset="-120"/>
              </a:rPr>
              <a:t>Hacía visibles ciertos patrones (pausas post-refuerzo, aceleración bajo programas de razón)</a:t>
            </a:r>
            <a:endParaRPr lang="en-US" sz="1400" dirty="0"/>
          </a:p>
          <a:p>
            <a:pPr lvl="1" marL="457200" indent="-228600">
              <a:spcAft>
                <a:spcPts val="400"/>
              </a:spcAft>
              <a:buSzPct val="100000"/>
              <a:buChar char="•"/>
            </a:pPr>
            <a:r>
              <a:rPr lang="en-US" sz="1300" dirty="0">
                <a:solidFill>
                  <a:srgbClr val="8B94A3"/>
                </a:solidFill>
                <a:latin typeface="Calibri" pitchFamily="34" charset="0"/>
                <a:ea typeface="Calibri" pitchFamily="34" charset="-122"/>
                <a:cs typeface="Calibri" pitchFamily="34" charset="-120"/>
              </a:rPr>
              <a:t>Y oscurecía otros (microestructura temporal, variación en topografía de la respuesta)</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31A27"/>
          </a:solidFill>
          <a:ln w="12700">
            <a:solidFill>
              <a:srgbClr val="131A27"/>
            </a:solidFill>
            <a:prstDash val="solid"/>
          </a:ln>
        </p:spPr>
      </p:sp>
      <p:sp>
        <p:nvSpPr>
          <p:cNvPr id="3" name="Text 1"/>
          <p:cNvSpPr/>
          <p:nvPr/>
        </p:nvSpPr>
        <p:spPr>
          <a:xfrm>
            <a:off x="411480" y="73152"/>
            <a:ext cx="8503920" cy="76809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Impacto de los Modelos de Datos en Psicología</a:t>
            </a:r>
            <a:endParaRPr lang="en-US" sz="2200" dirty="0"/>
          </a:p>
        </p:txBody>
      </p:sp>
      <p:sp>
        <p:nvSpPr>
          <p:cNvPr id="4" name="Text 2"/>
          <p:cNvSpPr/>
          <p:nvPr/>
        </p:nvSpPr>
        <p:spPr>
          <a:xfrm>
            <a:off x="411480" y="1051560"/>
            <a:ext cx="8321040" cy="3840480"/>
          </a:xfrm>
          <a:prstGeom prst="rect">
            <a:avLst/>
          </a:prstGeom>
          <a:noFill/>
          <a:ln/>
        </p:spPr>
        <p:txBody>
          <a:bodyPr wrap="square" rtlCol="0" anchor="t"/>
          <a:lstStyle/>
          <a:p>
            <a:pPr marL="342900" indent="-342900">
              <a:spcAft>
                <a:spcPts val="600"/>
              </a:spcAft>
              <a:buSzPct val="100000"/>
              <a:buChar char="•"/>
            </a:pPr>
            <a:r>
              <a:rPr lang="en-US" sz="1400" dirty="0">
                <a:solidFill>
                  <a:srgbClr val="D1D5DB"/>
                </a:solidFill>
                <a:latin typeface="Calibri" pitchFamily="34" charset="0"/>
                <a:ea typeface="Calibri" pitchFamily="34" charset="-122"/>
                <a:cs typeface="Calibri" pitchFamily="34" charset="-120"/>
              </a:rPr>
              <a:t>Toda una tradición teórica se organizó alrededor de explicar variaciones en la tasa de respuesta, en parte porque la tasa era el modelo de datos dominante.</a:t>
            </a:r>
            <a:endParaRPr lang="en-US" sz="1400" dirty="0"/>
          </a:p>
          <a:p>
            <a:pPr marL="342900" indent="-342900">
              <a:spcAft>
                <a:spcPts val="600"/>
              </a:spcAft>
              <a:buSzPct val="100000"/>
              <a:buChar char="•"/>
            </a:pPr>
            <a:r>
              <a:rPr lang="en-US" sz="1400" dirty="0">
                <a:solidFill>
                  <a:srgbClr val="D1D5DB"/>
                </a:solidFill>
                <a:latin typeface="Calibri" pitchFamily="34" charset="0"/>
                <a:ea typeface="Calibri" pitchFamily="34" charset="-122"/>
                <a:cs typeface="Calibri" pitchFamily="34" charset="-120"/>
              </a:rPr>
              <a:t>Distintas representaciones del mismo comportamiento:</a:t>
            </a:r>
            <a:endParaRPr lang="en-US" sz="1400" dirty="0"/>
          </a:p>
          <a:p>
            <a:pPr lvl="1" marL="457200" indent="-228600">
              <a:spcAft>
                <a:spcPts val="400"/>
              </a:spcAft>
              <a:buSzPct val="100000"/>
              <a:buChar char="•"/>
            </a:pPr>
            <a:r>
              <a:rPr lang="en-US" sz="1300" dirty="0">
                <a:solidFill>
                  <a:srgbClr val="8B94A3"/>
                </a:solidFill>
                <a:latin typeface="Calibri" pitchFamily="34" charset="0"/>
                <a:ea typeface="Calibri" pitchFamily="34" charset="-122"/>
                <a:cs typeface="Calibri" pitchFamily="34" charset="-120"/>
              </a:rPr>
              <a:t>Tasa de respuesta — hace visibles pausas y aceleraciones bajo distintos programas</a:t>
            </a:r>
            <a:endParaRPr lang="en-US" sz="1400" dirty="0"/>
          </a:p>
          <a:p>
            <a:pPr lvl="1" marL="457200" indent="-228600">
              <a:spcAft>
                <a:spcPts val="400"/>
              </a:spcAft>
              <a:buSzPct val="100000"/>
              <a:buChar char="•"/>
            </a:pPr>
            <a:r>
              <a:rPr lang="en-US" sz="1300" dirty="0">
                <a:solidFill>
                  <a:srgbClr val="8B94A3"/>
                </a:solidFill>
                <a:latin typeface="Calibri" pitchFamily="34" charset="0"/>
                <a:ea typeface="Calibri" pitchFamily="34" charset="-122"/>
                <a:cs typeface="Calibri" pitchFamily="34" charset="-120"/>
              </a:rPr>
              <a:t>Tiempo entre respuestas (IRTs) — hace visible la microestructura temporal</a:t>
            </a:r>
            <a:endParaRPr lang="en-US" sz="1400" dirty="0"/>
          </a:p>
          <a:p>
            <a:pPr lvl="1" marL="457200" indent="-228600">
              <a:spcAft>
                <a:spcPts val="400"/>
              </a:spcAft>
              <a:buSzPct val="100000"/>
              <a:buChar char="•"/>
            </a:pPr>
            <a:r>
              <a:rPr lang="en-US" sz="1300" dirty="0">
                <a:solidFill>
                  <a:srgbClr val="8B94A3"/>
                </a:solidFill>
                <a:latin typeface="Calibri" pitchFamily="34" charset="0"/>
                <a:ea typeface="Calibri" pitchFamily="34" charset="-122"/>
                <a:cs typeface="Calibri" pitchFamily="34" charset="-120"/>
              </a:rPr>
              <a:t>Frecuencia relativa de elección — hace visibles patrones de asignación entre alternativas</a:t>
            </a:r>
            <a:endParaRPr lang="en-US" sz="1400" dirty="0"/>
          </a:p>
          <a:p>
            <a:pPr marL="342900" indent="-342900">
              <a:spcAft>
                <a:spcPts val="600"/>
              </a:spcAft>
              <a:buSzPct val="100000"/>
              <a:buChar char="•"/>
            </a:pPr>
            <a:r>
              <a:rPr lang="en-US" sz="1400" b="1" dirty="0">
                <a:solidFill>
                  <a:srgbClr val="5B8DB8"/>
                </a:solidFill>
                <a:latin typeface="Calibri" pitchFamily="34" charset="0"/>
                <a:ea typeface="Calibri" pitchFamily="34" charset="-122"/>
                <a:cs typeface="Calibri" pitchFamily="34" charset="-120"/>
              </a:rPr>
              <a:t>Hábito de lectura crítica: cada vez que encuentres una nueva medida en la literatura, pregúntate qué aspectos del fenómeno hace visibles esa medida y cuáles oculta.</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5B8DB8"/>
          </a:solidFill>
          <a:ln w="12700">
            <a:solidFill>
              <a:srgbClr val="5B8DB8"/>
            </a:solidFill>
            <a:prstDash val="solid"/>
          </a:ln>
        </p:spPr>
      </p:sp>
      <p:sp>
        <p:nvSpPr>
          <p:cNvPr id="3" name="Text 1"/>
          <p:cNvSpPr/>
          <p:nvPr/>
        </p:nvSpPr>
        <p:spPr>
          <a:xfrm>
            <a:off x="457200" y="1554480"/>
            <a:ext cx="8412480" cy="128016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VI. Síntesis</a:t>
            </a:r>
            <a:endParaRPr lang="en-US" sz="3400" dirty="0"/>
          </a:p>
        </p:txBody>
      </p:sp>
      <p:sp>
        <p:nvSpPr>
          <p:cNvPr id="4" name="Text 2"/>
          <p:cNvSpPr/>
          <p:nvPr/>
        </p:nvSpPr>
        <p:spPr>
          <a:xfrm>
            <a:off x="457200" y="3017520"/>
            <a:ext cx="8412480" cy="640080"/>
          </a:xfrm>
          <a:prstGeom prst="rect">
            <a:avLst/>
          </a:prstGeom>
          <a:noFill/>
          <a:ln/>
        </p:spPr>
        <p:txBody>
          <a:bodyPr wrap="square" rtlCol="0" anchor="t"/>
          <a:lstStyle/>
          <a:p>
            <a:pPr indent="0" marL="0">
              <a:buNone/>
            </a:pPr>
            <a:r>
              <a:rPr lang="en-US" sz="1600" i="1" dirty="0">
                <a:solidFill>
                  <a:srgbClr val="8B94A3"/>
                </a:solidFill>
                <a:latin typeface="Calibri" pitchFamily="34" charset="0"/>
                <a:ea typeface="Calibri" pitchFamily="34" charset="-122"/>
                <a:cs typeface="Calibri" pitchFamily="34" charset="-120"/>
              </a:rPr>
              <a:t>Tres ideas que organizan el capítulo y reaparecerán a lo largo del curso</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31A27"/>
          </a:solidFill>
          <a:ln w="12700">
            <a:solidFill>
              <a:srgbClr val="131A27"/>
            </a:solidFill>
            <a:prstDash val="solid"/>
          </a:ln>
        </p:spPr>
      </p:sp>
      <p:sp>
        <p:nvSpPr>
          <p:cNvPr id="3" name="Text 1"/>
          <p:cNvSpPr/>
          <p:nvPr/>
        </p:nvSpPr>
        <p:spPr>
          <a:xfrm>
            <a:off x="411480" y="73152"/>
            <a:ext cx="8503920" cy="76809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Síntesis del Capítulo</a:t>
            </a:r>
            <a:endParaRPr lang="en-US" sz="2200" dirty="0"/>
          </a:p>
        </p:txBody>
      </p:sp>
      <p:sp>
        <p:nvSpPr>
          <p:cNvPr id="4" name="Text 2"/>
          <p:cNvSpPr/>
          <p:nvPr/>
        </p:nvSpPr>
        <p:spPr>
          <a:xfrm>
            <a:off x="411480" y="1005840"/>
            <a:ext cx="8321040" cy="3886200"/>
          </a:xfrm>
          <a:prstGeom prst="rect">
            <a:avLst/>
          </a:prstGeom>
          <a:noFill/>
          <a:ln/>
        </p:spPr>
        <p:txBody>
          <a:bodyPr wrap="square" rtlCol="0" anchor="t"/>
          <a:lstStyle/>
          <a:p>
            <a:pPr marL="342900" indent="-342900">
              <a:spcAft>
                <a:spcPts val="600"/>
              </a:spcAft>
              <a:buSzPct val="100000"/>
              <a:buChar char="•"/>
            </a:pPr>
            <a:r>
              <a:rPr lang="en-US" sz="1500" b="1" dirty="0">
                <a:solidFill>
                  <a:srgbClr val="FFFFFF"/>
                </a:solidFill>
                <a:latin typeface="Calibri" pitchFamily="34" charset="0"/>
                <a:ea typeface="Calibri" pitchFamily="34" charset="-122"/>
                <a:cs typeface="Calibri" pitchFamily="34" charset="-120"/>
              </a:rPr>
              <a:t>1. Los modelos son vehículos de inferencia</a:t>
            </a:r>
            <a:endParaRPr lang="en-US" sz="1500" dirty="0"/>
          </a:p>
          <a:p>
            <a:pPr marL="342900" indent="-342900">
              <a:spcAft>
                <a:spcPts val="600"/>
              </a:spcAft>
              <a:buSzPct val="100000"/>
              <a:buChar char="•"/>
            </a:pPr>
            <a:r>
              <a:rPr lang="en-US" sz="1500" dirty="0">
                <a:solidFill>
                  <a:srgbClr val="D1D5DB"/>
                </a:solidFill>
                <a:latin typeface="Calibri" pitchFamily="34" charset="0"/>
                <a:ea typeface="Calibri" pitchFamily="34" charset="-122"/>
                <a:cs typeface="Calibri" pitchFamily="34" charset="-120"/>
              </a:rPr>
              <a:t>Su valor se mide por la calidad de las inferencias que permiten, no por su fidelidad absoluta. Dos modelos del mismo comportamiento pueden coexistir si sirven propósitos distintos.</a:t>
            </a:r>
            <a:endParaRPr lang="en-US" sz="1500" dirty="0"/>
          </a:p>
          <a:p>
            <a:pPr marL="342900" indent="-342900">
              <a:spcAft>
                <a:spcPts val="600"/>
              </a:spcAft>
              <a:buSzPct val="100000"/>
              <a:buChar char="•"/>
            </a:pPr>
            <a:r>
              <a:rPr lang="en-US" sz="1500" b="1" dirty="0">
                <a:solidFill>
                  <a:srgbClr val="FFFFFF"/>
                </a:solidFill>
                <a:latin typeface="Calibri" pitchFamily="34" charset="0"/>
                <a:ea typeface="Calibri" pitchFamily="34" charset="-122"/>
                <a:cs typeface="Calibri" pitchFamily="34" charset="-120"/>
              </a:rPr>
              <a:t>2. La explicación no es un único tipo de actividad</a:t>
            </a:r>
            <a:endParaRPr lang="en-US" sz="1500" dirty="0"/>
          </a:p>
          <a:p>
            <a:pPr marL="342900" indent="-342900">
              <a:spcAft>
                <a:spcPts val="600"/>
              </a:spcAft>
              <a:buSzPct val="100000"/>
              <a:buChar char="•"/>
            </a:pPr>
            <a:r>
              <a:rPr lang="en-US" sz="1500" dirty="0">
                <a:solidFill>
                  <a:srgbClr val="D1D5DB"/>
                </a:solidFill>
                <a:latin typeface="Calibri" pitchFamily="34" charset="0"/>
                <a:ea typeface="Calibri" pitchFamily="34" charset="-122"/>
                <a:cs typeface="Calibri" pitchFamily="34" charset="-120"/>
              </a:rPr>
              <a:t>Explicaciones causales (hacedores de diferencia), unificadoras (estructura subyacente compartida) y mecanicistas (componentes e interacciones) son complementarias.</a:t>
            </a:r>
            <a:endParaRPr lang="en-US" sz="1500" dirty="0"/>
          </a:p>
          <a:p>
            <a:pPr marL="342900" indent="-342900">
              <a:spcAft>
                <a:spcPts val="600"/>
              </a:spcAft>
              <a:buSzPct val="100000"/>
              <a:buChar char="•"/>
            </a:pPr>
            <a:r>
              <a:rPr lang="en-US" sz="1500" b="1" dirty="0">
                <a:solidFill>
                  <a:srgbClr val="FFFFFF"/>
                </a:solidFill>
                <a:latin typeface="Calibri" pitchFamily="34" charset="0"/>
                <a:ea typeface="Calibri" pitchFamily="34" charset="-122"/>
                <a:cs typeface="Calibri" pitchFamily="34" charset="-120"/>
              </a:rPr>
              <a:t>3. Los fenómenos complejos se analizan a múltiples niveles</a:t>
            </a:r>
            <a:endParaRPr lang="en-US" sz="1500" dirty="0"/>
          </a:p>
          <a:p>
            <a:pPr marL="342900" indent="-342900">
              <a:spcAft>
                <a:spcPts val="600"/>
              </a:spcAft>
              <a:buSzPct val="100000"/>
              <a:buChar char="•"/>
            </a:pPr>
            <a:r>
              <a:rPr lang="en-US" sz="1500" dirty="0">
                <a:solidFill>
                  <a:srgbClr val="D1D5DB"/>
                </a:solidFill>
                <a:latin typeface="Calibri" pitchFamily="34" charset="0"/>
                <a:ea typeface="Calibri" pitchFamily="34" charset="-122"/>
                <a:cs typeface="Calibri" pitchFamily="34" charset="-120"/>
              </a:rPr>
              <a:t>Tinbergen, Marr y Killeen articulan ese espacio con vocabularios distintos pero convergentes. Modelos que parecen incompatibles a menudo operan en niveles distintos.</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A1F2E"/>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31A27"/>
          </a:solidFill>
          <a:ln w="12700">
            <a:solidFill>
              <a:srgbClr val="131A27"/>
            </a:solidFill>
            <a:prstDash val="solid"/>
          </a:ln>
        </p:spPr>
      </p:sp>
      <p:sp>
        <p:nvSpPr>
          <p:cNvPr id="3" name="Text 1"/>
          <p:cNvSpPr/>
          <p:nvPr/>
        </p:nvSpPr>
        <p:spPr>
          <a:xfrm>
            <a:off x="411480" y="73152"/>
            <a:ext cx="8503920" cy="768096"/>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Ejercicios de Comprensión</a:t>
            </a:r>
            <a:endParaRPr lang="en-US" sz="2200" dirty="0"/>
          </a:p>
        </p:txBody>
      </p:sp>
      <p:sp>
        <p:nvSpPr>
          <p:cNvPr id="4" name="Text 2"/>
          <p:cNvSpPr/>
          <p:nvPr/>
        </p:nvSpPr>
        <p:spPr>
          <a:xfrm>
            <a:off x="411480" y="1005840"/>
            <a:ext cx="8321040" cy="3886200"/>
          </a:xfrm>
          <a:prstGeom prst="rect">
            <a:avLst/>
          </a:prstGeom>
          <a:noFill/>
          <a:ln/>
        </p:spPr>
        <p:txBody>
          <a:bodyPr wrap="square" rtlCol="0" anchor="t"/>
          <a:lstStyle/>
          <a:p>
            <a:pPr marL="342900" indent="-342900">
              <a:spcAft>
                <a:spcPts val="600"/>
              </a:spcAft>
              <a:buSzPct val="100000"/>
              <a:buChar char="•"/>
            </a:pPr>
            <a:r>
              <a:rPr lang="en-US" sz="1300" b="1" dirty="0">
                <a:solidFill>
                  <a:srgbClr val="FFFFFF"/>
                </a:solidFill>
                <a:latin typeface="Calibri" pitchFamily="34" charset="0"/>
                <a:ea typeface="Calibri" pitchFamily="34" charset="-122"/>
                <a:cs typeface="Calibri" pitchFamily="34" charset="-120"/>
              </a:rPr>
              <a:t>Ejercicio 1 (básico)</a:t>
            </a:r>
            <a:endParaRPr lang="en-US" sz="1300" dirty="0"/>
          </a:p>
          <a:p>
            <a:pPr marL="342900" indent="-342900">
              <a:spcAft>
                <a:spcPts val="600"/>
              </a:spcAft>
              <a:buSzPct val="100000"/>
              <a:buChar char="•"/>
            </a:pPr>
            <a:r>
              <a:rPr lang="en-US" sz="1300" dirty="0">
                <a:solidFill>
                  <a:srgbClr val="D1D5DB"/>
                </a:solidFill>
                <a:latin typeface="Calibri" pitchFamily="34" charset="0"/>
                <a:ea typeface="Calibri" pitchFamily="34" charset="-122"/>
                <a:cs typeface="Calibri" pitchFamily="34" charset="-120"/>
              </a:rPr>
              <a:t>'Los estudiantes que duermen más horas obtienen mejores calificaciones.' Escribe (a) una explicación contrafactual, (b) una intervencionista, (c) un hacedor de diferencia abstracto.</a:t>
            </a:r>
            <a:endParaRPr lang="en-US" sz="1300" dirty="0"/>
          </a:p>
          <a:p>
            <a:pPr marL="342900" indent="-342900">
              <a:spcAft>
                <a:spcPts val="600"/>
              </a:spcAft>
              <a:buSzPct val="100000"/>
              <a:buChar char="•"/>
            </a:pPr>
            <a:r>
              <a:rPr lang="en-US" sz="1300" b="1" dirty="0">
                <a:solidFill>
                  <a:srgbClr val="FFFFFF"/>
                </a:solidFill>
                <a:latin typeface="Calibri" pitchFamily="34" charset="0"/>
                <a:ea typeface="Calibri" pitchFamily="34" charset="-122"/>
                <a:cs typeface="Calibri" pitchFamily="34" charset="-120"/>
              </a:rPr>
              <a:t>Ejercicio 2 (intermedio)</a:t>
            </a:r>
            <a:endParaRPr lang="en-US" sz="1300" dirty="0"/>
          </a:p>
          <a:p>
            <a:pPr marL="342900" indent="-342900">
              <a:spcAft>
                <a:spcPts val="600"/>
              </a:spcAft>
              <a:buSzPct val="100000"/>
              <a:buChar char="•"/>
            </a:pPr>
            <a:r>
              <a:rPr lang="en-US" sz="1300" dirty="0">
                <a:solidFill>
                  <a:srgbClr val="D1D5DB"/>
                </a:solidFill>
                <a:latin typeface="Calibri" pitchFamily="34" charset="0"/>
                <a:ea typeface="Calibri" pitchFamily="34" charset="-122"/>
                <a:cs typeface="Calibri" pitchFamily="34" charset="-120"/>
              </a:rPr>
              <a:t>Ratas presionan más rápido en FR-10 que en CRF. Con el marco de Tinbergen, formula las cuatro preguntas e indica qué datos necesitarías para cada una.</a:t>
            </a:r>
            <a:endParaRPr lang="en-US" sz="1300" dirty="0"/>
          </a:p>
          <a:p>
            <a:pPr marL="342900" indent="-342900">
              <a:spcAft>
                <a:spcPts val="600"/>
              </a:spcAft>
              <a:buSzPct val="100000"/>
              <a:buChar char="•"/>
            </a:pPr>
            <a:r>
              <a:rPr lang="en-US" sz="1300" b="1" dirty="0">
                <a:solidFill>
                  <a:srgbClr val="FFFFFF"/>
                </a:solidFill>
                <a:latin typeface="Calibri" pitchFamily="34" charset="0"/>
                <a:ea typeface="Calibri" pitchFamily="34" charset="-122"/>
                <a:cs typeface="Calibri" pitchFamily="34" charset="-120"/>
              </a:rPr>
              <a:t>Ejercicio 3 (intermedio)</a:t>
            </a:r>
            <a:endParaRPr lang="en-US" sz="1300" dirty="0"/>
          </a:p>
          <a:p>
            <a:pPr marL="342900" indent="-342900">
              <a:spcAft>
                <a:spcPts val="600"/>
              </a:spcAft>
              <a:buSzPct val="100000"/>
              <a:buChar char="•"/>
            </a:pPr>
            <a:r>
              <a:rPr lang="en-US" sz="1300" dirty="0">
                <a:solidFill>
                  <a:srgbClr val="D1D5DB"/>
                </a:solidFill>
                <a:latin typeface="Calibri" pitchFamily="34" charset="0"/>
                <a:ea typeface="Calibri" pitchFamily="34" charset="-122"/>
                <a:cs typeface="Calibri" pitchFamily="34" charset="-120"/>
              </a:rPr>
              <a:t>'Los modelos matemáticos del aprendizaje no son explicaciones porque omiten los mecanismos neuronales.' Evalúa con Marr y Killeen: ¿en qué tiene razón? ¿qué confunde?</a:t>
            </a:r>
            <a:endParaRPr lang="en-US" sz="1300" dirty="0"/>
          </a:p>
          <a:p>
            <a:pPr marL="342900" indent="-342900">
              <a:spcAft>
                <a:spcPts val="600"/>
              </a:spcAft>
              <a:buSzPct val="100000"/>
              <a:buChar char="•"/>
            </a:pPr>
            <a:r>
              <a:rPr lang="en-US" sz="1300" b="1" dirty="0">
                <a:solidFill>
                  <a:srgbClr val="FFFFFF"/>
                </a:solidFill>
                <a:latin typeface="Calibri" pitchFamily="34" charset="0"/>
                <a:ea typeface="Calibri" pitchFamily="34" charset="-122"/>
                <a:cs typeface="Calibri" pitchFamily="34" charset="-120"/>
              </a:rPr>
              <a:t>Ejercicio 4 (avanzado)</a:t>
            </a:r>
            <a:endParaRPr lang="en-US" sz="1300" dirty="0"/>
          </a:p>
          <a:p>
            <a:pPr marL="342900" indent="-342900">
              <a:spcAft>
                <a:spcPts val="600"/>
              </a:spcAft>
              <a:buSzPct val="100000"/>
              <a:buChar char="•"/>
            </a:pPr>
            <a:r>
              <a:rPr lang="en-US" sz="1300" dirty="0">
                <a:solidFill>
                  <a:srgbClr val="D1D5DB"/>
                </a:solidFill>
                <a:latin typeface="Calibri" pitchFamily="34" charset="0"/>
                <a:ea typeface="Calibri" pitchFamily="34" charset="-122"/>
                <a:cs typeface="Calibri" pitchFamily="34" charset="-120"/>
              </a:rPr>
              <a:t>Bacterias: kinesis (conductual), ascenso de colina (algorítmico), mecanismo molecular. Elige dos niveles y describe qué pregunta responde cada uno y qué podrías investigar combinándolos.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5B8DB8"/>
          </a:solidFill>
          <a:ln w="12700">
            <a:solidFill>
              <a:srgbClr val="5B8DB8"/>
            </a:solidFill>
            <a:prstDash val="solid"/>
          </a:ln>
        </p:spPr>
      </p:sp>
      <p:sp>
        <p:nvSpPr>
          <p:cNvPr id="3" name="Text 1"/>
          <p:cNvSpPr/>
          <p:nvPr/>
        </p:nvSpPr>
        <p:spPr>
          <a:xfrm>
            <a:off x="457200" y="1371600"/>
            <a:ext cx="8321040" cy="7315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Modelos y Explicación</a:t>
            </a:r>
            <a:endParaRPr lang="en-US" sz="2800" dirty="0"/>
          </a:p>
        </p:txBody>
      </p:sp>
      <p:sp>
        <p:nvSpPr>
          <p:cNvPr id="4" name="Text 2"/>
          <p:cNvSpPr/>
          <p:nvPr/>
        </p:nvSpPr>
        <p:spPr>
          <a:xfrm>
            <a:off x="457200" y="2286000"/>
            <a:ext cx="8229600" cy="1280160"/>
          </a:xfrm>
          <a:prstGeom prst="rect">
            <a:avLst/>
          </a:prstGeom>
          <a:noFill/>
          <a:ln/>
        </p:spPr>
        <p:txBody>
          <a:bodyPr wrap="square" rtlCol="0" anchor="ctr"/>
          <a:lstStyle/>
          <a:p>
            <a:pPr indent="0" marL="0">
              <a:buNone/>
            </a:pPr>
            <a:r>
              <a:rPr lang="en-US" sz="1700" i="1" dirty="0">
                <a:solidFill>
                  <a:srgbClr val="D1D5DB"/>
                </a:solidFill>
                <a:latin typeface="Calibri" pitchFamily="34" charset="0"/>
                <a:ea typeface="Calibri" pitchFamily="34" charset="-122"/>
                <a:cs typeface="Calibri" pitchFamily="34" charset="-120"/>
              </a:rPr>
              <a:t>La ciencia avanza no porque encontremos la explicación definitiva,
</a:t>
            </a:r>
            <a:pPr indent="0" marL="0">
              <a:buNone/>
            </a:pPr>
            <a:r>
              <a:rPr lang="en-US" sz="1700" i="1" dirty="0">
                <a:solidFill>
                  <a:srgbClr val="5B8DB8"/>
                </a:solidFill>
                <a:latin typeface="Calibri" pitchFamily="34" charset="0"/>
                <a:ea typeface="Calibri" pitchFamily="34" charset="-122"/>
                <a:cs typeface="Calibri" pitchFamily="34" charset="-120"/>
              </a:rPr>
              <a:t>sino porque aprendemos a hacer mejores preguntas.</a:t>
            </a:r>
            <a:endParaRPr lang="en-US" sz="1700" dirty="0"/>
          </a:p>
        </p:txBody>
      </p:sp>
      <p:sp>
        <p:nvSpPr>
          <p:cNvPr id="5" name="Text 3"/>
          <p:cNvSpPr/>
          <p:nvPr/>
        </p:nvSpPr>
        <p:spPr>
          <a:xfrm>
            <a:off x="457200" y="4389120"/>
            <a:ext cx="8229600" cy="411480"/>
          </a:xfrm>
          <a:prstGeom prst="rect">
            <a:avLst/>
          </a:prstGeom>
          <a:noFill/>
          <a:ln/>
        </p:spPr>
        <p:txBody>
          <a:bodyPr wrap="square" rtlCol="0" anchor="ctr"/>
          <a:lstStyle/>
          <a:p>
            <a:pPr indent="0" marL="0">
              <a:buNone/>
            </a:pPr>
            <a:r>
              <a:rPr lang="en-US" sz="1200" dirty="0">
                <a:solidFill>
                  <a:srgbClr val="8B94A3"/>
                </a:solidFill>
                <a:latin typeface="Calibri" pitchFamily="34" charset="0"/>
                <a:ea typeface="Calibri" pitchFamily="34" charset="-122"/>
                <a:cs typeface="Calibri" pitchFamily="34" charset="-120"/>
              </a:rPr>
              <a:t>Aprendizaje y Comportamiento Adaptable · Arturo Bouzas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Modelos y Explicación</dc:title>
  <dc:subject>PptxGenJS Presentation</dc:subject>
  <dc:creator>Arturo Bouzas</dc:creator>
  <cp:lastModifiedBy>Arturo Bouzas</cp:lastModifiedBy>
  <cp:revision>1</cp:revision>
  <dcterms:created xsi:type="dcterms:W3CDTF">2026-03-05T23:19:10Z</dcterms:created>
  <dcterms:modified xsi:type="dcterms:W3CDTF">2026-03-05T23:19:10Z</dcterms:modified>
</cp:coreProperties>
</file>