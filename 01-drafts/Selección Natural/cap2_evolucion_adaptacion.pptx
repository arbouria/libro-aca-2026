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¿qué otros ejemplos de adaptación conocen? Énfasis: las dos observaciones (variabilidad Y ajuste) necesitan explicación conjunta.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Subrayar: la selección es automática. No requiere intención ni dirección. Ejercicio mental: bacterias y resistencia a antibióticos — ninguna bacteria 'intenta'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Darwin no conocía los mecanismos de herencia (Mendel fue redescubierto 40 años después). La Síntesis Moderna integró genética y selección en el siglo 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estructura que veremos repetida en aprendizaje, elección y toma de decisiones. La evolución es una instancia de este esquema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esta estructura reaparecerá en aprendizaje. Cuando vean la regla delta más adelante, reconocerán los mismos cuatro elementos.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Conexión anticipada: en aprendizaje llamaremos a esto 'sesgos inductivos'. Reducen el espacio de búsqueda y hacen manejable un problema que de otro modo sería intratable.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dilema reaparecerá constantemente: en forrajeo, en elección entre opciones, en aprendizaje secuencial. Es uno de los problemas fundamentales de la adaptación.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 carrera armamentista: polillas y aves. Las polillas tóxicas evolucionan señales visuales; las aves aprenden a evitarlas; otras polillas no tóxicas evolucionan imitando esas señales (mimetismo).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los estudiantes calculen I(5) partiendo de I(0)=100 con r=1.2 y con r=0.8. La diferencia entre los dos casos hace intuible lo que es una ecuación en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en clase: mostrar una tabla con 5 organismos, sus valores de z y w, y pedir que calculen la covarianza a mano. Toma ~10 minutos y consolida el concepto mucho más que la fórmula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 Price (1970) era un personaje fascinante — bioquímico autodidacta que derivó esta ecuación de manera independiente. Se puede hacer una digresión breve sobre su historia si el tiempo lo permite.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puente entre este capítulo y el Bloque II. Si los estudiantes entienden esta conexión, el condicionamiento clásico y la regla de Rescorla-Wagner no se sentirán como temas nuevos sino como instancias de algo ya conocido.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6583680" y="-914400"/>
            <a:ext cx="5029200" cy="5029200"/>
          </a:xfrm>
          <a:prstGeom prst="ellipse">
            <a:avLst/>
          </a:prstGeom>
          <a:solidFill>
            <a:srgbClr val="3A8A5A">
              <a:alpha val="40000"/>
            </a:srgbClr>
          </a:solidFill>
          <a:ln w="12700">
            <a:solidFill>
              <a:srgbClr val="3A8A5A">
                <a:alpha val="40000"/>
              </a:srgbClr>
            </a:solidFill>
            <a:prstDash val="solid"/>
          </a:ln>
        </p:spPr>
      </p:sp>
      <p:sp>
        <p:nvSpPr>
          <p:cNvPr id="3" name="Shape 1"/>
          <p:cNvSpPr/>
          <p:nvPr/>
        </p:nvSpPr>
        <p:spPr>
          <a:xfrm>
            <a:off x="7315200" y="2286000"/>
            <a:ext cx="2743200" cy="2743200"/>
          </a:xfrm>
          <a:prstGeom prst="ellipse">
            <a:avLst/>
          </a:prstGeom>
          <a:solidFill>
            <a:srgbClr val="A8D5B5">
              <a:alpha val="25000"/>
            </a:srgbClr>
          </a:solidFill>
          <a:ln w="12700">
            <a:solidFill>
              <a:srgbClr val="A8D5B5">
                <a:alpha val="25000"/>
              </a:srgbClr>
            </a:solidFill>
            <a:prstDash val="solid"/>
          </a:ln>
        </p:spPr>
      </p:sp>
      <p:sp>
        <p:nvSpPr>
          <p:cNvPr id="4" name="Text 2"/>
          <p:cNvSpPr/>
          <p:nvPr/>
        </p:nvSpPr>
        <p:spPr>
          <a:xfrm>
            <a:off x="548640" y="1371600"/>
            <a:ext cx="7772400" cy="16459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Capítulo 2</a:t>
            </a:r>
            <a:endParaRPr lang="en-US" sz="3600" dirty="0"/>
          </a:p>
          <a:p>
            <a:pPr algn="l" indent="0" marL="0">
              <a:buNone/>
            </a:pPr>
            <a:r>
              <a:rPr lang="en-US" sz="3600" b="1" dirty="0">
                <a:solidFill>
                  <a:srgbClr val="FFFFFF"/>
                </a:solidFill>
                <a:latin typeface="Georgia" pitchFamily="34" charset="0"/>
                <a:ea typeface="Georgia" pitchFamily="34" charset="-122"/>
                <a:cs typeface="Georgia" pitchFamily="34" charset="-120"/>
              </a:rPr>
              <a:t>Evolución y Adaptación</a:t>
            </a:r>
            <a:endParaRPr lang="en-US" sz="3600" dirty="0"/>
          </a:p>
        </p:txBody>
      </p:sp>
      <p:sp>
        <p:nvSpPr>
          <p:cNvPr id="5" name="Shape 3"/>
          <p:cNvSpPr/>
          <p:nvPr/>
        </p:nvSpPr>
        <p:spPr>
          <a:xfrm>
            <a:off x="548640" y="3108960"/>
            <a:ext cx="2286000" cy="36576"/>
          </a:xfrm>
          <a:prstGeom prst="rect">
            <a:avLst/>
          </a:prstGeom>
          <a:solidFill>
            <a:srgbClr val="A8D5B5"/>
          </a:solidFill>
          <a:ln w="12700">
            <a:solidFill>
              <a:srgbClr val="A8D5B5"/>
            </a:solidFill>
            <a:prstDash val="solid"/>
          </a:ln>
        </p:spPr>
      </p:sp>
      <p:sp>
        <p:nvSpPr>
          <p:cNvPr id="6" name="Text 4"/>
          <p:cNvSpPr/>
          <p:nvPr/>
        </p:nvSpPr>
        <p:spPr>
          <a:xfrm>
            <a:off x="548640" y="3246120"/>
            <a:ext cx="7772400" cy="640080"/>
          </a:xfrm>
          <a:prstGeom prst="rect">
            <a:avLst/>
          </a:prstGeom>
          <a:noFill/>
          <a:ln/>
        </p:spPr>
        <p:txBody>
          <a:bodyPr wrap="square" rtlCol="0" anchor="ctr"/>
          <a:lstStyle/>
          <a:p>
            <a:pPr algn="l" indent="0" marL="0">
              <a:buNone/>
            </a:pPr>
            <a:r>
              <a:rPr lang="en-US" sz="1500" i="1" dirty="0">
                <a:solidFill>
                  <a:srgbClr val="A8D5B5"/>
                </a:solidFill>
                <a:latin typeface="Calibri" pitchFamily="34" charset="0"/>
                <a:ea typeface="Calibri" pitchFamily="34" charset="-122"/>
                <a:cs typeface="Calibri" pitchFamily="34" charset="-120"/>
              </a:rPr>
              <a:t>Aprendizaje y Comportamiento Adaptable: Principios y Modelos</a:t>
            </a:r>
            <a:endParaRPr lang="en-US" sz="1500" dirty="0"/>
          </a:p>
          <a:p>
            <a:pPr algn="l" indent="0" marL="0">
              <a:buNone/>
            </a:pPr>
            <a:r>
              <a:rPr lang="en-US" sz="1500" i="1" dirty="0">
                <a:solidFill>
                  <a:srgbClr val="A8D5B5"/>
                </a:solidFill>
                <a:latin typeface="Calibri" pitchFamily="34" charset="0"/>
                <a:ea typeface="Calibri" pitchFamily="34" charset="-122"/>
                <a:cs typeface="Calibri" pitchFamily="34" charset="-120"/>
              </a:rPr>
              <a:t>Facultad de Psicología · UNAM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8A5A"/>
          </a:solidFill>
          <a:ln w="12700">
            <a:solidFill>
              <a:srgbClr val="3A8A5A"/>
            </a:solidFill>
            <a:prstDash val="solid"/>
          </a:ln>
        </p:spPr>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1400" b="1" spc="400" kern="0" dirty="0">
                <a:solidFill>
                  <a:srgbClr val="A8D5B5"/>
                </a:solidFill>
                <a:latin typeface="Calibri" pitchFamily="34" charset="0"/>
                <a:ea typeface="Calibri" pitchFamily="34" charset="-122"/>
                <a:cs typeface="Calibri" pitchFamily="34" charset="-120"/>
              </a:rPr>
              <a:t>Bloque 1</a:t>
            </a:r>
            <a:endParaRPr lang="en-US" sz="1400" dirty="0"/>
          </a:p>
        </p:txBody>
      </p:sp>
      <p:sp>
        <p:nvSpPr>
          <p:cNvPr id="4" name="Text 2"/>
          <p:cNvSpPr/>
          <p:nvPr/>
        </p:nvSpPr>
        <p:spPr>
          <a:xfrm>
            <a:off x="457200" y="1234440"/>
            <a:ext cx="8229600" cy="14630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Selección Natural:</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Los Principios</a:t>
            </a:r>
            <a:endParaRPr lang="en-US" sz="3400" dirty="0"/>
          </a:p>
        </p:txBody>
      </p:sp>
      <p:sp>
        <p:nvSpPr>
          <p:cNvPr id="5" name="Text 3"/>
          <p:cNvSpPr/>
          <p:nvPr/>
        </p:nvSpPr>
        <p:spPr>
          <a:xfrm>
            <a:off x="457200" y="2834640"/>
            <a:ext cx="8229600" cy="1371600"/>
          </a:xfrm>
          <a:prstGeom prst="rect">
            <a:avLst/>
          </a:prstGeom>
          <a:noFill/>
          <a:ln/>
        </p:spPr>
        <p:txBody>
          <a:bodyPr wrap="square" rtlCol="0" anchor="ctr"/>
          <a:lstStyle/>
          <a:p>
            <a:pPr indent="0" marL="0">
              <a:buNone/>
            </a:pPr>
            <a:r>
              <a:rPr lang="en-US" sz="1400" i="1" dirty="0">
                <a:solidFill>
                  <a:srgbClr val="CCCCCC"/>
                </a:solidFill>
                <a:latin typeface="Calibri" pitchFamily="34" charset="0"/>
                <a:ea typeface="Calibri" pitchFamily="34" charset="-122"/>
                <a:cs typeface="Calibri" pitchFamily="34" charset="-120"/>
              </a:rPr>
              <a:t>¿Qué es? ¿Por qué sucede? ¿Qué produce?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Dos observaciones que requieren explicación</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1. Variabilidad</a:t>
            </a:r>
            <a:endParaRPr lang="en-US" sz="16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El mundo biológico contiene una diversidad casi inabarcable de formas, fisiologías y comportamientos. Solo entre escarabajos existen ~250,000 especies.</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2. Adaptación</a:t>
            </a:r>
            <a:endParaRPr lang="en-US" sz="16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Esa variabilidad no es aleatoria: está correlacionada con el entorno. Los picos de los pinzones de Galápagos se ajustan al tipo de alimento disponible en cada isla.</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La pregunta</a:t>
            </a:r>
            <a:endParaRPr lang="en-US" sz="16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¿Qué proceso explica tanto el cambio a lo largo del tiempo como el ajuste al entorno? Darwin, 1859: la teoría de la selección natural.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Los tres principios de la selección natural</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Variabilidad heredable — los organismos producen descendencia que difiere de los progenitores. La variación (mutación, recombinación) se transmite a la siguiente generación.</a:t>
            </a:r>
            <a:endParaRPr lang="en-US" sz="15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Selección diferencial — los organismos interactúan con su entorno, y esa interacción determina cuántos descendientes producen (fitness). La ventaja debe ser causal, no coincidencia.</a:t>
            </a:r>
            <a:endParaRPr lang="en-US" sz="15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Herencia — las características que incrementaron el éxito reproductivo se transmiten. La proporción de organismos con esas características aumenta.</a:t>
            </a:r>
            <a:endParaRPr lang="en-US" sz="15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Cuando los tres principios operan simultáneamente, la composición de la población cambia generación tras generación.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37160"/>
            <a:ext cx="8229600" cy="365760"/>
          </a:xfrm>
          <a:prstGeom prst="rect">
            <a:avLst/>
          </a:prstGeom>
          <a:noFill/>
          <a:ln/>
        </p:spPr>
        <p:txBody>
          <a:bodyPr wrap="square" lIns="0" tIns="0" rIns="0" bIns="0" rtlCol="0" anchor="ctr"/>
          <a:lstStyle/>
          <a:p>
            <a:pPr indent="0" marL="0">
              <a:buNone/>
            </a:pPr>
            <a:r>
              <a:rPr lang="en-US" sz="1200" b="1" spc="300" kern="0" dirty="0">
                <a:solidFill>
                  <a:srgbClr val="3A8A5A"/>
                </a:solidFill>
                <a:latin typeface="Calibri" pitchFamily="34" charset="0"/>
                <a:ea typeface="Calibri" pitchFamily="34" charset="-122"/>
                <a:cs typeface="Calibri" pitchFamily="34" charset="-120"/>
              </a:rPr>
              <a:t>Concepto clave</a:t>
            </a:r>
            <a:endParaRPr lang="en-US" sz="1200" dirty="0"/>
          </a:p>
        </p:txBody>
      </p:sp>
      <p:sp>
        <p:nvSpPr>
          <p:cNvPr id="4" name="Text 2"/>
          <p:cNvSpPr/>
          <p:nvPr/>
        </p:nvSpPr>
        <p:spPr>
          <a:xfrm>
            <a:off x="457200" y="530352"/>
            <a:ext cx="8229600" cy="822960"/>
          </a:xfrm>
          <a:prstGeom prst="rect">
            <a:avLst/>
          </a:prstGeom>
          <a:noFill/>
          <a:ln/>
        </p:spPr>
        <p:txBody>
          <a:bodyPr wrap="square" rtlCol="0" anchor="ctr"/>
          <a:lstStyle/>
          <a:p>
            <a:pPr indent="0" marL="0">
              <a:buNone/>
            </a:pPr>
            <a:r>
              <a:rPr lang="en-US" sz="3000" b="1" dirty="0">
                <a:solidFill>
                  <a:srgbClr val="2C5F2D"/>
                </a:solidFill>
                <a:latin typeface="Georgia" pitchFamily="34" charset="0"/>
                <a:ea typeface="Georgia" pitchFamily="34" charset="-122"/>
                <a:cs typeface="Georgia" pitchFamily="34" charset="-120"/>
              </a:rPr>
              <a:t>La selección natural es ciega</a:t>
            </a:r>
            <a:endParaRPr lang="en-US" sz="3000" dirty="0"/>
          </a:p>
        </p:txBody>
      </p:sp>
      <p:sp>
        <p:nvSpPr>
          <p:cNvPr id="5" name="Shape 3"/>
          <p:cNvSpPr/>
          <p:nvPr/>
        </p:nvSpPr>
        <p:spPr>
          <a:xfrm>
            <a:off x="457200" y="1417320"/>
            <a:ext cx="8229600" cy="16459"/>
          </a:xfrm>
          <a:prstGeom prst="rect">
            <a:avLst/>
          </a:prstGeom>
          <a:solidFill>
            <a:srgbClr val="A8D5B5"/>
          </a:solidFill>
          <a:ln w="12700">
            <a:solidFill>
              <a:srgbClr val="A8D5B5"/>
            </a:solidFill>
            <a:prstDash val="solid"/>
          </a:ln>
        </p:spPr>
      </p:sp>
      <p:sp>
        <p:nvSpPr>
          <p:cNvPr id="6" name="Shape 4"/>
          <p:cNvSpPr/>
          <p:nvPr/>
        </p:nvSpPr>
        <p:spPr>
          <a:xfrm>
            <a:off x="365760" y="1572768"/>
            <a:ext cx="8412480" cy="1371600"/>
          </a:xfrm>
          <a:prstGeom prst="rect">
            <a:avLst/>
          </a:prstGeom>
          <a:solidFill>
            <a:srgbClr val="E8F5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548640" y="1627632"/>
            <a:ext cx="8046720" cy="1261872"/>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Ninguno de los tres principios requiere intención, planificación ni dirección consciente. La dirección adaptativa emerge de la interacción entre variación aleatoria y el filtro del entorno.</a:t>
            </a:r>
            <a:endParaRPr lang="en-US" sz="1500" dirty="0"/>
          </a:p>
        </p:txBody>
      </p:sp>
      <p:sp>
        <p:nvSpPr>
          <p:cNvPr id="8" name="Text 6"/>
          <p:cNvSpPr/>
          <p:nvPr/>
        </p:nvSpPr>
        <p:spPr>
          <a:xfrm>
            <a:off x="457200" y="3090672"/>
            <a:ext cx="1828800" cy="320040"/>
          </a:xfrm>
          <a:prstGeom prst="rect">
            <a:avLst/>
          </a:prstGeom>
          <a:noFill/>
          <a:ln/>
        </p:spPr>
        <p:txBody>
          <a:bodyPr wrap="square" lIns="0" tIns="0" rIns="0" bIns="0" rtlCol="0" anchor="ctr"/>
          <a:lstStyle/>
          <a:p>
            <a:pPr indent="0" marL="0">
              <a:buNone/>
            </a:pPr>
            <a:r>
              <a:rPr lang="en-US" sz="1200" b="1" spc="200" kern="0" dirty="0">
                <a:solidFill>
                  <a:srgbClr val="C8860A"/>
                </a:solidFill>
                <a:latin typeface="Calibri" pitchFamily="34" charset="0"/>
                <a:ea typeface="Calibri" pitchFamily="34" charset="-122"/>
                <a:cs typeface="Calibri" pitchFamily="34" charset="-120"/>
              </a:rPr>
              <a:t>Ejemplo</a:t>
            </a:r>
            <a:endParaRPr lang="en-US" sz="1200" dirty="0"/>
          </a:p>
        </p:txBody>
      </p:sp>
      <p:sp>
        <p:nvSpPr>
          <p:cNvPr id="9" name="Shape 7"/>
          <p:cNvSpPr/>
          <p:nvPr/>
        </p:nvSpPr>
        <p:spPr>
          <a:xfrm>
            <a:off x="457200" y="3401568"/>
            <a:ext cx="8229600" cy="16459"/>
          </a:xfrm>
          <a:prstGeom prst="rect">
            <a:avLst/>
          </a:prstGeom>
          <a:solidFill>
            <a:srgbClr val="C8860A"/>
          </a:solidFill>
          <a:ln w="12700">
            <a:solidFill>
              <a:srgbClr val="C8860A"/>
            </a:solidFill>
            <a:prstDash val="solid"/>
          </a:ln>
        </p:spPr>
      </p:sp>
      <p:sp>
        <p:nvSpPr>
          <p:cNvPr id="10" name="Text 8"/>
          <p:cNvSpPr/>
          <p:nvPr/>
        </p:nvSpPr>
        <p:spPr>
          <a:xfrm>
            <a:off x="457200" y="3493008"/>
            <a:ext cx="8229600" cy="1280160"/>
          </a:xfrm>
          <a:prstGeom prst="rect">
            <a:avLst/>
          </a:prstGeom>
          <a:noFill/>
          <a:ln/>
        </p:spPr>
        <p:txBody>
          <a:bodyPr wrap="square" rtlCol="0" anchor="t"/>
          <a:lstStyle/>
          <a:p>
            <a:pPr indent="0" marL="0">
              <a:buNone/>
            </a:pPr>
            <a:r>
              <a:rPr lang="en-US" sz="1400" i="1" dirty="0">
                <a:solidFill>
                  <a:srgbClr val="444444"/>
                </a:solidFill>
                <a:latin typeface="Calibri" pitchFamily="34" charset="0"/>
                <a:ea typeface="Calibri" pitchFamily="34" charset="-122"/>
                <a:cs typeface="Calibri" pitchFamily="34" charset="-120"/>
              </a:rPr>
              <a:t>Las bacterias no 'intentan' desarrollar resistencia a antibióticos. Las que por variación aleatoria ya tenían cierta resistencia sobreviven más. Su descendencia hereda esa característica. El resultado parece dirigido, pero no lo 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¿De dónde viene la variabilidad?</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Mutaciones genéticas</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Cambios en el ADN por errores de copia, radiación, agentes químicos.</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Efectos: letales, neutras, o ventajosas bajo ciertas condiciones</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Reproducción sexual y recombinación</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No crea alelos nuevos, pero genera nuevas combinaciones. Cada descendiente es único.</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Máquina eficiente de diversidad combinatoria</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Aislamiento geográfico</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Separa poblaciones que evolucionan de manera independiente, acumulando mutaciones distintas.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37160"/>
            <a:ext cx="8229600" cy="365760"/>
          </a:xfrm>
          <a:prstGeom prst="rect">
            <a:avLst/>
          </a:prstGeom>
          <a:noFill/>
          <a:ln/>
        </p:spPr>
        <p:txBody>
          <a:bodyPr wrap="square" lIns="0" tIns="0" rIns="0" bIns="0" rtlCol="0" anchor="ctr"/>
          <a:lstStyle/>
          <a:p>
            <a:pPr indent="0" marL="0">
              <a:buNone/>
            </a:pPr>
            <a:r>
              <a:rPr lang="en-US" sz="1200" b="1" spc="300" kern="0" dirty="0">
                <a:solidFill>
                  <a:srgbClr val="3A8A5A"/>
                </a:solidFill>
                <a:latin typeface="Calibri" pitchFamily="34" charset="0"/>
                <a:ea typeface="Calibri" pitchFamily="34" charset="-122"/>
                <a:cs typeface="Calibri" pitchFamily="34" charset="-120"/>
              </a:rPr>
              <a:t>Concepto clave</a:t>
            </a:r>
            <a:endParaRPr lang="en-US" sz="1200" dirty="0"/>
          </a:p>
        </p:txBody>
      </p:sp>
      <p:sp>
        <p:nvSpPr>
          <p:cNvPr id="4" name="Text 2"/>
          <p:cNvSpPr/>
          <p:nvPr/>
        </p:nvSpPr>
        <p:spPr>
          <a:xfrm>
            <a:off x="457200" y="530352"/>
            <a:ext cx="8229600" cy="822960"/>
          </a:xfrm>
          <a:prstGeom prst="rect">
            <a:avLst/>
          </a:prstGeom>
          <a:noFill/>
          <a:ln/>
        </p:spPr>
        <p:txBody>
          <a:bodyPr wrap="square" rtlCol="0" anchor="ctr"/>
          <a:lstStyle/>
          <a:p>
            <a:pPr indent="0" marL="0">
              <a:buNone/>
            </a:pPr>
            <a:r>
              <a:rPr lang="en-US" sz="3000" b="1" dirty="0">
                <a:solidFill>
                  <a:srgbClr val="2C5F2D"/>
                </a:solidFill>
                <a:latin typeface="Georgia" pitchFamily="34" charset="0"/>
                <a:ea typeface="Georgia" pitchFamily="34" charset="-122"/>
                <a:cs typeface="Georgia" pitchFamily="34" charset="-120"/>
              </a:rPr>
              <a:t>El entorno como filtro</a:t>
            </a:r>
            <a:endParaRPr lang="en-US" sz="3000" dirty="0"/>
          </a:p>
        </p:txBody>
      </p:sp>
      <p:sp>
        <p:nvSpPr>
          <p:cNvPr id="5" name="Shape 3"/>
          <p:cNvSpPr/>
          <p:nvPr/>
        </p:nvSpPr>
        <p:spPr>
          <a:xfrm>
            <a:off x="457200" y="1417320"/>
            <a:ext cx="8229600" cy="16459"/>
          </a:xfrm>
          <a:prstGeom prst="rect">
            <a:avLst/>
          </a:prstGeom>
          <a:solidFill>
            <a:srgbClr val="A8D5B5"/>
          </a:solidFill>
          <a:ln w="12700">
            <a:solidFill>
              <a:srgbClr val="A8D5B5"/>
            </a:solidFill>
            <a:prstDash val="solid"/>
          </a:ln>
        </p:spPr>
      </p:sp>
      <p:sp>
        <p:nvSpPr>
          <p:cNvPr id="6" name="Shape 4"/>
          <p:cNvSpPr/>
          <p:nvPr/>
        </p:nvSpPr>
        <p:spPr>
          <a:xfrm>
            <a:off x="365760" y="1572768"/>
            <a:ext cx="8412480" cy="1371600"/>
          </a:xfrm>
          <a:prstGeom prst="rect">
            <a:avLst/>
          </a:prstGeom>
          <a:solidFill>
            <a:srgbClr val="E8F5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548640" y="1627632"/>
            <a:ext cx="8046720" cy="1261872"/>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El entorno no elige activamente lo mejor — elimina lo que no funciona. Lo que sobrevive no es lo óptimo absoluto, sino lo suficientemente bueno para no ser eliminado. La adaptación es siempre relativa al contexto.</a:t>
            </a:r>
            <a:endParaRPr lang="en-US" sz="1500" dirty="0"/>
          </a:p>
        </p:txBody>
      </p:sp>
      <p:sp>
        <p:nvSpPr>
          <p:cNvPr id="8" name="Text 6"/>
          <p:cNvSpPr/>
          <p:nvPr/>
        </p:nvSpPr>
        <p:spPr>
          <a:xfrm>
            <a:off x="457200" y="3090672"/>
            <a:ext cx="1828800" cy="320040"/>
          </a:xfrm>
          <a:prstGeom prst="rect">
            <a:avLst/>
          </a:prstGeom>
          <a:noFill/>
          <a:ln/>
        </p:spPr>
        <p:txBody>
          <a:bodyPr wrap="square" lIns="0" tIns="0" rIns="0" bIns="0" rtlCol="0" anchor="ctr"/>
          <a:lstStyle/>
          <a:p>
            <a:pPr indent="0" marL="0">
              <a:buNone/>
            </a:pPr>
            <a:r>
              <a:rPr lang="en-US" sz="1200" b="1" spc="200" kern="0" dirty="0">
                <a:solidFill>
                  <a:srgbClr val="C8860A"/>
                </a:solidFill>
                <a:latin typeface="Calibri" pitchFamily="34" charset="0"/>
                <a:ea typeface="Calibri" pitchFamily="34" charset="-122"/>
                <a:cs typeface="Calibri" pitchFamily="34" charset="-120"/>
              </a:rPr>
              <a:t>Ejemplo</a:t>
            </a:r>
            <a:endParaRPr lang="en-US" sz="1200" dirty="0"/>
          </a:p>
        </p:txBody>
      </p:sp>
      <p:sp>
        <p:nvSpPr>
          <p:cNvPr id="9" name="Shape 7"/>
          <p:cNvSpPr/>
          <p:nvPr/>
        </p:nvSpPr>
        <p:spPr>
          <a:xfrm>
            <a:off x="457200" y="3401568"/>
            <a:ext cx="8229600" cy="16459"/>
          </a:xfrm>
          <a:prstGeom prst="rect">
            <a:avLst/>
          </a:prstGeom>
          <a:solidFill>
            <a:srgbClr val="C8860A"/>
          </a:solidFill>
          <a:ln w="12700">
            <a:solidFill>
              <a:srgbClr val="C8860A"/>
            </a:solidFill>
            <a:prstDash val="solid"/>
          </a:ln>
        </p:spPr>
      </p:sp>
      <p:sp>
        <p:nvSpPr>
          <p:cNvPr id="10" name="Text 8"/>
          <p:cNvSpPr/>
          <p:nvPr/>
        </p:nvSpPr>
        <p:spPr>
          <a:xfrm>
            <a:off x="457200" y="3493008"/>
            <a:ext cx="8229600" cy="1280160"/>
          </a:xfrm>
          <a:prstGeom prst="rect">
            <a:avLst/>
          </a:prstGeom>
          <a:noFill/>
          <a:ln/>
        </p:spPr>
        <p:txBody>
          <a:bodyPr wrap="square" rtlCol="0" anchor="t"/>
          <a:lstStyle/>
          <a:p>
            <a:pPr indent="0" marL="0">
              <a:buNone/>
            </a:pPr>
            <a:r>
              <a:rPr lang="en-US" sz="1400" i="1" dirty="0">
                <a:solidFill>
                  <a:srgbClr val="444444"/>
                </a:solidFill>
                <a:latin typeface="Calibri" pitchFamily="34" charset="0"/>
                <a:ea typeface="Calibri" pitchFamily="34" charset="-122"/>
                <a:cs typeface="Calibri" pitchFamily="34" charset="-120"/>
              </a:rPr>
              <a:t>Los picos de los pinzones de Galápagos son ventajosos en la isla que los originó, pero serían desfavorables en otra con distinto tipo de alimento. No existe un 'pico perfecto' en términos absolutos.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3A8A5A">
              <a:alpha val="35000"/>
            </a:srgbClr>
          </a:solidFill>
          <a:ln w="12700">
            <a:solidFill>
              <a:srgbClr val="3A8A5A">
                <a:alpha val="35000"/>
              </a:srgbClr>
            </a:solidFill>
            <a:prstDash val="solid"/>
          </a:ln>
        </p:spPr>
      </p:sp>
      <p:sp>
        <p:nvSpPr>
          <p:cNvPr id="3" name="Text 1"/>
          <p:cNvSpPr/>
          <p:nvPr/>
        </p:nvSpPr>
        <p:spPr>
          <a:xfrm>
            <a:off x="548640" y="365760"/>
            <a:ext cx="7772400" cy="8229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Resumen — Bloque 1</a:t>
            </a:r>
            <a:endParaRPr lang="en-US" sz="2600" dirty="0"/>
          </a:p>
        </p:txBody>
      </p:sp>
      <p:sp>
        <p:nvSpPr>
          <p:cNvPr id="4" name="Shape 2"/>
          <p:cNvSpPr/>
          <p:nvPr/>
        </p:nvSpPr>
        <p:spPr>
          <a:xfrm>
            <a:off x="548640" y="1234440"/>
            <a:ext cx="1828800" cy="36576"/>
          </a:xfrm>
          <a:prstGeom prst="rect">
            <a:avLst/>
          </a:prstGeom>
          <a:solidFill>
            <a:srgbClr val="A8D5B5"/>
          </a:solidFill>
          <a:ln w="12700">
            <a:solidFill>
              <a:srgbClr val="A8D5B5"/>
            </a:solidFill>
            <a:prstDash val="solid"/>
          </a:ln>
        </p:spPr>
      </p:sp>
      <p:sp>
        <p:nvSpPr>
          <p:cNvPr id="5" name="Text 3"/>
          <p:cNvSpPr/>
          <p:nvPr/>
        </p:nvSpPr>
        <p:spPr>
          <a:xfrm>
            <a:off x="548640" y="1417320"/>
            <a:ext cx="8046720" cy="3383280"/>
          </a:xfrm>
          <a:prstGeom prst="rect">
            <a:avLst/>
          </a:prstGeom>
          <a:noFill/>
          <a:ln/>
        </p:spPr>
        <p:txBody>
          <a:bodyPr wrap="square"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selección natural explica variabilidad Y adaptación con tres principios simples: variabilidad heredable, selección diferencial, herencia.</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El proceso es automático, no requiere intención. La dirección surge del filtro del entorno sobre la variación aleatoria.</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adaptación es siempre local, relativa al entorno actual — no una solución óptima universal.</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teoría no conocía los mecanismos de herencia en 1859; la genética los completó en el siglo XX.</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8A5A"/>
          </a:solidFill>
          <a:ln w="12700">
            <a:solidFill>
              <a:srgbClr val="3A8A5A"/>
            </a:solidFill>
            <a:prstDash val="solid"/>
          </a:ln>
        </p:spPr>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1400" b="1" spc="400" kern="0" dirty="0">
                <a:solidFill>
                  <a:srgbClr val="A8D5B5"/>
                </a:solidFill>
                <a:latin typeface="Calibri" pitchFamily="34" charset="0"/>
                <a:ea typeface="Calibri" pitchFamily="34" charset="-122"/>
                <a:cs typeface="Calibri" pitchFamily="34" charset="-120"/>
              </a:rPr>
              <a:t>Bloque 2</a:t>
            </a:r>
            <a:endParaRPr lang="en-US" sz="1400" dirty="0"/>
          </a:p>
        </p:txBody>
      </p:sp>
      <p:sp>
        <p:nvSpPr>
          <p:cNvPr id="4" name="Text 2"/>
          <p:cNvSpPr/>
          <p:nvPr/>
        </p:nvSpPr>
        <p:spPr>
          <a:xfrm>
            <a:off x="457200" y="1234440"/>
            <a:ext cx="8229600" cy="14630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La Selección Natural como</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Algoritmo de Búsqueda</a:t>
            </a:r>
            <a:endParaRPr lang="en-US" sz="3400" dirty="0"/>
          </a:p>
        </p:txBody>
      </p:sp>
      <p:sp>
        <p:nvSpPr>
          <p:cNvPr id="5" name="Text 3"/>
          <p:cNvSpPr/>
          <p:nvPr/>
        </p:nvSpPr>
        <p:spPr>
          <a:xfrm>
            <a:off x="457200" y="2834640"/>
            <a:ext cx="8229600" cy="1371600"/>
          </a:xfrm>
          <a:prstGeom prst="rect">
            <a:avLst/>
          </a:prstGeom>
          <a:noFill/>
          <a:ln/>
        </p:spPr>
        <p:txBody>
          <a:bodyPr wrap="square" rtlCol="0" anchor="ctr"/>
          <a:lstStyle/>
          <a:p>
            <a:pPr indent="0" marL="0">
              <a:buNone/>
            </a:pPr>
            <a:r>
              <a:rPr lang="en-US" sz="1400" i="1" dirty="0">
                <a:solidFill>
                  <a:srgbClr val="CCCCCC"/>
                </a:solidFill>
                <a:latin typeface="Calibri" pitchFamily="34" charset="0"/>
                <a:ea typeface="Calibri" pitchFamily="34" charset="-122"/>
                <a:cs typeface="Calibri" pitchFamily="34" charset="-120"/>
              </a:rPr>
              <a:t>Espacios, paisajes, restricciones y el dilema exploración-explotación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Una estructura familiar: buscar jugadores de fútbol</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Imagina que te contratan para buscar jugadores para un equipo. Tienes muchas opciones: ver partidos en TV, ir a ligas menores, visitar clubes infantiles en una ciudad o en varias.</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Con el tiempo, asignas valor a cada estrategia según su éxito. Mantienes las que funcionan, abandonas las que no. Si los costos de transporte suben, la estrategia óptima cambia.</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Los cuatro elementos de todo algoritmo de búsqueda:</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Espacio de posibilidades — las opciones disponibles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Mecanismo para generar variantes — explorar nuevas opciones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Función de evaluación — asignar valor según el éxito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Mecanismo de preservación — mantener lo que funcionó</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La selección natural tiene exactamente esa estructura</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Espacio de posibilidades → Espacio fenotípico</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Todos los posibles valores de rasgos morfológicos, fisiológicos, conductuales</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Mecanismo de variación → Mutación y recombinación</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Producen variantes cercanas a la configuración actual</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Función de evaluación → Fitness (éxito reproductivo)</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El entorno 'puntúa' cada configuración</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Mecanismo de preservación → Herencia</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Las variantes exitosas se transmiten y proliferan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37160"/>
            <a:ext cx="8229600" cy="365760"/>
          </a:xfrm>
          <a:prstGeom prst="rect">
            <a:avLst/>
          </a:prstGeom>
          <a:noFill/>
          <a:ln/>
        </p:spPr>
        <p:txBody>
          <a:bodyPr wrap="square" lIns="0" tIns="0" rIns="0" bIns="0" rtlCol="0" anchor="ctr"/>
          <a:lstStyle/>
          <a:p>
            <a:pPr indent="0" marL="0">
              <a:buNone/>
            </a:pPr>
            <a:r>
              <a:rPr lang="en-US" sz="1200" b="1" spc="300" kern="0" dirty="0">
                <a:solidFill>
                  <a:srgbClr val="3A8A5A"/>
                </a:solidFill>
                <a:latin typeface="Calibri" pitchFamily="34" charset="0"/>
                <a:ea typeface="Calibri" pitchFamily="34" charset="-122"/>
                <a:cs typeface="Calibri" pitchFamily="34" charset="-120"/>
              </a:rPr>
              <a:t>Concepto clave</a:t>
            </a:r>
            <a:endParaRPr lang="en-US" sz="1200" dirty="0"/>
          </a:p>
        </p:txBody>
      </p:sp>
      <p:sp>
        <p:nvSpPr>
          <p:cNvPr id="4" name="Text 2"/>
          <p:cNvSpPr/>
          <p:nvPr/>
        </p:nvSpPr>
        <p:spPr>
          <a:xfrm>
            <a:off x="457200" y="530352"/>
            <a:ext cx="8229600" cy="822960"/>
          </a:xfrm>
          <a:prstGeom prst="rect">
            <a:avLst/>
          </a:prstGeom>
          <a:noFill/>
          <a:ln/>
        </p:spPr>
        <p:txBody>
          <a:bodyPr wrap="square" rtlCol="0" anchor="ctr"/>
          <a:lstStyle/>
          <a:p>
            <a:pPr indent="0" marL="0">
              <a:buNone/>
            </a:pPr>
            <a:r>
              <a:rPr lang="en-US" sz="3000" b="1" dirty="0">
                <a:solidFill>
                  <a:srgbClr val="2C5F2D"/>
                </a:solidFill>
                <a:latin typeface="Georgia" pitchFamily="34" charset="0"/>
                <a:ea typeface="Georgia" pitchFamily="34" charset="-122"/>
                <a:cs typeface="Georgia" pitchFamily="34" charset="-120"/>
              </a:rPr>
              <a:t>El paisaje adaptativo</a:t>
            </a:r>
            <a:endParaRPr lang="en-US" sz="3000" dirty="0"/>
          </a:p>
        </p:txBody>
      </p:sp>
      <p:sp>
        <p:nvSpPr>
          <p:cNvPr id="5" name="Shape 3"/>
          <p:cNvSpPr/>
          <p:nvPr/>
        </p:nvSpPr>
        <p:spPr>
          <a:xfrm>
            <a:off x="457200" y="1417320"/>
            <a:ext cx="8229600" cy="16459"/>
          </a:xfrm>
          <a:prstGeom prst="rect">
            <a:avLst/>
          </a:prstGeom>
          <a:solidFill>
            <a:srgbClr val="A8D5B5"/>
          </a:solidFill>
          <a:ln w="12700">
            <a:solidFill>
              <a:srgbClr val="A8D5B5"/>
            </a:solidFill>
            <a:prstDash val="solid"/>
          </a:ln>
        </p:spPr>
      </p:sp>
      <p:sp>
        <p:nvSpPr>
          <p:cNvPr id="6" name="Shape 4"/>
          <p:cNvSpPr/>
          <p:nvPr/>
        </p:nvSpPr>
        <p:spPr>
          <a:xfrm>
            <a:off x="365760" y="1572768"/>
            <a:ext cx="8412480" cy="1371600"/>
          </a:xfrm>
          <a:prstGeom prst="rect">
            <a:avLst/>
          </a:prstGeom>
          <a:solidFill>
            <a:srgbClr val="E8F5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548640" y="1627632"/>
            <a:ext cx="8046720" cy="1261872"/>
          </a:xfrm>
          <a:prstGeom prst="rect">
            <a:avLst/>
          </a:prstGeom>
          <a:noFill/>
          <a:ln/>
        </p:spPr>
        <p:txBody>
          <a:bodyPr wrap="square" rtlCol="0" anchor="ctr"/>
          <a:lstStyle/>
          <a:p>
            <a:pPr indent="0" marL="0">
              <a:buNone/>
            </a:pPr>
            <a:r>
              <a:rPr lang="en-US" sz="1500" dirty="0">
                <a:solidFill>
                  <a:srgbClr val="2C2C2C"/>
                </a:solidFill>
                <a:latin typeface="Calibri" pitchFamily="34" charset="0"/>
                <a:ea typeface="Calibri" pitchFamily="34" charset="-122"/>
                <a:cs typeface="Calibri" pitchFamily="34" charset="-120"/>
              </a:rPr>
              <a:t>Si asignamos a cada punto del espacio fenotípico el éxito reproductivo esperado, obtenemos un 'paisaje' con picos (alto fitness) y valles (bajo fitness). La selección natural es el proceso por el cual la población se desplaza por ese paisaje.</a:t>
            </a:r>
            <a:endParaRPr lang="en-US" sz="1500" dirty="0"/>
          </a:p>
        </p:txBody>
      </p:sp>
      <p:sp>
        <p:nvSpPr>
          <p:cNvPr id="8" name="Text 6"/>
          <p:cNvSpPr/>
          <p:nvPr/>
        </p:nvSpPr>
        <p:spPr>
          <a:xfrm>
            <a:off x="457200" y="3090672"/>
            <a:ext cx="1828800" cy="320040"/>
          </a:xfrm>
          <a:prstGeom prst="rect">
            <a:avLst/>
          </a:prstGeom>
          <a:noFill/>
          <a:ln/>
        </p:spPr>
        <p:txBody>
          <a:bodyPr wrap="square" lIns="0" tIns="0" rIns="0" bIns="0" rtlCol="0" anchor="ctr"/>
          <a:lstStyle/>
          <a:p>
            <a:pPr indent="0" marL="0">
              <a:buNone/>
            </a:pPr>
            <a:r>
              <a:rPr lang="en-US" sz="1200" b="1" spc="200" kern="0" dirty="0">
                <a:solidFill>
                  <a:srgbClr val="C8860A"/>
                </a:solidFill>
                <a:latin typeface="Calibri" pitchFamily="34" charset="0"/>
                <a:ea typeface="Calibri" pitchFamily="34" charset="-122"/>
                <a:cs typeface="Calibri" pitchFamily="34" charset="-120"/>
              </a:rPr>
              <a:t>Ejemplo</a:t>
            </a:r>
            <a:endParaRPr lang="en-US" sz="1200" dirty="0"/>
          </a:p>
        </p:txBody>
      </p:sp>
      <p:sp>
        <p:nvSpPr>
          <p:cNvPr id="9" name="Shape 7"/>
          <p:cNvSpPr/>
          <p:nvPr/>
        </p:nvSpPr>
        <p:spPr>
          <a:xfrm>
            <a:off x="457200" y="3401568"/>
            <a:ext cx="8229600" cy="16459"/>
          </a:xfrm>
          <a:prstGeom prst="rect">
            <a:avLst/>
          </a:prstGeom>
          <a:solidFill>
            <a:srgbClr val="C8860A"/>
          </a:solidFill>
          <a:ln w="12700">
            <a:solidFill>
              <a:srgbClr val="C8860A"/>
            </a:solidFill>
            <a:prstDash val="solid"/>
          </a:ln>
        </p:spPr>
      </p:sp>
      <p:sp>
        <p:nvSpPr>
          <p:cNvPr id="10" name="Text 8"/>
          <p:cNvSpPr/>
          <p:nvPr/>
        </p:nvSpPr>
        <p:spPr>
          <a:xfrm>
            <a:off x="457200" y="3493008"/>
            <a:ext cx="8229600" cy="1280160"/>
          </a:xfrm>
          <a:prstGeom prst="rect">
            <a:avLst/>
          </a:prstGeom>
          <a:noFill/>
          <a:ln/>
        </p:spPr>
        <p:txBody>
          <a:bodyPr wrap="square" rtlCol="0" anchor="t"/>
          <a:lstStyle/>
          <a:p>
            <a:pPr indent="0" marL="0">
              <a:buNone/>
            </a:pPr>
            <a:r>
              <a:rPr lang="en-US" sz="1400" i="1" dirty="0">
                <a:solidFill>
                  <a:srgbClr val="444444"/>
                </a:solidFill>
                <a:latin typeface="Calibri" pitchFamily="34" charset="0"/>
                <a:ea typeface="Calibri" pitchFamily="34" charset="-122"/>
                <a:cs typeface="Calibri" pitchFamily="34" charset="-120"/>
              </a:rPr>
              <a:t>Una población de peces que vive en aguas turbias: la visión aguda tiene poco valor (pico bajo), pero la detección por línea lateral tiene valor alto (pico alto). La selección empuja a la población hacia el pico de línea lateral.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Restricciones: el espacio no es libre</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Restricciones físicas</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Las leyes de la física eliminan regiones enteras del espacio fenotípico.</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Un insecto no puede crecer al tamaño de un elefante — el exoesqueleto no aguantaría el peso</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Restricciones genéticas y del desarrollo</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No todas las combinaciones de rasgos son biológicamente realizables.</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El desarrollo sigue rutas específicas que limitan las variaciones posibles</a:t>
            </a:r>
            <a:endParaRPr lang="en-US" sz="16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Restricciones filogenéticas</a:t>
            </a:r>
            <a:endParaRPr lang="en-US" sz="16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La evolución no empieza de cero. Hereda soluciones Y limitaciones de ancestros.</a:t>
            </a:r>
            <a:endParaRPr lang="en-US" sz="1600" dirty="0"/>
          </a:p>
          <a:p>
            <a:pPr lvl="1" marL="685800" indent="-342900">
              <a:spcAft>
                <a:spcPts val="400"/>
              </a:spcAft>
              <a:buSzPct val="100000"/>
              <a:buChar char="•"/>
            </a:pPr>
            <a:r>
              <a:rPr lang="en-US" sz="1300" i="1" dirty="0">
                <a:solidFill>
                  <a:srgbClr val="666666"/>
                </a:solidFill>
                <a:latin typeface="Calibri" pitchFamily="34" charset="0"/>
                <a:ea typeface="Calibri" pitchFamily="34" charset="-122"/>
                <a:cs typeface="Calibri" pitchFamily="34" charset="-120"/>
              </a:rPr>
              <a:t>El ojo humano tiene punto ciego por razones históricas, no por diseño óptimo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El problema de los óptimos locales</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Imagina a alguien con los ojos vendados intentando llegar al pico más alto de una cordillera. La regla: en cada paso, explora las alturas cercanas y avanza hacia la más alta.</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Esta regla funciona si hay un solo pico. Pero si hay varios picos separados por valles, la persona queda atrapada en el primer pico que encuentre.</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El dilema exploración-explotación</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Para escapar del óptimo local se necesita exploración (más mutación, más variación).</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Pero más exploración tiene costos: puede sacar a la población de picos donde ya estaba.</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No existe solución óptima única a este dilema. Depende de las características del paisaje.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El paisaje no es fijo</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A diferencia de los algoritmos de optimización más simples, el paisaje adaptativo cambia mientras la población lo recorre.</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Razones del cambio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El entorno físico cambia (clima, geografía, disponibilidad de recursos).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Coevolución: cuando una presa evoluciona mayor velocidad, cambia el paisaje del depredador. El depredador responde, y eso cambia el paisaje de la presa.</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Trade-offs: ser grande ayuda contra depredadores pero requiere más alimento. No hay solución universalmente óptima.</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La selección es un proceso continuo sin punto de llegada. La adaptación siempre persigue un blanco en movimiento.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3A8A5A">
              <a:alpha val="35000"/>
            </a:srgbClr>
          </a:solidFill>
          <a:ln w="12700">
            <a:solidFill>
              <a:srgbClr val="3A8A5A">
                <a:alpha val="35000"/>
              </a:srgbClr>
            </a:solidFill>
            <a:prstDash val="solid"/>
          </a:ln>
        </p:spPr>
      </p:sp>
      <p:sp>
        <p:nvSpPr>
          <p:cNvPr id="3" name="Text 1"/>
          <p:cNvSpPr/>
          <p:nvPr/>
        </p:nvSpPr>
        <p:spPr>
          <a:xfrm>
            <a:off x="548640" y="365760"/>
            <a:ext cx="7772400" cy="8229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Resumen — Bloque 2</a:t>
            </a:r>
            <a:endParaRPr lang="en-US" sz="2600" dirty="0"/>
          </a:p>
        </p:txBody>
      </p:sp>
      <p:sp>
        <p:nvSpPr>
          <p:cNvPr id="4" name="Shape 2"/>
          <p:cNvSpPr/>
          <p:nvPr/>
        </p:nvSpPr>
        <p:spPr>
          <a:xfrm>
            <a:off x="548640" y="1234440"/>
            <a:ext cx="1828800" cy="36576"/>
          </a:xfrm>
          <a:prstGeom prst="rect">
            <a:avLst/>
          </a:prstGeom>
          <a:solidFill>
            <a:srgbClr val="A8D5B5"/>
          </a:solidFill>
          <a:ln w="12700">
            <a:solidFill>
              <a:srgbClr val="A8D5B5"/>
            </a:solidFill>
            <a:prstDash val="solid"/>
          </a:ln>
        </p:spPr>
      </p:sp>
      <p:sp>
        <p:nvSpPr>
          <p:cNvPr id="5" name="Text 3"/>
          <p:cNvSpPr/>
          <p:nvPr/>
        </p:nvSpPr>
        <p:spPr>
          <a:xfrm>
            <a:off x="548640" y="1417320"/>
            <a:ext cx="8046720" cy="3383280"/>
          </a:xfrm>
          <a:prstGeom prst="rect">
            <a:avLst/>
          </a:prstGeom>
          <a:noFill/>
          <a:ln/>
        </p:spPr>
        <p:txBody>
          <a:bodyPr wrap="square"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selección natural tiene la estructura de un algoritmo de búsqueda: espacio de posibilidades, función de evaluación, mecanismo de variación y preservación.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El espacio fenotípico no es libre: restricciones físicas, genéticas y filogenéticas reducen el espacio accesible.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selección puede quedar atrapada en óptimos locales. Escapar requiere exploración, pero explorar tiene costos.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El paisaje adaptativo cambia mientras la población lo recorre — la adaptación siempre persigue un blanco en movimiento.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8A5A"/>
          </a:solidFill>
          <a:ln w="12700">
            <a:solidFill>
              <a:srgbClr val="3A8A5A"/>
            </a:solidFill>
            <a:prstDash val="solid"/>
          </a:ln>
        </p:spPr>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1400" b="1" spc="400" kern="0" dirty="0">
                <a:solidFill>
                  <a:srgbClr val="A8D5B5"/>
                </a:solidFill>
                <a:latin typeface="Calibri" pitchFamily="34" charset="0"/>
                <a:ea typeface="Calibri" pitchFamily="34" charset="-122"/>
                <a:cs typeface="Calibri" pitchFamily="34" charset="-120"/>
              </a:rPr>
              <a:t>Bloque 3</a:t>
            </a:r>
            <a:endParaRPr lang="en-US" sz="1400" dirty="0"/>
          </a:p>
        </p:txBody>
      </p:sp>
      <p:sp>
        <p:nvSpPr>
          <p:cNvPr id="4" name="Text 2"/>
          <p:cNvSpPr/>
          <p:nvPr/>
        </p:nvSpPr>
        <p:spPr>
          <a:xfrm>
            <a:off x="457200" y="1234440"/>
            <a:ext cx="8229600" cy="14630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El Modelo Matemático:</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Ecuación de Price</a:t>
            </a:r>
            <a:endParaRPr lang="en-US" sz="3400" dirty="0"/>
          </a:p>
        </p:txBody>
      </p:sp>
      <p:sp>
        <p:nvSpPr>
          <p:cNvPr id="5" name="Text 3"/>
          <p:cNvSpPr/>
          <p:nvPr/>
        </p:nvSpPr>
        <p:spPr>
          <a:xfrm>
            <a:off x="457200" y="2834640"/>
            <a:ext cx="8229600" cy="1371600"/>
          </a:xfrm>
          <a:prstGeom prst="rect">
            <a:avLst/>
          </a:prstGeom>
          <a:noFill/>
          <a:ln/>
        </p:spPr>
        <p:txBody>
          <a:bodyPr wrap="square" rtlCol="0" anchor="ctr"/>
          <a:lstStyle/>
          <a:p>
            <a:pPr indent="0" marL="0">
              <a:buNone/>
            </a:pPr>
            <a:r>
              <a:rPr lang="en-US" sz="1400" i="1" dirty="0">
                <a:solidFill>
                  <a:srgbClr val="CCCCCC"/>
                </a:solidFill>
                <a:latin typeface="Calibri" pitchFamily="34" charset="0"/>
                <a:ea typeface="Calibri" pitchFamily="34" charset="-122"/>
                <a:cs typeface="Calibri" pitchFamily="34" charset="-120"/>
              </a:rPr>
              <a:t>Formalizar el cambio evolutivo y su equivalencia con el aprendizaje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Ecuaciones en diferencia: describir el cambio paso a paso</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Una ecuación en diferencia es una regla que calcula el estado de un sistema en t+1 a partir del estado en t:</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Estado(t+1) = f( Estado(t) )</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Ejemplo: modelo de COVID</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I(t+1) = r × I(t)</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I(t) = número de infectados en la semana t</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r = tasa de reproducción (cuántas personas infecta cada infectado)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Si r &gt; 1 → crecimiento exponencial. Si r &lt; 1 → decrecimiento.</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La esencia: el sistema se actualiza recursivamente. Cada nuevo t+1 se convierte en el viejo t del siguiente paso.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Covarianza: medir la relación entre rasgo y fitness</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Medimos en cada organismo: valor del rasgo z (largo de pico) y su fitness w (número de crías). ¿Están relacionados?</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La idea paso a paso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Para cada organismo i, calculamos su desviación en z: (zi − z̄)</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Calculamos su desviación en w: (wi − w̄)</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Multiplicamos las dos desviaciones: (zi − z̄)(wi − w̄)</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Promediamos sobre todos los organismos: Cov(w,z) = Σ[(zi−z̄)(wi−w̄)] / n</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Interpretación</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 &gt; 0: rasgo alto → fitness alto. Las variables 'se mueven juntas'.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 &lt; 0: rasgo alto → fitness bajo. Se mueven en sentidos opuestos.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 ≈ 0: no hay relación consistente.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La ecuación de Price: el cambio evolutivo formalizado</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¿Cómo cambia el valor promedio de un rasgo de una generación a la siguiente?</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Δz̄ = Cov(w, z) / w̄</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¿Qué nos dice?</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Cov(w,z) &gt; 0 → Δz̄ &gt; 0: el rasgo aumenta en promedio.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Cov(w,z) &lt; 0 → Δz̄ &lt; 0: el rasgo disminuye en promedio.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Cov(w,z) = 0 → Δz̄ = 0: sin selección, no hay cambio direccional.</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Dos propiedades importantes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Solo necesita la relación estadística entre rasgo y fitness — no mecanismos genéticos.</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Es una ecuación en diferencia: describe z̄(t+1) a partir de z̄(t).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2C2C"/>
          </a:solidFill>
          <a:ln w="12700">
            <a:solidFill>
              <a:srgbClr val="2C2C2C"/>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200" b="1" dirty="0">
                <a:solidFill>
                  <a:srgbClr val="2C2C2C"/>
                </a:solidFill>
                <a:latin typeface="Georgia" pitchFamily="34" charset="0"/>
                <a:ea typeface="Georgia" pitchFamily="34" charset="-122"/>
                <a:cs typeface="Georgia" pitchFamily="34" charset="-120"/>
              </a:rPr>
              <a:t>La equivalencia estructural: evolución y aprendizaje</a:t>
            </a:r>
            <a:endParaRPr lang="en-US" sz="2200" dirty="0"/>
          </a:p>
        </p:txBody>
      </p:sp>
      <p:sp>
        <p:nvSpPr>
          <p:cNvPr id="4" name="Shape 2"/>
          <p:cNvSpPr/>
          <p:nvPr/>
        </p:nvSpPr>
        <p:spPr>
          <a:xfrm>
            <a:off x="457200" y="804672"/>
            <a:ext cx="8229600" cy="16459"/>
          </a:xfrm>
          <a:prstGeom prst="rect">
            <a:avLst/>
          </a:prstGeom>
          <a:solidFill>
            <a:srgbClr val="CCCCCC"/>
          </a:solidFill>
          <a:ln w="12700">
            <a:solidFill>
              <a:srgbClr val="CCCCCC"/>
            </a:solidFill>
            <a:prstDash val="solid"/>
          </a:ln>
        </p:spPr>
      </p:sp>
      <p:sp>
        <p:nvSpPr>
          <p:cNvPr id="5" name="Shape 3"/>
          <p:cNvSpPr/>
          <p:nvPr/>
        </p:nvSpPr>
        <p:spPr>
          <a:xfrm>
            <a:off x="365760" y="960120"/>
            <a:ext cx="3840480" cy="3383280"/>
          </a:xfrm>
          <a:prstGeom prst="rect">
            <a:avLst/>
          </a:prstGeom>
          <a:solidFill>
            <a:srgbClr val="E8F5EE"/>
          </a:solidFill>
          <a:ln w="12700">
            <a:solidFill>
              <a:srgbClr val="3A8A5A"/>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365760" y="960120"/>
            <a:ext cx="3840480" cy="384048"/>
          </a:xfrm>
          <a:prstGeom prst="rect">
            <a:avLst/>
          </a:prstGeom>
          <a:solidFill>
            <a:srgbClr val="3A8A5A"/>
          </a:solidFill>
          <a:ln w="12700">
            <a:solidFill>
              <a:srgbClr val="3A8A5A"/>
            </a:solidFill>
            <a:prstDash val="solid"/>
          </a:ln>
        </p:spPr>
      </p:sp>
      <p:sp>
        <p:nvSpPr>
          <p:cNvPr id="7" name="Text 5"/>
          <p:cNvSpPr/>
          <p:nvPr/>
        </p:nvSpPr>
        <p:spPr>
          <a:xfrm>
            <a:off x="411480" y="978408"/>
            <a:ext cx="37490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SELECCIÓN NATURAL   (generaciones · genes)</a:t>
            </a:r>
            <a:endParaRPr lang="en-US" sz="1200" dirty="0"/>
          </a:p>
        </p:txBody>
      </p:sp>
      <p:sp>
        <p:nvSpPr>
          <p:cNvPr id="8" name="Text 6"/>
          <p:cNvSpPr/>
          <p:nvPr/>
        </p:nvSpPr>
        <p:spPr>
          <a:xfrm>
            <a:off x="411480" y="1389888"/>
            <a:ext cx="3749040" cy="594360"/>
          </a:xfrm>
          <a:prstGeom prst="rect">
            <a:avLst/>
          </a:prstGeom>
          <a:noFill/>
          <a:ln/>
        </p:spPr>
        <p:txBody>
          <a:bodyPr wrap="square" rtlCol="0" anchor="ctr"/>
          <a:lstStyle/>
          <a:p>
            <a:pPr algn="ctr" indent="0" marL="0">
              <a:buNone/>
            </a:pPr>
            <a:r>
              <a:rPr lang="en-US" sz="2000" b="1" dirty="0">
                <a:solidFill>
                  <a:srgbClr val="2C5F2D"/>
                </a:solidFill>
                <a:latin typeface="Courier New" pitchFamily="34" charset="0"/>
                <a:ea typeface="Courier New" pitchFamily="34" charset="-122"/>
                <a:cs typeface="Courier New" pitchFamily="34" charset="-120"/>
              </a:rPr>
              <a:t>Δz̄ = Cov(w, z) / w̄</a:t>
            </a:r>
            <a:endParaRPr lang="en-US" sz="2000" dirty="0"/>
          </a:p>
        </p:txBody>
      </p:sp>
      <p:sp>
        <p:nvSpPr>
          <p:cNvPr id="9" name="Text 7"/>
          <p:cNvSpPr/>
          <p:nvPr/>
        </p:nvSpPr>
        <p:spPr>
          <a:xfrm>
            <a:off x="457200" y="2029968"/>
            <a:ext cx="3566160" cy="2103120"/>
          </a:xfrm>
          <a:prstGeom prst="rect">
            <a:avLst/>
          </a:prstGeom>
          <a:noFill/>
          <a:ln/>
        </p:spPr>
        <p:txBody>
          <a:bodyPr wrap="square" rtlCol="0" anchor="t"/>
          <a:lstStyle/>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Espacio: rasgos fenotípicos posibles</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Evaluación: fitness w (éxito reproductivo)</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Señal de actualización: Cov(w, z)</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¿covaria el rasgo con el éxito?</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Resultado: Δz̄ — la población se desplaza</a:t>
            </a:r>
            <a:endParaRPr lang="en-US" sz="1200" dirty="0"/>
          </a:p>
        </p:txBody>
      </p:sp>
      <p:sp>
        <p:nvSpPr>
          <p:cNvPr id="10" name="Shape 8"/>
          <p:cNvSpPr/>
          <p:nvPr/>
        </p:nvSpPr>
        <p:spPr>
          <a:xfrm>
            <a:off x="4224528" y="2286000"/>
            <a:ext cx="694944" cy="0"/>
          </a:xfrm>
          <a:prstGeom prst="line">
            <a:avLst/>
          </a:prstGeom>
          <a:noFill/>
          <a:ln w="12700">
            <a:solidFill>
              <a:srgbClr val="C8860A"/>
            </a:solidFill>
            <a:prstDash val="dash"/>
          </a:ln>
        </p:spPr>
      </p:sp>
      <p:sp>
        <p:nvSpPr>
          <p:cNvPr id="11" name="Text 9"/>
          <p:cNvSpPr/>
          <p:nvPr/>
        </p:nvSpPr>
        <p:spPr>
          <a:xfrm>
            <a:off x="4315968" y="2011680"/>
            <a:ext cx="512064" cy="502920"/>
          </a:xfrm>
          <a:prstGeom prst="rect">
            <a:avLst/>
          </a:prstGeom>
          <a:noFill/>
          <a:ln/>
        </p:spPr>
        <p:txBody>
          <a:bodyPr wrap="square" rtlCol="0" anchor="ctr"/>
          <a:lstStyle/>
          <a:p>
            <a:pPr algn="ctr" indent="0" marL="0">
              <a:buNone/>
            </a:pPr>
            <a:r>
              <a:rPr lang="en-US" sz="2200" b="1" dirty="0">
                <a:solidFill>
                  <a:srgbClr val="C8860A"/>
                </a:solidFill>
              </a:rPr>
              <a:t>≡</a:t>
            </a:r>
            <a:endParaRPr lang="en-US" sz="2200" dirty="0"/>
          </a:p>
        </p:txBody>
      </p:sp>
      <p:sp>
        <p:nvSpPr>
          <p:cNvPr id="12" name="Shape 10"/>
          <p:cNvSpPr/>
          <p:nvPr/>
        </p:nvSpPr>
        <p:spPr>
          <a:xfrm>
            <a:off x="4937760" y="960120"/>
            <a:ext cx="3840480" cy="3383280"/>
          </a:xfrm>
          <a:prstGeom prst="rect">
            <a:avLst/>
          </a:prstGeom>
          <a:solidFill>
            <a:srgbClr val="E8F0FA"/>
          </a:solidFill>
          <a:ln w="12700">
            <a:solidFill>
              <a:srgbClr val="1A6090"/>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4937760" y="960120"/>
            <a:ext cx="3840480" cy="384048"/>
          </a:xfrm>
          <a:prstGeom prst="rect">
            <a:avLst/>
          </a:prstGeom>
          <a:solidFill>
            <a:srgbClr val="1A6090"/>
          </a:solidFill>
          <a:ln w="12700">
            <a:solidFill>
              <a:srgbClr val="1A6090"/>
            </a:solidFill>
            <a:prstDash val="solid"/>
          </a:ln>
        </p:spPr>
      </p:sp>
      <p:sp>
        <p:nvSpPr>
          <p:cNvPr id="14" name="Text 12"/>
          <p:cNvSpPr/>
          <p:nvPr/>
        </p:nvSpPr>
        <p:spPr>
          <a:xfrm>
            <a:off x="4983480" y="978408"/>
            <a:ext cx="37490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APRENDIZAJE POR REFUERZO   (ensayos · valores)</a:t>
            </a:r>
            <a:endParaRPr lang="en-US" sz="1200" dirty="0"/>
          </a:p>
        </p:txBody>
      </p:sp>
      <p:sp>
        <p:nvSpPr>
          <p:cNvPr id="15" name="Text 13"/>
          <p:cNvSpPr/>
          <p:nvPr/>
        </p:nvSpPr>
        <p:spPr>
          <a:xfrm>
            <a:off x="4983480" y="1389888"/>
            <a:ext cx="3749040" cy="594360"/>
          </a:xfrm>
          <a:prstGeom prst="rect">
            <a:avLst/>
          </a:prstGeom>
          <a:noFill/>
          <a:ln/>
        </p:spPr>
        <p:txBody>
          <a:bodyPr wrap="square" rtlCol="0" anchor="ctr"/>
          <a:lstStyle/>
          <a:p>
            <a:pPr algn="ctr" indent="0" marL="0">
              <a:buNone/>
            </a:pPr>
            <a:r>
              <a:rPr lang="en-US" sz="2000" b="1" dirty="0">
                <a:solidFill>
                  <a:srgbClr val="1A6090"/>
                </a:solidFill>
                <a:latin typeface="Courier New" pitchFamily="34" charset="0"/>
                <a:ea typeface="Courier New" pitchFamily="34" charset="-122"/>
                <a:cs typeface="Courier New" pitchFamily="34" charset="-120"/>
              </a:rPr>
              <a:t>ΔV = α × (R − V)</a:t>
            </a:r>
            <a:endParaRPr lang="en-US" sz="2000" dirty="0"/>
          </a:p>
        </p:txBody>
      </p:sp>
      <p:sp>
        <p:nvSpPr>
          <p:cNvPr id="16" name="Text 14"/>
          <p:cNvSpPr/>
          <p:nvPr/>
        </p:nvSpPr>
        <p:spPr>
          <a:xfrm>
            <a:off x="5029200" y="2029968"/>
            <a:ext cx="3566160" cy="2103120"/>
          </a:xfrm>
          <a:prstGeom prst="rect">
            <a:avLst/>
          </a:prstGeom>
          <a:noFill/>
          <a:ln/>
        </p:spPr>
        <p:txBody>
          <a:bodyPr wrap="square" rtlCol="0" anchor="t"/>
          <a:lstStyle/>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Espacio: valores asociativos posibles</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Evaluación: resultado R (suceso biologico)</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Señal de actualización: (R − V)</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error de predicción = discrepancia</a:t>
            </a:r>
            <a:endParaRPr lang="en-US" sz="1200" dirty="0"/>
          </a:p>
          <a:p>
            <a:pPr marL="342900" indent="-342900">
              <a:spcAft>
                <a:spcPts val="400"/>
              </a:spcAft>
              <a:buSzPct val="100000"/>
              <a:buChar char="•"/>
            </a:pPr>
            <a:r>
              <a:rPr lang="en-US" sz="1200" dirty="0">
                <a:solidFill>
                  <a:srgbClr val="444444"/>
                </a:solidFill>
                <a:latin typeface="Calibri" pitchFamily="34" charset="0"/>
                <a:ea typeface="Calibri" pitchFamily="34" charset="-122"/>
                <a:cs typeface="Calibri" pitchFamily="34" charset="-120"/>
              </a:rPr>
              <a:t>Resultado: ΔV — el organismo ajusta V</a:t>
            </a:r>
            <a:endParaRPr lang="en-US" sz="1200" dirty="0"/>
          </a:p>
        </p:txBody>
      </p:sp>
      <p:sp>
        <p:nvSpPr>
          <p:cNvPr id="17" name="Shape 15"/>
          <p:cNvSpPr/>
          <p:nvPr/>
        </p:nvSpPr>
        <p:spPr>
          <a:xfrm>
            <a:off x="365760" y="4434840"/>
            <a:ext cx="8412480" cy="502920"/>
          </a:xfrm>
          <a:prstGeom prst="rect">
            <a:avLst/>
          </a:prstGeom>
          <a:solidFill>
            <a:srgbClr val="FFF3CD"/>
          </a:solidFill>
          <a:ln w="12700">
            <a:solidFill>
              <a:srgbClr val="C8860A"/>
            </a:solidFill>
            <a:prstDash val="solid"/>
          </a:ln>
        </p:spPr>
      </p:sp>
      <p:sp>
        <p:nvSpPr>
          <p:cNvPr id="18" name="Text 16"/>
          <p:cNvSpPr/>
          <p:nvPr/>
        </p:nvSpPr>
        <p:spPr>
          <a:xfrm>
            <a:off x="502920" y="4453128"/>
            <a:ext cx="8229600" cy="457200"/>
          </a:xfrm>
          <a:prstGeom prst="rect">
            <a:avLst/>
          </a:prstGeom>
          <a:noFill/>
          <a:ln/>
        </p:spPr>
        <p:txBody>
          <a:bodyPr wrap="square" rtlCol="0" anchor="ctr"/>
          <a:lstStyle/>
          <a:p>
            <a:pPr indent="0" marL="0">
              <a:buNone/>
            </a:pPr>
            <a:r>
              <a:rPr lang="en-US" sz="1200" i="1" dirty="0">
                <a:solidFill>
                  <a:srgbClr val="2C2C2C"/>
                </a:solidFill>
                <a:latin typeface="Calibri" pitchFamily="34" charset="0"/>
                <a:ea typeface="Calibri" pitchFamily="34" charset="-122"/>
                <a:cs typeface="Calibri" pitchFamily="34" charset="-120"/>
              </a:rPr>
              <a:t>Ambos sistemas se actualizan en proporción a una discrepancia. La diferencia es de implementación, no de lógica.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A8A5A"/>
          </a:solidFill>
          <a:ln w="12700">
            <a:solidFill>
              <a:srgbClr val="3A8A5A"/>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El problema de la asignación de crédito</a:t>
            </a:r>
            <a:endParaRPr lang="en-US" sz="2400" dirty="0"/>
          </a:p>
        </p:txBody>
      </p:sp>
      <p:sp>
        <p:nvSpPr>
          <p:cNvPr id="4" name="Shape 2"/>
          <p:cNvSpPr/>
          <p:nvPr/>
        </p:nvSpPr>
        <p:spPr>
          <a:xfrm>
            <a:off x="457200" y="841248"/>
            <a:ext cx="8229600" cy="16459"/>
          </a:xfrm>
          <a:prstGeom prst="rect">
            <a:avLst/>
          </a:prstGeom>
          <a:solidFill>
            <a:srgbClr val="A8D5B5"/>
          </a:solidFill>
          <a:ln w="12700">
            <a:solidFill>
              <a:srgbClr val="A8D5B5"/>
            </a:solidFill>
            <a:prstDash val="solid"/>
          </a:ln>
        </p:spPr>
      </p:sp>
      <p:sp>
        <p:nvSpPr>
          <p:cNvPr id="5" name="Text 3"/>
          <p:cNvSpPr/>
          <p:nvPr/>
        </p:nvSpPr>
        <p:spPr>
          <a:xfrm>
            <a:off x="457200" y="1005840"/>
            <a:ext cx="8229600" cy="3840480"/>
          </a:xfrm>
          <a:prstGeom prst="rect">
            <a:avLst/>
          </a:prstGeom>
          <a:noFill/>
          <a:ln/>
        </p:spPr>
        <p:txBody>
          <a:bodyPr wrap="square" rtlCol="0" anchor="t"/>
          <a:lstStyle/>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Cuando el sistema recibe retroalimentación —buena o mala— ¿cómo saber qué componente fue responsable?</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En evolución</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Un organismo tiene múltiples rasgos. Algunos tienen fitness alto, otros bajo. ¿Cuál rasgo fue responsable del éxito?</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Solución de la selección natural: covarianza estadística. Si la velocidad covaria con el fitness pero el tamaño no, la velocidad 'merece el crédito'.</a:t>
            </a:r>
            <a:endParaRPr lang="en-US" sz="1400" dirty="0"/>
          </a:p>
          <a:p>
            <a:pPr indent="0" marL="0">
              <a:spcBef>
                <a:spcPts val="800"/>
              </a:spcBef>
              <a:spcAft>
                <a:spcPts val="400"/>
              </a:spcAft>
              <a:buNone/>
            </a:pPr>
            <a:r>
              <a:rPr lang="en-US" sz="1600" b="1" dirty="0">
                <a:solidFill>
                  <a:srgbClr val="3A8A5A"/>
                </a:solidFill>
                <a:latin typeface="Calibri" pitchFamily="34" charset="0"/>
                <a:ea typeface="Calibri" pitchFamily="34" charset="-122"/>
                <a:cs typeface="Calibri" pitchFamily="34" charset="-120"/>
              </a:rPr>
              <a:t>En aprendizaje</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Cuando ocurre un suceso biológicamente importante, ¿a cuál de todos los estímulos y respuestas previas se le asigna la responsabilidad?</a:t>
            </a:r>
            <a:endParaRPr lang="en-US" sz="1400" dirty="0"/>
          </a:p>
          <a:p>
            <a:pPr marL="342900" indent="-342900">
              <a:spcAft>
                <a:spcPts val="600"/>
              </a:spcAft>
              <a:buSzPct val="100000"/>
              <a:buChar char="•"/>
            </a:pPr>
            <a:r>
              <a:rPr lang="en-US" sz="1500" dirty="0">
                <a:solidFill>
                  <a:srgbClr val="444444"/>
                </a:solidFill>
                <a:latin typeface="Calibri" pitchFamily="34" charset="0"/>
                <a:ea typeface="Calibri" pitchFamily="34" charset="-122"/>
                <a:cs typeface="Calibri" pitchFamily="34" charset="-120"/>
              </a:rPr>
              <a:t>Solución: error de predicción — el sistema que mejor anticipó el resultado recibe más actualización.</a:t>
            </a:r>
            <a:endParaRPr lang="en-US" sz="1400" dirty="0"/>
          </a:p>
          <a:p>
            <a:pPr indent="0" marL="0">
              <a:spcAft>
                <a:spcPts val="800"/>
              </a:spcAft>
              <a:buNone/>
            </a:pPr>
            <a:r>
              <a:rPr lang="en-US" sz="1400" dirty="0">
                <a:solidFill>
                  <a:srgbClr val="444444"/>
                </a:solidFill>
                <a:latin typeface="Calibri" pitchFamily="34" charset="0"/>
                <a:ea typeface="Calibri" pitchFamily="34" charset="-122"/>
                <a:cs typeface="Calibri" pitchFamily="34" charset="-120"/>
              </a:rPr>
              <a:t>Distintas soluciones, mismo problema fundamental. Bloque II del curso lo desarrollará en detalle.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3A8A5A">
              <a:alpha val="35000"/>
            </a:srgbClr>
          </a:solidFill>
          <a:ln w="12700">
            <a:solidFill>
              <a:srgbClr val="3A8A5A">
                <a:alpha val="35000"/>
              </a:srgbClr>
            </a:solidFill>
            <a:prstDash val="solid"/>
          </a:ln>
        </p:spPr>
      </p:sp>
      <p:sp>
        <p:nvSpPr>
          <p:cNvPr id="3" name="Text 1"/>
          <p:cNvSpPr/>
          <p:nvPr/>
        </p:nvSpPr>
        <p:spPr>
          <a:xfrm>
            <a:off x="548640" y="365760"/>
            <a:ext cx="7772400" cy="8229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Resumen — Bloque 3</a:t>
            </a:r>
            <a:endParaRPr lang="en-US" sz="2600" dirty="0"/>
          </a:p>
        </p:txBody>
      </p:sp>
      <p:sp>
        <p:nvSpPr>
          <p:cNvPr id="4" name="Shape 2"/>
          <p:cNvSpPr/>
          <p:nvPr/>
        </p:nvSpPr>
        <p:spPr>
          <a:xfrm>
            <a:off x="548640" y="1234440"/>
            <a:ext cx="1828800" cy="36576"/>
          </a:xfrm>
          <a:prstGeom prst="rect">
            <a:avLst/>
          </a:prstGeom>
          <a:solidFill>
            <a:srgbClr val="A8D5B5"/>
          </a:solidFill>
          <a:ln w="12700">
            <a:solidFill>
              <a:srgbClr val="A8D5B5"/>
            </a:solidFill>
            <a:prstDash val="solid"/>
          </a:ln>
        </p:spPr>
      </p:sp>
      <p:sp>
        <p:nvSpPr>
          <p:cNvPr id="5" name="Text 3"/>
          <p:cNvSpPr/>
          <p:nvPr/>
        </p:nvSpPr>
        <p:spPr>
          <a:xfrm>
            <a:off x="548640" y="1417320"/>
            <a:ext cx="8046720" cy="3383280"/>
          </a:xfrm>
          <a:prstGeom prst="rect">
            <a:avLst/>
          </a:prstGeom>
          <a:noFill/>
          <a:ln/>
        </p:spPr>
        <p:txBody>
          <a:bodyPr wrap="square"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Las ecuaciones en diferencia describen sistemas que se actualizan recursivamente — la forma matemática natural para procesos iterativos como la evolución.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covarianza mide qué tanto un rasgo se asocia con el éxito reproductivo. Es la señal que guía el cambio evolutivo.</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Ecuación de Price: Δz̄ = Cov(w,z) / w̄. El rasgo promedio cambia en proporción a su covarianza con el fitness.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equivalencia con la regla delta del aprendizaje no es metáfora: ambas actualizan el sistema en proporción a una discrepancia.</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860A"/>
          </a:solidFill>
          <a:ln w="12700">
            <a:solidFill>
              <a:srgbClr val="C8860A"/>
            </a:solidFill>
            <a:prstDash val="solid"/>
          </a:ln>
        </p:spPr>
      </p:sp>
      <p:sp>
        <p:nvSpPr>
          <p:cNvPr id="3" name="Text 1"/>
          <p:cNvSpPr/>
          <p:nvPr/>
        </p:nvSpPr>
        <p:spPr>
          <a:xfrm>
            <a:off x="457200" y="365760"/>
            <a:ext cx="8229600" cy="6400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Lo que llevamos al resto del curso</a:t>
            </a:r>
            <a:endParaRPr lang="en-US" sz="2200" dirty="0"/>
          </a:p>
        </p:txBody>
      </p:sp>
      <p:sp>
        <p:nvSpPr>
          <p:cNvPr id="4" name="Shape 2"/>
          <p:cNvSpPr/>
          <p:nvPr/>
        </p:nvSpPr>
        <p:spPr>
          <a:xfrm>
            <a:off x="457200" y="1078992"/>
            <a:ext cx="8046720" cy="16459"/>
          </a:xfrm>
          <a:prstGeom prst="rect">
            <a:avLst/>
          </a:prstGeom>
          <a:solidFill>
            <a:srgbClr val="C8860A"/>
          </a:solidFill>
          <a:ln w="12700">
            <a:solidFill>
              <a:srgbClr val="C8860A"/>
            </a:solidFill>
            <a:prstDash val="solid"/>
          </a:ln>
        </p:spPr>
      </p:sp>
      <p:sp>
        <p:nvSpPr>
          <p:cNvPr id="5" name="Shape 3"/>
          <p:cNvSpPr/>
          <p:nvPr/>
        </p:nvSpPr>
        <p:spPr>
          <a:xfrm>
            <a:off x="457200" y="1234440"/>
            <a:ext cx="8229600" cy="1005840"/>
          </a:xfrm>
          <a:prstGeom prst="rect">
            <a:avLst/>
          </a:prstGeom>
          <a:solidFill>
            <a:srgbClr val="333333"/>
          </a:solidFill>
          <a:ln w="12700">
            <a:solidFill>
              <a:srgbClr val="C8860A"/>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640080" y="1289304"/>
            <a:ext cx="7863840" cy="347472"/>
          </a:xfrm>
          <a:prstGeom prst="rect">
            <a:avLst/>
          </a:prstGeom>
          <a:noFill/>
          <a:ln/>
        </p:spPr>
        <p:txBody>
          <a:bodyPr wrap="square" lIns="0" tIns="0" rIns="0" bIns="0" rtlCol="0" anchor="ctr"/>
          <a:lstStyle/>
          <a:p>
            <a:pPr indent="0" marL="0">
              <a:buNone/>
            </a:pPr>
            <a:r>
              <a:rPr lang="en-US" sz="1400" b="1" dirty="0">
                <a:solidFill>
                  <a:srgbClr val="C8860A"/>
                </a:solidFill>
                <a:latin typeface="Calibri" pitchFamily="34" charset="0"/>
                <a:ea typeface="Calibri" pitchFamily="34" charset="-122"/>
                <a:cs typeface="Calibri" pitchFamily="34" charset="-120"/>
              </a:rPr>
              <a:t>La estructura algorítmica compartida</a:t>
            </a:r>
            <a:endParaRPr lang="en-US" sz="1400" dirty="0"/>
          </a:p>
        </p:txBody>
      </p:sp>
      <p:sp>
        <p:nvSpPr>
          <p:cNvPr id="7" name="Text 5"/>
          <p:cNvSpPr/>
          <p:nvPr/>
        </p:nvSpPr>
        <p:spPr>
          <a:xfrm>
            <a:off x="640080" y="1655064"/>
            <a:ext cx="7863840" cy="512064"/>
          </a:xfrm>
          <a:prstGeom prst="rect">
            <a:avLst/>
          </a:prstGeom>
          <a:noFill/>
          <a:ln/>
        </p:spPr>
        <p:txBody>
          <a:bodyPr wrap="square" lIns="0" tIns="0" rIns="0" bIns="0" rtlCol="0" anchor="t"/>
          <a:lstStyle/>
          <a:p>
            <a:pPr indent="0" marL="0">
              <a:buNone/>
            </a:pPr>
            <a:r>
              <a:rPr lang="en-US" sz="1200" i="1" dirty="0">
                <a:solidFill>
                  <a:srgbClr val="CCCCCC"/>
                </a:solidFill>
                <a:latin typeface="Calibri" pitchFamily="34" charset="0"/>
                <a:ea typeface="Calibri" pitchFamily="34" charset="-122"/>
                <a:cs typeface="Calibri" pitchFamily="34" charset="-120"/>
              </a:rPr>
              <a:t>Variación · Evaluación · Actualización proporcional a discrepancia</a:t>
            </a:r>
            <a:endParaRPr lang="en-US" sz="1200" dirty="0"/>
          </a:p>
          <a:p>
            <a:pPr indent="0" marL="0">
              <a:buNone/>
            </a:pPr>
            <a:r>
              <a:rPr lang="en-US" sz="1200" i="1" dirty="0">
                <a:solidFill>
                  <a:srgbClr val="CCCCCC"/>
                </a:solidFill>
                <a:latin typeface="Calibri" pitchFamily="34" charset="0"/>
                <a:ea typeface="Calibri" pitchFamily="34" charset="-122"/>
                <a:cs typeface="Calibri" pitchFamily="34" charset="-120"/>
              </a:rPr>
              <a:t>→ Bloques II, III, IV: la misma estructura con distinto sustrato</a:t>
            </a:r>
            <a:endParaRPr lang="en-US" sz="1200" dirty="0"/>
          </a:p>
        </p:txBody>
      </p:sp>
      <p:sp>
        <p:nvSpPr>
          <p:cNvPr id="8" name="Shape 6"/>
          <p:cNvSpPr/>
          <p:nvPr/>
        </p:nvSpPr>
        <p:spPr>
          <a:xfrm>
            <a:off x="457200" y="2441448"/>
            <a:ext cx="8229600" cy="1005840"/>
          </a:xfrm>
          <a:prstGeom prst="rect">
            <a:avLst/>
          </a:prstGeom>
          <a:solidFill>
            <a:srgbClr val="333333"/>
          </a:solidFill>
          <a:ln w="12700">
            <a:solidFill>
              <a:srgbClr val="C8860A"/>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640080" y="2496312"/>
            <a:ext cx="7863840" cy="347472"/>
          </a:xfrm>
          <a:prstGeom prst="rect">
            <a:avLst/>
          </a:prstGeom>
          <a:noFill/>
          <a:ln/>
        </p:spPr>
        <p:txBody>
          <a:bodyPr wrap="square" lIns="0" tIns="0" rIns="0" bIns="0" rtlCol="0" anchor="ctr"/>
          <a:lstStyle/>
          <a:p>
            <a:pPr indent="0" marL="0">
              <a:buNone/>
            </a:pPr>
            <a:r>
              <a:rPr lang="en-US" sz="1400" b="1" dirty="0">
                <a:solidFill>
                  <a:srgbClr val="C8860A"/>
                </a:solidFill>
                <a:latin typeface="Calibri" pitchFamily="34" charset="0"/>
                <a:ea typeface="Calibri" pitchFamily="34" charset="-122"/>
                <a:cs typeface="Calibri" pitchFamily="34" charset="-120"/>
              </a:rPr>
              <a:t>Las restricciones como sesgos inductivos</a:t>
            </a:r>
            <a:endParaRPr lang="en-US" sz="1400" dirty="0"/>
          </a:p>
        </p:txBody>
      </p:sp>
      <p:sp>
        <p:nvSpPr>
          <p:cNvPr id="10" name="Text 8"/>
          <p:cNvSpPr/>
          <p:nvPr/>
        </p:nvSpPr>
        <p:spPr>
          <a:xfrm>
            <a:off x="640080" y="2862072"/>
            <a:ext cx="7863840" cy="512064"/>
          </a:xfrm>
          <a:prstGeom prst="rect">
            <a:avLst/>
          </a:prstGeom>
          <a:noFill/>
          <a:ln/>
        </p:spPr>
        <p:txBody>
          <a:bodyPr wrap="square" lIns="0" tIns="0" rIns="0" bIns="0" rtlCol="0" anchor="t"/>
          <a:lstStyle/>
          <a:p>
            <a:pPr indent="0" marL="0">
              <a:buNone/>
            </a:pPr>
            <a:r>
              <a:rPr lang="en-US" sz="1200" i="1" dirty="0">
                <a:solidFill>
                  <a:srgbClr val="CCCCCC"/>
                </a:solidFill>
                <a:latin typeface="Calibri" pitchFamily="34" charset="0"/>
                <a:ea typeface="Calibri" pitchFamily="34" charset="-122"/>
                <a:cs typeface="Calibri" pitchFamily="34" charset="-120"/>
              </a:rPr>
              <a:t>El espacio de búsqueda siempre está reducido por predisposiciones</a:t>
            </a:r>
            <a:endParaRPr lang="en-US" sz="1200" dirty="0"/>
          </a:p>
          <a:p>
            <a:pPr indent="0" marL="0">
              <a:buNone/>
            </a:pPr>
            <a:r>
              <a:rPr lang="en-US" sz="1200" i="1" dirty="0">
                <a:solidFill>
                  <a:srgbClr val="CCCCCC"/>
                </a:solidFill>
                <a:latin typeface="Calibri" pitchFamily="34" charset="0"/>
                <a:ea typeface="Calibri" pitchFamily="34" charset="-122"/>
                <a:cs typeface="Calibri" pitchFamily="34" charset="-120"/>
              </a:rPr>
              <a:t>→ Bloque II: sesgos inductivos en asignación de crédito</a:t>
            </a:r>
            <a:endParaRPr lang="en-US" sz="1200" dirty="0"/>
          </a:p>
        </p:txBody>
      </p:sp>
      <p:sp>
        <p:nvSpPr>
          <p:cNvPr id="11" name="Shape 9"/>
          <p:cNvSpPr/>
          <p:nvPr/>
        </p:nvSpPr>
        <p:spPr>
          <a:xfrm>
            <a:off x="457200" y="3648456"/>
            <a:ext cx="8229600" cy="1005840"/>
          </a:xfrm>
          <a:prstGeom prst="rect">
            <a:avLst/>
          </a:prstGeom>
          <a:solidFill>
            <a:srgbClr val="333333"/>
          </a:solidFill>
          <a:ln w="12700">
            <a:solidFill>
              <a:srgbClr val="C8860A"/>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640080" y="3703320"/>
            <a:ext cx="7863840" cy="347472"/>
          </a:xfrm>
          <a:prstGeom prst="rect">
            <a:avLst/>
          </a:prstGeom>
          <a:noFill/>
          <a:ln/>
        </p:spPr>
        <p:txBody>
          <a:bodyPr wrap="square" lIns="0" tIns="0" rIns="0" bIns="0" rtlCol="0" anchor="ctr"/>
          <a:lstStyle/>
          <a:p>
            <a:pPr indent="0" marL="0">
              <a:buNone/>
            </a:pPr>
            <a:r>
              <a:rPr lang="en-US" sz="1400" b="1" dirty="0">
                <a:solidFill>
                  <a:srgbClr val="C8860A"/>
                </a:solidFill>
                <a:latin typeface="Calibri" pitchFamily="34" charset="0"/>
                <a:ea typeface="Calibri" pitchFamily="34" charset="-122"/>
                <a:cs typeface="Calibri" pitchFamily="34" charset="-120"/>
              </a:rPr>
              <a:t>El dilema exploración-explotación</a:t>
            </a:r>
            <a:endParaRPr lang="en-US" sz="1400" dirty="0"/>
          </a:p>
        </p:txBody>
      </p:sp>
      <p:sp>
        <p:nvSpPr>
          <p:cNvPr id="13" name="Text 11"/>
          <p:cNvSpPr/>
          <p:nvPr/>
        </p:nvSpPr>
        <p:spPr>
          <a:xfrm>
            <a:off x="640080" y="4069080"/>
            <a:ext cx="7863840" cy="512064"/>
          </a:xfrm>
          <a:prstGeom prst="rect">
            <a:avLst/>
          </a:prstGeom>
          <a:noFill/>
          <a:ln/>
        </p:spPr>
        <p:txBody>
          <a:bodyPr wrap="square" lIns="0" tIns="0" rIns="0" bIns="0" rtlCol="0" anchor="t"/>
          <a:lstStyle/>
          <a:p>
            <a:pPr indent="0" marL="0">
              <a:buNone/>
            </a:pPr>
            <a:r>
              <a:rPr lang="en-US" sz="1200" i="1" dirty="0">
                <a:solidFill>
                  <a:srgbClr val="CCCCCC"/>
                </a:solidFill>
                <a:latin typeface="Calibri" pitchFamily="34" charset="0"/>
                <a:ea typeface="Calibri" pitchFamily="34" charset="-122"/>
                <a:cs typeface="Calibri" pitchFamily="34" charset="-120"/>
              </a:rPr>
              <a:t>Tensión entre explorar lo nuevo y explotar lo conocido</a:t>
            </a:r>
            <a:endParaRPr lang="en-US" sz="1200" dirty="0"/>
          </a:p>
          <a:p>
            <a:pPr indent="0" marL="0">
              <a:buNone/>
            </a:pPr>
            <a:r>
              <a:rPr lang="en-US" sz="1200" i="1" dirty="0">
                <a:solidFill>
                  <a:srgbClr val="CCCCCC"/>
                </a:solidFill>
                <a:latin typeface="Calibri" pitchFamily="34" charset="0"/>
                <a:ea typeface="Calibri" pitchFamily="34" charset="-122"/>
                <a:cs typeface="Calibri" pitchFamily="34" charset="-120"/>
              </a:rPr>
              <a:t>→ Aparece en forrajeo, elección, aprendizaje secuencial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2: Evolución y Adaptación</dc:title>
  <dc:subject>PptxGenJS Presentation</dc:subject>
  <dc:creator>Arturo Bouzas</dc:creator>
  <cp:lastModifiedBy>Arturo Bouzas</cp:lastModifiedBy>
  <cp:revision>1</cp:revision>
  <dcterms:created xsi:type="dcterms:W3CDTF">2026-02-20T03:37:58Z</dcterms:created>
  <dcterms:modified xsi:type="dcterms:W3CDTF">2026-02-20T03:37:58Z</dcterms:modified>
</cp:coreProperties>
</file>