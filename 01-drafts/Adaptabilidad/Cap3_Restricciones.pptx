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Restricciones, Entorno 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Adaptable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3291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determina el tipo de solución conductual que selecciona la evolución?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del Comportamiento  ·  Bloque 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 (2 horas)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38912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692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del robot y el problema fundamental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18120" y="9692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438912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55448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60934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organismo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18120" y="16093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38912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19456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24942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entorno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8120" y="2249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438912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83464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88950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algoritmos adaptativos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18120" y="288950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438912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47472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5295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propiedades estadísticas del entorno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18120" y="35295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38912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114800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41696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y conclusión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18120" y="41696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del robot: el problema de la autonomía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lo conecta a la corriente. El robot trabaja con esa energía y se detiene al agotarse.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11480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73152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predecible: la toma siempre en el mismo lugar → se puede codificar la ruta.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73152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variables: necesita un algoritmo para aprender la ubicación de las tomas.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411480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86200"/>
            <a:ext cx="73152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 desconocido: algoritmos para aprender bajo incertidumbre profunda.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clave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solución es apropiada?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dos conjuntos de restricciones: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697480"/>
            <a:ext cx="3566160" cy="50292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del ORGANISMO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0" y="3337560"/>
            <a:ext cx="356616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del ENTORNO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natural opera como ese ingeniero.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Sucesos Biológicamente Importantes (SBI)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74320" y="28346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fundamental de todo agente biológico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8595360" cy="2651760"/>
          </a:xfrm>
          <a:prstGeom prst="rect">
            <a:avLst/>
          </a:prstGeom>
          <a:solidFill>
            <a:srgbClr val="0A203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2011680"/>
            <a:ext cx="2651760" cy="2423160"/>
          </a:xfrm>
          <a:prstGeom prst="rect">
            <a:avLst/>
          </a:prstGeom>
          <a:solidFill>
            <a:srgbClr val="0A7E8C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necesarios para sobrevivir y reproducirse: alimento, pareja, refugio, evitación de depredadores.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51760" cy="24231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variabilidad heredable en el acceso a los SBI genera diferencias en éxito reproductivo → adaptación.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2651760" cy="2423160"/>
          </a:xfrm>
          <a:prstGeom prst="rect">
            <a:avLst/>
          </a:prstGeom>
          <a:solidFill>
            <a:srgbClr val="0A7E8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6060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tipos de soluciones ha seleccionado la evolución para obtener SBI en diferentes contextos?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Organismo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energía y arquitectura biológica como límites de lo posible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como restricción fundamental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t₁ + t₂ + t₃ + … + tₙ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restricción lineal: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diferentes comportamientos compiten entre sí por el tiempo disponible. El tiempo es finito y no puede ser maximizado simultáneamente en varias direcciones.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3108960" cy="137160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oportunidad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la mejor alternativa a la que se renuncia al elegir una opción.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2011680" cy="54864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91840"/>
            <a:ext cx="201168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alimento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383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23160" y="3291840"/>
            <a:ext cx="2011680" cy="54864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3291840"/>
            <a:ext cx="2011680" cy="73152"/>
          </a:xfrm>
          <a:prstGeom prst="rect">
            <a:avLst/>
          </a:prstGeom>
          <a:solidFill>
            <a:srgbClr val="5B7A8A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depredadores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3383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3291840"/>
            <a:ext cx="2011680" cy="54864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291840"/>
            <a:ext cx="2011680" cy="73152"/>
          </a:xfrm>
          <a:prstGeom prst="rect">
            <a:avLst/>
          </a:prstGeom>
          <a:solidFill>
            <a:srgbClr val="5B7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Aparearse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3832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3291840"/>
            <a:ext cx="2011680" cy="54864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3291840"/>
            <a:ext cx="2011680" cy="73152"/>
          </a:xfrm>
          <a:prstGeom prst="rect">
            <a:avLst/>
          </a:prstGeom>
          <a:solidFill>
            <a:srgbClr val="5B7A8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compiten por el mismo tiempo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restricciones del organismo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6400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biológica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anatomía, metabolismo y fisiología delimitan el espacio de posibilidades: qué comportamientos son factibles y cuál es su costo energético.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1480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neuronales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del sistema nervioso determina qué información puede procesarse, a qué velocidad y con qué precisión.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4114800" cy="640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cognitivos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algoritmos de aprendizaje no son gratuitos: requieren memoria, capacidad de procesamiento y tiempo para operar. Mayor sofisticación = mayor costo.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80360"/>
            <a:ext cx="4114800" cy="6400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posibilidades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todos los comportamientos que el organismo puede ejecutar dado su diseño biológico. La evolución solo puede seleccionar dentro de este espacio.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Entorno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 y variabilidad como determinantes del tipo de solución evolutiva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¿Constante o variable? La pregunta central del entorno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propiedad más fundamental del entorno es si las condiciones que determinan la disponibilidad de los SBI son constantes o variables en el tiempo.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291840"/>
          </a:xfrm>
          <a:prstGeom prst="rect">
            <a:avLst/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114800" cy="502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CONSTANTE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evolutiva: </a:t>
            </a:r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ADAPTADO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respuesta se codifica directamente en el genoma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requiere aprendizaje individual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Ejemplo: reflejo de retirada ante el dolor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Ejemplo: impronta en patitos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329184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4114800" cy="50292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08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VARIABLE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evolutiva: </a:t>
            </a:r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ADAPTABLE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codifican algoritmos, no respuestas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organismo ajusta su conducta en tiempo real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Aprovecha la estructura particular de cada entorno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aprendizaje individual es posible y ventajoso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comportamiento adaptado vs. adaptable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73152" cy="1828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Reflejo de retirada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calor–daño tisular ha sido constante por millones de años. La respuesta correcta siempre fue la misma.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73152" cy="1828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3752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Impronta en patitos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17373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objeto en movimiento era invariablemente la madre. La respuesta fija era óptima dado ese entorno estable.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73152" cy="18288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Forrajeo de la abeja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" y="37033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del néctar varía. Necesita algoritmos para aprender qué flores visitar según la rentabilidad actual.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80360"/>
            <a:ext cx="73152" cy="18288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 de evitación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73752" y="37033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fuentes de peligro varían por entorno. El organismo aprende qué señales predicen depredadores en su contexto.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Algoritmos Adaptativos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Reactivos vs. aprendizaje: una distinción lógica, no de complejidad superficial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reactivos: control local e inmediato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120640" cy="39319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la bacteria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glucosa está dispersa de manera impredecible en el intestino. La bacteria carece de receptores que le permitan detectar la fuente a distancia.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754880" cy="1645920"/>
          </a:xfrm>
          <a:prstGeom prst="rect">
            <a:avLst/>
          </a:prstGeom>
          <a:solidFill>
            <a:srgbClr val="0A7E8C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ascenso de colina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concentración ahora &gt; concentración antes: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continuar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concentración ahora &lt; concentración antes: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cambiar dirección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memoria. Usa solo información local del momento presente.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868680"/>
            <a:ext cx="3200400" cy="393192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868680"/>
            <a:ext cx="32004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868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1463040"/>
            <a:ext cx="182880" cy="18288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 requerida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2066544"/>
            <a:ext cx="182880" cy="18288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020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completamente local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2670048"/>
            <a:ext cx="182880" cy="18288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gradientes inmediatos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273552"/>
            <a:ext cx="182880" cy="18288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227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 cuando el control debe ser rápido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3877056"/>
            <a:ext cx="182880" cy="18288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sin estructura causal explotable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aprendizaje: integrar experiencia pasada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solo tiene sentido cuando el entorno tiene estructura causal que puede detectarse y aprovecharse.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2011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temporal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7432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que recuerda dónde encontró alimento ayer puede regresar mañana.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2011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0876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señales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27432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Aprendió que cierto sonido precede a un depredador y puede anticiparse.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011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0876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causal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274320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qué acciones propias producen qué consecuencias y puede controlar el entorno.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7673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respecto a algoritmos reactivos: </a:t>
            </a:r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de complejidad superficial sino de lógica. El aprendizaje solo tiene sentido si el entorno tiene estructura que pueda detectarse y aprovecharse. Si no la tiene, los algoritmos reactivos son suficientes.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Propiedades Estadísticas del Entorno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dimensiones sobre las que un entorno puede tener estructura aprovechable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propiedades en perspectiva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entorno tiene regularidad en alguna de estas dimensiones y el organismo carece del mecanismo para detectarla, hay una oportunidad adaptativa sin explotar.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50876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57200" cy="15087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08760"/>
            <a:ext cx="457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ocurren los SBI?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150876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08760"/>
            <a:ext cx="457200" cy="15087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08760"/>
            <a:ext cx="457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ocurren?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150876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08760"/>
            <a:ext cx="457200" cy="15087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08760"/>
            <a:ext cx="457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señales y con qué conductas?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2743200" cy="150876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00400"/>
            <a:ext cx="457200" cy="15087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200400"/>
            <a:ext cx="457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estado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cambia el entorno?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2743200" cy="150876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200400"/>
            <a:ext cx="457200" cy="15087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200400"/>
            <a:ext cx="457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4904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4904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frecuencia ocurren?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2743200" cy="150876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200400"/>
            <a:ext cx="457200" cy="150876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200400"/>
            <a:ext cx="457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7512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predecibles son?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1: Tiempo de ocurrencia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SBI se distribuyen uniformemente en el tiempo o se concentran en ciertos períodos?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023360" cy="685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57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Regularidad: Las flores abren al amanecer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965960"/>
            <a:ext cx="438912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 abejas salen a forrajear al amanecer, no al mediodía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023360" cy="685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Regularidad: Los búhos cazan de noche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2788920"/>
            <a:ext cx="438912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880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 búhos concentran toda su actividad de caza en oscuridad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023360" cy="6858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03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Regularidad: Los restaurantes tienen horarios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3611880"/>
            <a:ext cx="4389120" cy="6858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Buscamos comida en ventanas temporales, no continuamente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0A7E8C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4531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requerido: medir intervalos y detectar periodicidades (relojes circadianos, sensibilidad a patrones temporales).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2: Lugar de ocurrencia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SBI se distribuyen uniformemente en el espacio o se concentran en ciertos parches?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2743200" cy="256032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1168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21488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Regresar a sitios productivos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265176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alimento se concentra en zonas específicas. El organismo que recuerda dónde encontró recursos puede regresar antes de explorar al azar.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743200" cy="256032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01168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21488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lugares peligrosos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265176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depredadores frecuentan ciertos territorios. Memorizar las zonas de alto riesgo permite reducir la exposición al peligro.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743200" cy="256032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01168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21488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estratégica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651760"/>
            <a:ext cx="25237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no visitadas tienen alta probabilidad de contener recursos no descubiertos. El balance exploración/explotación requiere mapa espacial.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3: Covarianza con el entorno y con el comportamiento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160520" cy="3474720"/>
          </a:xfrm>
          <a:prstGeom prst="rect">
            <a:avLst/>
          </a:prstGeom>
          <a:solidFill>
            <a:srgbClr val="1A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9888"/>
            <a:ext cx="4160520" cy="4572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898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 · Con señales del entorno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3886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SBI están correlacionados con otras características del mundo.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Nubes oscuras → lluvia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Ciertos olores → depredador cercano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Coloración de oruga → toxicidad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que aprende estas relaciones puede anticipar los SBI antes de encontrarlos directamente.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4160520" cy="3474720"/>
          </a:xfrm>
          <a:prstGeom prst="rect">
            <a:avLst/>
          </a:prstGeom>
          <a:solidFill>
            <a:srgbClr val="1A1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89888"/>
            <a:ext cx="416052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3898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· Con el comportamiento propio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938528"/>
            <a:ext cx="3886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SBI solo ocurren si se ejecutan ciertas respuestas.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mascota obtiene comida si realiza conductas específicas.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transporte requiere abrir una aplicación.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qué respuestas producen qué consecuencias permite no solo predecir, sino controlar activamente la ocurrencia de SBI.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lógica: detectar qué predice qué. Distinto problema de asignación de crédito.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4: Detección de cambios en el estado del entorno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propiedades estadísticas del entorno han cambiado o lo observado es simplemente ruido?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10058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299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inferencia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reducción en la disponibilidad de presas: ¿variación aleatoria normal o cambio real en el estado del entorno?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4114800" cy="169164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108960"/>
            <a:ext cx="73152" cy="169164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Extinción (clásica)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reforzador previamente presente desaparece. El organismo debe detectar que el estado del mundo cambió, no que falló su respuesta.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4114800" cy="169164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108960"/>
            <a:ext cx="73152" cy="1691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general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recibir mensajes de alguien cercano: ¿fortuito o cambio genuino en la relación? El mismo problema estadístico, distinto dominio.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5: Tasa de ocurrencia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saber si un SBI ocurre — importa con qué frecuencia.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1371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abeja en el jardín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suficiente saber que hay flores con néctar. Importa la tasa —cuántas flores por minuto— porque esa tasa determina la rentabilidad de explotar esa zona frente a explorar otra.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429000"/>
            <a:ext cx="2743200" cy="13716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42900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566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39776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Permanecer en la zona actual si su tasa es alta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429000"/>
            <a:ext cx="2743200" cy="13716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42900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3566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39776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zonas nuevas si la tasa actual es baja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429000"/>
            <a:ext cx="2743200" cy="13716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429000"/>
            <a:ext cx="2743200" cy="731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3566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tasas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36208" y="397764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necesita integrar tasa local vs. tasa esperada en el entorno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noción de tasa es central en las explicaciones contemporáneas del comportamiento de elección (Bloque III).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6: Incertidumbre esperada e inesperada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160520" cy="3474720"/>
          </a:xfrm>
          <a:prstGeom prst="rect">
            <a:avLst/>
          </a:prstGeom>
          <a:solidFill>
            <a:srgbClr val="1A20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89888"/>
            <a:ext cx="4160520" cy="50292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89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ESPERADA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estable: existe una distribución de probabilidad constante que la describe.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camión no pasa siempre exactamente a la misma hora, pero la variación es predecible: tiene una distribución con media y dispersión conocidas.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organismo puede aprender esta distribución y calibrar su comportamiento.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89888"/>
            <a:ext cx="4160520" cy="3474720"/>
          </a:xfrm>
          <a:prstGeom prst="rect">
            <a:avLst/>
          </a:prstGeom>
          <a:solidFill>
            <a:srgbClr val="201A1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89888"/>
            <a:ext cx="4160520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389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INESPERADA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VOLÁTIL: los parámetros de la distribución cambian según otra distribución.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de la Ciudad de México: la probabilidad de que el tren llegue en 2 minutos es alta en hora pico y baja en horas de poca demanda.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distribución que cambia según otra distribución → requiere mecanismos de aprendizaje especializados (Bloque V).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Síntesis: las 6 propiedades y sus mecanismos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22960"/>
          <a:ext cx="8686800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743200"/>
                <a:gridCol w="822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 requerido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Tiempo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ocurren los SBI?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intervalos, detectar periodicidades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Lugar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¿Dónde ocurren?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espacial, mapas cognitivos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3A. Covarianza entorno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señales los predicen?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Condicionamiento clásico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3B. Covarianza conducta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acciones los producen?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Condicionamiento instrumental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Cambios de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¿Cambió el entorno o es ruido?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Inferencia de cambio de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II/V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tan frecuentes son?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de tasas, elección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Incertidumbre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¿Estable o volátil?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en entornos volátiles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mecanismo es una solución a un problema estadístico específico que el entorno plantea.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del libro: cada bloque es una respuesta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capítulo provee el mapa de navegación para el curso completo.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16002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502920" cy="16002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9844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4356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reactivos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local sin integración de experiencia (bacteria, quimiotaxis)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743200" cy="16002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98448"/>
            <a:ext cx="502920" cy="16002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29844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14356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Aprendizaje: tiempo, lugar, señales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19385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temporal, espacial y señales predictivas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298448"/>
            <a:ext cx="2743200" cy="16002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98448"/>
            <a:ext cx="502920" cy="1600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29844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BIII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14356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 e instrumental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19385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 con el comportamiento propio y tasas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81528"/>
            <a:ext cx="2743200" cy="16002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81528"/>
            <a:ext cx="502920" cy="1600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08152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72160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de cadenas de acciones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743200" cy="16002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81528"/>
            <a:ext cx="502920" cy="1600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08152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9476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volátiles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94760" y="372160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inesperada, cambios de estado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081528"/>
            <a:ext cx="2743200" cy="160020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081528"/>
            <a:ext cx="502920" cy="16002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081528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y valor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20840" y="372160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preferencias que determinan el valor de los SBI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2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unificadora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801368"/>
            <a:ext cx="237744" cy="23774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19072"/>
            <a:ext cx="8092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entornos constantes → comportamiento adaptado (genéticamente codificado, sin aprendizaje individual).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13432"/>
            <a:ext cx="8595360" cy="5486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423160"/>
            <a:ext cx="237744" cy="23774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40864"/>
            <a:ext cx="8092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entornos variables → comportamiento adaptable (algoritmos que ajustan la conducta a la estructura del entorno).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8595360" cy="54864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044952"/>
            <a:ext cx="237744" cy="237744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962656"/>
            <a:ext cx="8092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adaptable: reactivos (sin memoria) vs. aprendizaje (integran experiencia cuando hay estructura causal).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557016"/>
            <a:ext cx="8595360" cy="54864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66674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584448"/>
            <a:ext cx="8092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problema estadístico es la condición para entender por qué el mecanismo tiene la forma que tiene.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Psicología del Comportamiento  ·  Capítulo 3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discusión y cierre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502920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esencial entre un algoritmo reactivo y uno de aprendizaje? ¿Por qué no siempre es mejor el aprendizaje?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502920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745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19659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impronta en patitos: ¿por qué es 'adaptado' y no 'adaptable'? ¿Qué condiciones cambiarían esto?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502920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803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7824" y="2971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Piensen en una conducta humana y clasifíquenla: ¿qué tipo de estructura estadística del entorno está aprovechando?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0F8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86200"/>
            <a:ext cx="502920" cy="8686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8862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7824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 distinguir la propiedad 3A (señales del entorno) de la 3B (consecuencias de acciones)?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3: Restricciones, Entorno y Comportamiento Adaptable</dc:title>
  <dc:subject>PptxGenJS Presentation</dc:subject>
  <dc:creator>PptxGenJS</dc:creator>
  <cp:lastModifiedBy>PptxGenJS</cp:lastModifiedBy>
  <cp:revision>1</cp:revision>
  <dcterms:created xsi:type="dcterms:W3CDTF">2026-02-27T04:55:34Z</dcterms:created>
  <dcterms:modified xsi:type="dcterms:W3CDTF">2026-02-27T04:55:34Z</dcterms:modified>
</cp:coreProperties>
</file>