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457"/>
        </a:solidFill>
      </p:bgPr>
    </p:bg>
    <p:spTree>
      <p:nvGrpSpPr>
        <p:cNvPr id="1" name=""/>
        <p:cNvGrpSpPr/>
        <p:nvPr/>
      </p:nvGrpSpPr>
      <p:grpSpPr>
        <a:xfrm>
          <a:off x="0" y="0"/>
          <a:ext cx="0" cy="0"/>
          <a:chOff x="0" y="0"/>
          <a:chExt cx="0" cy="0"/>
        </a:xfrm>
      </p:grpSpPr>
      <p:sp>
        <p:nvSpPr>
          <p:cNvPr id="2" name="Shape 0"/>
          <p:cNvSpPr/>
          <p:nvPr/>
        </p:nvSpPr>
        <p:spPr>
          <a:xfrm>
            <a:off x="0" y="4389120"/>
            <a:ext cx="9144000" cy="754380"/>
          </a:xfrm>
          <a:prstGeom prst="rect">
            <a:avLst/>
          </a:prstGeom>
          <a:solidFill>
            <a:srgbClr val="2C5282"/>
          </a:solidFill>
          <a:ln w="12700">
            <a:solidFill>
              <a:srgbClr val="2C5282"/>
            </a:solidFill>
            <a:prstDash val="solid"/>
          </a:ln>
        </p:spPr>
      </p:sp>
      <p:sp>
        <p:nvSpPr>
          <p:cNvPr id="3" name="Shape 1"/>
          <p:cNvSpPr/>
          <p:nvPr/>
        </p:nvSpPr>
        <p:spPr>
          <a:xfrm>
            <a:off x="0" y="0"/>
            <a:ext cx="164592" cy="5143500"/>
          </a:xfrm>
          <a:prstGeom prst="rect">
            <a:avLst/>
          </a:prstGeom>
          <a:solidFill>
            <a:srgbClr val="C05621"/>
          </a:solidFill>
          <a:ln w="12700">
            <a:solidFill>
              <a:srgbClr val="C05621"/>
            </a:solidFill>
            <a:prstDash val="solid"/>
          </a:ln>
        </p:spPr>
      </p:sp>
      <p:sp>
        <p:nvSpPr>
          <p:cNvPr id="4" name="Text 2"/>
          <p:cNvSpPr/>
          <p:nvPr/>
        </p:nvSpPr>
        <p:spPr>
          <a:xfrm>
            <a:off x="365760" y="731520"/>
            <a:ext cx="8229600" cy="457200"/>
          </a:xfrm>
          <a:prstGeom prst="rect">
            <a:avLst/>
          </a:prstGeom>
          <a:noFill/>
          <a:ln/>
        </p:spPr>
        <p:txBody>
          <a:bodyPr wrap="square" rtlCol="0" anchor="ctr"/>
          <a:lstStyle/>
          <a:p>
            <a:pPr indent="0" marL="0">
              <a:buNone/>
            </a:pPr>
            <a:r>
              <a:rPr lang="en-US" sz="1400" b="1" spc="300" kern="0" dirty="0">
                <a:solidFill>
                  <a:srgbClr val="AECDE8"/>
                </a:solidFill>
                <a:latin typeface="Calibri" pitchFamily="34" charset="0"/>
                <a:ea typeface="Calibri" pitchFamily="34" charset="-122"/>
                <a:cs typeface="Calibri" pitchFamily="34" charset="-120"/>
              </a:rPr>
              <a:t>Capítulo 15</a:t>
            </a:r>
            <a:endParaRPr lang="en-US" sz="1400" dirty="0"/>
          </a:p>
        </p:txBody>
      </p:sp>
      <p:sp>
        <p:nvSpPr>
          <p:cNvPr id="5" name="Text 3"/>
          <p:cNvSpPr/>
          <p:nvPr/>
        </p:nvSpPr>
        <p:spPr>
          <a:xfrm>
            <a:off x="365760" y="1234440"/>
            <a:ext cx="8412480" cy="1920240"/>
          </a:xfrm>
          <a:prstGeom prst="rect">
            <a:avLst/>
          </a:prstGeom>
          <a:noFill/>
          <a:ln/>
        </p:spPr>
        <p:txBody>
          <a:bodyPr wrap="square"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El Control Local del</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Comportamiento de Elección</a:t>
            </a:r>
            <a:endParaRPr lang="en-US" sz="3600" dirty="0"/>
          </a:p>
        </p:txBody>
      </p:sp>
      <p:sp>
        <p:nvSpPr>
          <p:cNvPr id="6" name="Text 4"/>
          <p:cNvSpPr/>
          <p:nvPr/>
        </p:nvSpPr>
        <p:spPr>
          <a:xfrm>
            <a:off x="365760" y="3246120"/>
            <a:ext cx="8229600" cy="502920"/>
          </a:xfrm>
          <a:prstGeom prst="rect">
            <a:avLst/>
          </a:prstGeom>
          <a:noFill/>
          <a:ln/>
        </p:spPr>
        <p:txBody>
          <a:bodyPr wrap="square" rtlCol="0" anchor="ctr"/>
          <a:lstStyle/>
          <a:p>
            <a:pPr indent="0" marL="0">
              <a:buNone/>
            </a:pPr>
            <a:r>
              <a:rPr lang="en-US" sz="1700" i="1" dirty="0">
                <a:solidFill>
                  <a:srgbClr val="AECDE8"/>
                </a:solidFill>
                <a:latin typeface="Calibri" pitchFamily="34" charset="0"/>
                <a:ea typeface="Calibri" pitchFamily="34" charset="-122"/>
                <a:cs typeface="Calibri" pitchFamily="34" charset="-120"/>
              </a:rPr>
              <a:t>Maximización Momentánea  ·  Modelo de Mejoramiento</a:t>
            </a:r>
            <a:endParaRPr lang="en-US" sz="1700" dirty="0"/>
          </a:p>
        </p:txBody>
      </p:sp>
      <p:sp>
        <p:nvSpPr>
          <p:cNvPr id="7" name="Text 5"/>
          <p:cNvSpPr/>
          <p:nvPr/>
        </p:nvSpPr>
        <p:spPr>
          <a:xfrm>
            <a:off x="365760" y="4572000"/>
            <a:ext cx="8412480" cy="320040"/>
          </a:xfrm>
          <a:prstGeom prst="rect">
            <a:avLst/>
          </a:prstGeom>
          <a:noFill/>
          <a:ln/>
        </p:spPr>
        <p:txBody>
          <a:bodyPr wrap="square" rtlCol="0" anchor="ctr"/>
          <a:lstStyle/>
          <a:p>
            <a:pPr indent="0" marL="0">
              <a:buNone/>
            </a:pPr>
            <a:r>
              <a:rPr lang="en-US" sz="1100" dirty="0">
                <a:solidFill>
                  <a:srgbClr val="AECDE8"/>
                </a:solidFill>
                <a:latin typeface="Calibri" pitchFamily="34" charset="0"/>
                <a:ea typeface="Calibri" pitchFamily="34" charset="-122"/>
                <a:cs typeface="Calibri" pitchFamily="34" charset="-120"/>
              </a:rPr>
              <a:t>A. Bouzas · Aprendizaje y Comportamiento Adaptable: Principios y Modelos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C5282"/>
          </a:solidFill>
          <a:ln/>
        </p:spPr>
      </p:sp>
      <p:sp>
        <p:nvSpPr>
          <p:cNvPr id="3" name="Text 1"/>
          <p:cNvSpPr/>
          <p:nvPr/>
        </p:nvSpPr>
        <p:spPr>
          <a:xfrm>
            <a:off x="201168" y="164592"/>
            <a:ext cx="8778240" cy="566928"/>
          </a:xfrm>
          <a:prstGeom prst="rect">
            <a:avLst/>
          </a:prstGeom>
          <a:noFill/>
          <a:ln/>
        </p:spPr>
        <p:txBody>
          <a:bodyPr wrap="square" lIns="0" tIns="0" rIns="0" bIns="0" rtlCol="0" anchor="ctr"/>
          <a:lstStyle/>
          <a:p>
            <a:pPr indent="0" marL="0">
              <a:buNone/>
            </a:pPr>
            <a:r>
              <a:rPr lang="en-US" sz="2600" b="1" dirty="0">
                <a:solidFill>
                  <a:srgbClr val="2C5282"/>
                </a:solidFill>
                <a:latin typeface="Calibri" pitchFamily="34" charset="0"/>
                <a:ea typeface="Calibri" pitchFamily="34" charset="-122"/>
                <a:cs typeface="Calibri" pitchFamily="34" charset="-120"/>
              </a:rPr>
              <a:t>Estructura del capítulo</a:t>
            </a:r>
            <a:endParaRPr lang="en-US" sz="2600" dirty="0"/>
          </a:p>
        </p:txBody>
      </p:sp>
      <p:sp>
        <p:nvSpPr>
          <p:cNvPr id="4" name="Shape 2"/>
          <p:cNvSpPr/>
          <p:nvPr/>
        </p:nvSpPr>
        <p:spPr>
          <a:xfrm>
            <a:off x="201168" y="777240"/>
            <a:ext cx="8741664" cy="0"/>
          </a:xfrm>
          <a:prstGeom prst="line">
            <a:avLst/>
          </a:prstGeom>
          <a:noFill/>
          <a:ln w="19050">
            <a:solidFill>
              <a:srgbClr val="2C5282"/>
            </a:solidFill>
            <a:prstDash val="solid"/>
          </a:ln>
        </p:spPr>
      </p:sp>
      <p:sp>
        <p:nvSpPr>
          <p:cNvPr id="5" name="Shape 3"/>
          <p:cNvSpPr/>
          <p:nvPr/>
        </p:nvSpPr>
        <p:spPr>
          <a:xfrm>
            <a:off x="201168" y="914400"/>
            <a:ext cx="8741664" cy="804672"/>
          </a:xfrm>
          <a:prstGeom prst="rect">
            <a:avLst/>
          </a:prstGeom>
          <a:solidFill>
            <a:srgbClr val="EBF4FF"/>
          </a:solidFill>
          <a:ln w="19050">
            <a:solidFill>
              <a:srgbClr val="2C5282"/>
            </a:solidFill>
            <a:prstDash val="solid"/>
          </a:ln>
          <a:effectLst>
            <a:outerShdw sx="100000" sy="100000" kx="0" ky="0" algn="bl" rotWithShape="0" blurRad="76200" dist="38100" dir="8100000">
              <a:srgbClr val="000000">
                <a:alpha val="10000"/>
              </a:srgbClr>
            </a:outerShdw>
          </a:effectLst>
        </p:spPr>
      </p:sp>
      <p:sp>
        <p:nvSpPr>
          <p:cNvPr id="6" name="Shape 4"/>
          <p:cNvSpPr/>
          <p:nvPr/>
        </p:nvSpPr>
        <p:spPr>
          <a:xfrm>
            <a:off x="201168" y="914400"/>
            <a:ext cx="502920" cy="804672"/>
          </a:xfrm>
          <a:prstGeom prst="rect">
            <a:avLst/>
          </a:prstGeom>
          <a:solidFill>
            <a:srgbClr val="2C5282"/>
          </a:solidFill>
          <a:ln w="12700">
            <a:solidFill>
              <a:srgbClr val="2C5282"/>
            </a:solidFill>
            <a:prstDash val="solid"/>
          </a:ln>
        </p:spPr>
      </p:sp>
      <p:sp>
        <p:nvSpPr>
          <p:cNvPr id="7" name="Text 5"/>
          <p:cNvSpPr/>
          <p:nvPr/>
        </p:nvSpPr>
        <p:spPr>
          <a:xfrm>
            <a:off x="201168" y="1078992"/>
            <a:ext cx="50292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I</a:t>
            </a:r>
            <a:endParaRPr lang="en-US" sz="2000" dirty="0"/>
          </a:p>
        </p:txBody>
      </p:sp>
      <p:sp>
        <p:nvSpPr>
          <p:cNvPr id="8" name="Text 6"/>
          <p:cNvSpPr/>
          <p:nvPr/>
        </p:nvSpPr>
        <p:spPr>
          <a:xfrm>
            <a:off x="795528" y="1115568"/>
            <a:ext cx="7955280" cy="457200"/>
          </a:xfrm>
          <a:prstGeom prst="rect">
            <a:avLst/>
          </a:prstGeom>
          <a:noFill/>
          <a:ln/>
        </p:spPr>
        <p:txBody>
          <a:bodyPr wrap="square" lIns="0" tIns="0" rIns="0" bIns="0" rtlCol="0" anchor="ctr"/>
          <a:lstStyle/>
          <a:p>
            <a:pPr indent="0" marL="0">
              <a:buNone/>
            </a:pPr>
            <a:r>
              <a:rPr lang="en-US" sz="1600" dirty="0">
                <a:solidFill>
                  <a:srgbClr val="1A202C"/>
                </a:solidFill>
                <a:latin typeface="Calibri" pitchFamily="34" charset="0"/>
                <a:ea typeface="Calibri" pitchFamily="34" charset="-122"/>
                <a:cs typeface="Calibri" pitchFamily="34" charset="-120"/>
              </a:rPr>
              <a:t>El problema: ¿qué proceso genera la igualación?</a:t>
            </a:r>
            <a:endParaRPr lang="en-US" sz="1600" dirty="0"/>
          </a:p>
        </p:txBody>
      </p:sp>
      <p:sp>
        <p:nvSpPr>
          <p:cNvPr id="9" name="Shape 7"/>
          <p:cNvSpPr/>
          <p:nvPr/>
        </p:nvSpPr>
        <p:spPr>
          <a:xfrm>
            <a:off x="201168" y="1874520"/>
            <a:ext cx="8741664" cy="804672"/>
          </a:xfrm>
          <a:prstGeom prst="rect">
            <a:avLst/>
          </a:prstGeom>
          <a:solidFill>
            <a:srgbClr val="FFF3E8"/>
          </a:solidFill>
          <a:ln w="19050">
            <a:solidFill>
              <a:srgbClr val="C05621"/>
            </a:solidFill>
            <a:prstDash val="solid"/>
          </a:ln>
          <a:effectLst>
            <a:outerShdw sx="100000" sy="100000" kx="0" ky="0" algn="bl" rotWithShape="0" blurRad="76200" dist="38100" dir="8100000">
              <a:srgbClr val="000000">
                <a:alpha val="10000"/>
              </a:srgbClr>
            </a:outerShdw>
          </a:effectLst>
        </p:spPr>
      </p:sp>
      <p:sp>
        <p:nvSpPr>
          <p:cNvPr id="10" name="Shape 8"/>
          <p:cNvSpPr/>
          <p:nvPr/>
        </p:nvSpPr>
        <p:spPr>
          <a:xfrm>
            <a:off x="201168" y="1874520"/>
            <a:ext cx="502920" cy="804672"/>
          </a:xfrm>
          <a:prstGeom prst="rect">
            <a:avLst/>
          </a:prstGeom>
          <a:solidFill>
            <a:srgbClr val="C05621"/>
          </a:solidFill>
          <a:ln w="12700">
            <a:solidFill>
              <a:srgbClr val="C05621"/>
            </a:solidFill>
            <a:prstDash val="solid"/>
          </a:ln>
        </p:spPr>
      </p:sp>
      <p:sp>
        <p:nvSpPr>
          <p:cNvPr id="11" name="Text 9"/>
          <p:cNvSpPr/>
          <p:nvPr/>
        </p:nvSpPr>
        <p:spPr>
          <a:xfrm>
            <a:off x="201168" y="2039112"/>
            <a:ext cx="50292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II</a:t>
            </a:r>
            <a:endParaRPr lang="en-US" sz="2000" dirty="0"/>
          </a:p>
        </p:txBody>
      </p:sp>
      <p:sp>
        <p:nvSpPr>
          <p:cNvPr id="12" name="Text 10"/>
          <p:cNvSpPr/>
          <p:nvPr/>
        </p:nvSpPr>
        <p:spPr>
          <a:xfrm>
            <a:off x="795528" y="2075688"/>
            <a:ext cx="7955280" cy="457200"/>
          </a:xfrm>
          <a:prstGeom prst="rect">
            <a:avLst/>
          </a:prstGeom>
          <a:noFill/>
          <a:ln/>
        </p:spPr>
        <p:txBody>
          <a:bodyPr wrap="square" lIns="0" tIns="0" rIns="0" bIns="0" rtlCol="0" anchor="ctr"/>
          <a:lstStyle/>
          <a:p>
            <a:pPr indent="0" marL="0">
              <a:buNone/>
            </a:pPr>
            <a:r>
              <a:rPr lang="en-US" sz="1600" dirty="0">
                <a:solidFill>
                  <a:srgbClr val="1A202C"/>
                </a:solidFill>
                <a:latin typeface="Calibri" pitchFamily="34" charset="0"/>
                <a:ea typeface="Calibri" pitchFamily="34" charset="-122"/>
                <a:cs typeface="Calibri" pitchFamily="34" charset="-120"/>
              </a:rPr>
              <a:t>Maximización Momentánea — predicción y refutación</a:t>
            </a:r>
            <a:endParaRPr lang="en-US" sz="1600" dirty="0"/>
          </a:p>
        </p:txBody>
      </p:sp>
      <p:sp>
        <p:nvSpPr>
          <p:cNvPr id="13" name="Shape 11"/>
          <p:cNvSpPr/>
          <p:nvPr/>
        </p:nvSpPr>
        <p:spPr>
          <a:xfrm>
            <a:off x="201168" y="2834640"/>
            <a:ext cx="8741664" cy="804672"/>
          </a:xfrm>
          <a:prstGeom prst="rect">
            <a:avLst/>
          </a:prstGeom>
          <a:solidFill>
            <a:srgbClr val="E6F4ED"/>
          </a:solidFill>
          <a:ln w="19050">
            <a:solidFill>
              <a:srgbClr val="276749"/>
            </a:solidFill>
            <a:prstDash val="solid"/>
          </a:ln>
          <a:effectLst>
            <a:outerShdw sx="100000" sy="100000" kx="0" ky="0" algn="bl" rotWithShape="0" blurRad="76200" dist="38100" dir="8100000">
              <a:srgbClr val="000000">
                <a:alpha val="10000"/>
              </a:srgbClr>
            </a:outerShdw>
          </a:effectLst>
        </p:spPr>
      </p:sp>
      <p:sp>
        <p:nvSpPr>
          <p:cNvPr id="14" name="Shape 12"/>
          <p:cNvSpPr/>
          <p:nvPr/>
        </p:nvSpPr>
        <p:spPr>
          <a:xfrm>
            <a:off x="201168" y="2834640"/>
            <a:ext cx="502920" cy="804672"/>
          </a:xfrm>
          <a:prstGeom prst="rect">
            <a:avLst/>
          </a:prstGeom>
          <a:solidFill>
            <a:srgbClr val="276749"/>
          </a:solidFill>
          <a:ln w="12700">
            <a:solidFill>
              <a:srgbClr val="276749"/>
            </a:solidFill>
            <a:prstDash val="solid"/>
          </a:ln>
        </p:spPr>
      </p:sp>
      <p:sp>
        <p:nvSpPr>
          <p:cNvPr id="15" name="Text 13"/>
          <p:cNvSpPr/>
          <p:nvPr/>
        </p:nvSpPr>
        <p:spPr>
          <a:xfrm>
            <a:off x="201168" y="2999232"/>
            <a:ext cx="50292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III</a:t>
            </a:r>
            <a:endParaRPr lang="en-US" sz="2000" dirty="0"/>
          </a:p>
        </p:txBody>
      </p:sp>
      <p:sp>
        <p:nvSpPr>
          <p:cNvPr id="16" name="Text 14"/>
          <p:cNvSpPr/>
          <p:nvPr/>
        </p:nvSpPr>
        <p:spPr>
          <a:xfrm>
            <a:off x="795528" y="3035808"/>
            <a:ext cx="7955280" cy="457200"/>
          </a:xfrm>
          <a:prstGeom prst="rect">
            <a:avLst/>
          </a:prstGeom>
          <a:noFill/>
          <a:ln/>
        </p:spPr>
        <p:txBody>
          <a:bodyPr wrap="square" lIns="0" tIns="0" rIns="0" bIns="0" rtlCol="0" anchor="ctr"/>
          <a:lstStyle/>
          <a:p>
            <a:pPr indent="0" marL="0">
              <a:buNone/>
            </a:pPr>
            <a:r>
              <a:rPr lang="en-US" sz="1600" dirty="0">
                <a:solidFill>
                  <a:srgbClr val="1A202C"/>
                </a:solidFill>
                <a:latin typeface="Calibri" pitchFamily="34" charset="0"/>
                <a:ea typeface="Calibri" pitchFamily="34" charset="-122"/>
                <a:cs typeface="Calibri" pitchFamily="34" charset="-120"/>
              </a:rPr>
              <a:t>Modelo de Mejoramiento — formalización y evidencia</a:t>
            </a:r>
            <a:endParaRPr lang="en-US" sz="1600" dirty="0"/>
          </a:p>
        </p:txBody>
      </p:sp>
      <p:sp>
        <p:nvSpPr>
          <p:cNvPr id="17" name="Shape 15"/>
          <p:cNvSpPr/>
          <p:nvPr/>
        </p:nvSpPr>
        <p:spPr>
          <a:xfrm>
            <a:off x="201168" y="3794760"/>
            <a:ext cx="8741664" cy="804672"/>
          </a:xfrm>
          <a:prstGeom prst="rect">
            <a:avLst/>
          </a:prstGeom>
          <a:solidFill>
            <a:srgbClr val="F4F4F4"/>
          </a:solidFill>
          <a:ln w="19050">
            <a:solidFill>
              <a:srgbClr val="718096"/>
            </a:solidFill>
            <a:prstDash val="solid"/>
          </a:ln>
          <a:effectLst>
            <a:outerShdw sx="100000" sy="100000" kx="0" ky="0" algn="bl" rotWithShape="0" blurRad="76200" dist="38100" dir="8100000">
              <a:srgbClr val="000000">
                <a:alpha val="10000"/>
              </a:srgbClr>
            </a:outerShdw>
          </a:effectLst>
        </p:spPr>
      </p:sp>
      <p:sp>
        <p:nvSpPr>
          <p:cNvPr id="18" name="Shape 16"/>
          <p:cNvSpPr/>
          <p:nvPr/>
        </p:nvSpPr>
        <p:spPr>
          <a:xfrm>
            <a:off x="201168" y="3794760"/>
            <a:ext cx="502920" cy="804672"/>
          </a:xfrm>
          <a:prstGeom prst="rect">
            <a:avLst/>
          </a:prstGeom>
          <a:solidFill>
            <a:srgbClr val="718096"/>
          </a:solidFill>
          <a:ln w="12700">
            <a:solidFill>
              <a:srgbClr val="718096"/>
            </a:solidFill>
            <a:prstDash val="solid"/>
          </a:ln>
        </p:spPr>
      </p:sp>
      <p:sp>
        <p:nvSpPr>
          <p:cNvPr id="19" name="Text 17"/>
          <p:cNvSpPr/>
          <p:nvPr/>
        </p:nvSpPr>
        <p:spPr>
          <a:xfrm>
            <a:off x="201168" y="3959352"/>
            <a:ext cx="50292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IV</a:t>
            </a:r>
            <a:endParaRPr lang="en-US" sz="2000" dirty="0"/>
          </a:p>
        </p:txBody>
      </p:sp>
      <p:sp>
        <p:nvSpPr>
          <p:cNvPr id="20" name="Text 18"/>
          <p:cNvSpPr/>
          <p:nvPr/>
        </p:nvSpPr>
        <p:spPr>
          <a:xfrm>
            <a:off x="795528" y="3995928"/>
            <a:ext cx="7955280" cy="457200"/>
          </a:xfrm>
          <a:prstGeom prst="rect">
            <a:avLst/>
          </a:prstGeom>
          <a:noFill/>
          <a:ln/>
        </p:spPr>
        <p:txBody>
          <a:bodyPr wrap="square" lIns="0" tIns="0" rIns="0" bIns="0" rtlCol="0" anchor="ctr"/>
          <a:lstStyle/>
          <a:p>
            <a:pPr indent="0" marL="0">
              <a:buNone/>
            </a:pPr>
            <a:r>
              <a:rPr lang="en-US" sz="1600" dirty="0">
                <a:solidFill>
                  <a:srgbClr val="1A202C"/>
                </a:solidFill>
                <a:latin typeface="Calibri" pitchFamily="34" charset="0"/>
                <a:ea typeface="Calibri" pitchFamily="34" charset="-122"/>
                <a:cs typeface="Calibri" pitchFamily="34" charset="-120"/>
              </a:rPr>
              <a:t>Síntesis, limitaciones y conexiones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C5282"/>
          </a:solidFill>
          <a:ln/>
        </p:spPr>
      </p:sp>
      <p:sp>
        <p:nvSpPr>
          <p:cNvPr id="3" name="Text 1"/>
          <p:cNvSpPr/>
          <p:nvPr/>
        </p:nvSpPr>
        <p:spPr>
          <a:xfrm>
            <a:off x="201168" y="164592"/>
            <a:ext cx="8778240" cy="566928"/>
          </a:xfrm>
          <a:prstGeom prst="rect">
            <a:avLst/>
          </a:prstGeom>
          <a:noFill/>
          <a:ln/>
        </p:spPr>
        <p:txBody>
          <a:bodyPr wrap="square" lIns="0" tIns="0" rIns="0" bIns="0" rtlCol="0" anchor="ctr"/>
          <a:lstStyle/>
          <a:p>
            <a:pPr indent="0" marL="0">
              <a:buNone/>
            </a:pPr>
            <a:r>
              <a:rPr lang="en-US" sz="2600" b="1" dirty="0">
                <a:solidFill>
                  <a:srgbClr val="2C5282"/>
                </a:solidFill>
                <a:latin typeface="Calibri" pitchFamily="34" charset="0"/>
                <a:ea typeface="Calibri" pitchFamily="34" charset="-122"/>
                <a:cs typeface="Calibri" pitchFamily="34" charset="-120"/>
              </a:rPr>
              <a:t>Punto de partida: lo que sabemos del capítulo 14</a:t>
            </a:r>
            <a:endParaRPr lang="en-US" sz="2600" dirty="0"/>
          </a:p>
        </p:txBody>
      </p:sp>
      <p:sp>
        <p:nvSpPr>
          <p:cNvPr id="4" name="Shape 2"/>
          <p:cNvSpPr/>
          <p:nvPr/>
        </p:nvSpPr>
        <p:spPr>
          <a:xfrm>
            <a:off x="201168" y="777240"/>
            <a:ext cx="8741664" cy="0"/>
          </a:xfrm>
          <a:prstGeom prst="line">
            <a:avLst/>
          </a:prstGeom>
          <a:noFill/>
          <a:ln w="19050">
            <a:solidFill>
              <a:srgbClr val="2C5282"/>
            </a:solidFill>
            <a:prstDash val="solid"/>
          </a:ln>
        </p:spPr>
      </p:sp>
      <p:sp>
        <p:nvSpPr>
          <p:cNvPr id="5" name="Shape 3"/>
          <p:cNvSpPr/>
          <p:nvPr/>
        </p:nvSpPr>
        <p:spPr>
          <a:xfrm>
            <a:off x="201168" y="914400"/>
            <a:ext cx="8741664" cy="1097280"/>
          </a:xfrm>
          <a:prstGeom prst="rect">
            <a:avLst/>
          </a:prstGeom>
          <a:solidFill>
            <a:srgbClr val="EBF4FF"/>
          </a:solidFill>
          <a:ln w="15240">
            <a:solidFill>
              <a:srgbClr val="2C5282"/>
            </a:solidFill>
            <a:prstDash val="solid"/>
          </a:ln>
          <a:effectLst>
            <a:outerShdw sx="100000" sy="100000" kx="0" ky="0" algn="bl" rotWithShape="0" blurRad="76200" dist="38100" dir="8100000">
              <a:srgbClr val="000000">
                <a:alpha val="10000"/>
              </a:srgbClr>
            </a:outerShdw>
          </a:effectLst>
        </p:spPr>
      </p:sp>
      <p:sp>
        <p:nvSpPr>
          <p:cNvPr id="6" name="Text 4"/>
          <p:cNvSpPr/>
          <p:nvPr/>
        </p:nvSpPr>
        <p:spPr>
          <a:xfrm>
            <a:off x="320040" y="987552"/>
            <a:ext cx="8503920" cy="320040"/>
          </a:xfrm>
          <a:prstGeom prst="rect">
            <a:avLst/>
          </a:prstGeom>
          <a:noFill/>
          <a:ln/>
        </p:spPr>
        <p:txBody>
          <a:bodyPr wrap="square" lIns="0" tIns="0" rIns="0" bIns="0" rtlCol="0" anchor="ctr"/>
          <a:lstStyle/>
          <a:p>
            <a:pPr indent="0" marL="0">
              <a:buNone/>
            </a:pPr>
            <a:r>
              <a:rPr lang="en-US" sz="1500" b="1" dirty="0">
                <a:solidFill>
                  <a:srgbClr val="2C5282"/>
                </a:solidFill>
                <a:latin typeface="Calibri" pitchFamily="34" charset="0"/>
                <a:ea typeface="Calibri" pitchFamily="34" charset="-122"/>
                <a:cs typeface="Calibri" pitchFamily="34" charset="-120"/>
              </a:rPr>
              <a:t>Ley de Igualación  (Herrnstein, 1961)</a:t>
            </a:r>
            <a:endParaRPr lang="en-US" sz="1500" dirty="0"/>
          </a:p>
        </p:txBody>
      </p:sp>
      <p:sp>
        <p:nvSpPr>
          <p:cNvPr id="7" name="Text 5"/>
          <p:cNvSpPr/>
          <p:nvPr/>
        </p:nvSpPr>
        <p:spPr>
          <a:xfrm>
            <a:off x="320040" y="1371600"/>
            <a:ext cx="8503920" cy="457200"/>
          </a:xfrm>
          <a:prstGeom prst="rect">
            <a:avLst/>
          </a:prstGeom>
          <a:noFill/>
          <a:ln/>
        </p:spPr>
        <p:txBody>
          <a:bodyPr wrap="square" lIns="0" tIns="0" rIns="0" bIns="0" rtlCol="0" anchor="ctr"/>
          <a:lstStyle/>
          <a:p>
            <a:pPr algn="ctr" indent="0" marL="0">
              <a:buNone/>
            </a:pPr>
            <a:r>
              <a:rPr lang="en-US" sz="2000" b="1" dirty="0">
                <a:solidFill>
                  <a:srgbClr val="1A3457"/>
                </a:solidFill>
                <a:latin typeface="Calibri" pitchFamily="34" charset="0"/>
                <a:ea typeface="Calibri" pitchFamily="34" charset="-122"/>
                <a:cs typeface="Calibri" pitchFamily="34" charset="-120"/>
              </a:rPr>
              <a:t>En equilibrio:   T₁/T₂  =  r₁/r₂</a:t>
            </a:r>
            <a:endParaRPr lang="en-US" sz="2000" dirty="0"/>
          </a:p>
        </p:txBody>
      </p:sp>
      <p:sp>
        <p:nvSpPr>
          <p:cNvPr id="8" name="Text 6"/>
          <p:cNvSpPr/>
          <p:nvPr/>
        </p:nvSpPr>
        <p:spPr>
          <a:xfrm>
            <a:off x="201168" y="2148840"/>
            <a:ext cx="8741664" cy="457200"/>
          </a:xfrm>
          <a:prstGeom prst="rect">
            <a:avLst/>
          </a:prstGeom>
          <a:noFill/>
          <a:ln/>
        </p:spPr>
        <p:txBody>
          <a:bodyPr wrap="square" rtlCol="0" anchor="ctr"/>
          <a:lstStyle/>
          <a:p>
            <a:pPr indent="0" marL="0">
              <a:buNone/>
            </a:pPr>
            <a:r>
              <a:rPr lang="en-US" sz="1500" b="1" dirty="0">
                <a:solidFill>
                  <a:srgbClr val="276749"/>
                </a:solidFill>
                <a:latin typeface="Calibri" pitchFamily="34" charset="0"/>
                <a:ea typeface="Calibri" pitchFamily="34" charset="-122"/>
                <a:cs typeface="Calibri" pitchFamily="34" charset="-120"/>
              </a:rPr>
              <a:t>✓  </a:t>
            </a:r>
            <a:pPr indent="0" marL="0">
              <a:buNone/>
            </a:pPr>
            <a:r>
              <a:rPr lang="en-US" sz="1500" dirty="0">
                <a:solidFill>
                  <a:srgbClr val="1A202C"/>
                </a:solidFill>
                <a:latin typeface="Calibri" pitchFamily="34" charset="0"/>
                <a:ea typeface="Calibri" pitchFamily="34" charset="-122"/>
                <a:cs typeface="Calibri" pitchFamily="34" charset="-120"/>
              </a:rPr>
              <a:t>Bien documentada y robusta — una de las regularidades más replicadas de la psicología experimental.</a:t>
            </a:r>
            <a:endParaRPr lang="en-US" sz="1500" dirty="0"/>
          </a:p>
        </p:txBody>
      </p:sp>
      <p:sp>
        <p:nvSpPr>
          <p:cNvPr id="9" name="Shape 7"/>
          <p:cNvSpPr/>
          <p:nvPr/>
        </p:nvSpPr>
        <p:spPr>
          <a:xfrm>
            <a:off x="201168" y="2697480"/>
            <a:ext cx="8741664" cy="914400"/>
          </a:xfrm>
          <a:prstGeom prst="rect">
            <a:avLst/>
          </a:prstGeom>
          <a:solidFill>
            <a:srgbClr val="FFF3E8"/>
          </a:solidFill>
          <a:ln w="15240">
            <a:solidFill>
              <a:srgbClr val="C05621"/>
            </a:solidFill>
            <a:prstDash val="solid"/>
          </a:ln>
          <a:effectLst>
            <a:outerShdw sx="100000" sy="100000" kx="0" ky="0" algn="bl" rotWithShape="0" blurRad="76200" dist="38100" dir="8100000">
              <a:srgbClr val="000000">
                <a:alpha val="10000"/>
              </a:srgbClr>
            </a:outerShdw>
          </a:effectLst>
        </p:spPr>
      </p:sp>
      <p:sp>
        <p:nvSpPr>
          <p:cNvPr id="10" name="Text 8"/>
          <p:cNvSpPr/>
          <p:nvPr/>
        </p:nvSpPr>
        <p:spPr>
          <a:xfrm>
            <a:off x="320040" y="2770632"/>
            <a:ext cx="8503920" cy="320040"/>
          </a:xfrm>
          <a:prstGeom prst="rect">
            <a:avLst/>
          </a:prstGeom>
          <a:noFill/>
          <a:ln/>
        </p:spPr>
        <p:txBody>
          <a:bodyPr wrap="square" lIns="0" tIns="0" rIns="0" bIns="0" rtlCol="0" anchor="ctr"/>
          <a:lstStyle/>
          <a:p>
            <a:pPr indent="0" marL="0">
              <a:buNone/>
            </a:pPr>
            <a:r>
              <a:rPr lang="en-US" sz="1300" b="1" dirty="0">
                <a:solidFill>
                  <a:srgbClr val="C05621"/>
                </a:solidFill>
                <a:latin typeface="Calibri" pitchFamily="34" charset="0"/>
                <a:ea typeface="Calibri" pitchFamily="34" charset="-122"/>
                <a:cs typeface="Calibri" pitchFamily="34" charset="-120"/>
              </a:rPr>
              <a:t>La pregunta que este capítulo responde:</a:t>
            </a:r>
            <a:endParaRPr lang="en-US" sz="1300" dirty="0"/>
          </a:p>
        </p:txBody>
      </p:sp>
      <p:sp>
        <p:nvSpPr>
          <p:cNvPr id="11" name="Text 9"/>
          <p:cNvSpPr/>
          <p:nvPr/>
        </p:nvSpPr>
        <p:spPr>
          <a:xfrm>
            <a:off x="320040" y="3136392"/>
            <a:ext cx="8503920" cy="384048"/>
          </a:xfrm>
          <a:prstGeom prst="rect">
            <a:avLst/>
          </a:prstGeom>
          <a:noFill/>
          <a:ln/>
        </p:spPr>
        <p:txBody>
          <a:bodyPr wrap="square" lIns="0" tIns="0" rIns="0" bIns="0" rtlCol="0" anchor="ctr"/>
          <a:lstStyle/>
          <a:p>
            <a:pPr indent="0" marL="0">
              <a:buNone/>
            </a:pPr>
            <a:r>
              <a:rPr lang="en-US" sz="1600" i="1" dirty="0">
                <a:solidFill>
                  <a:srgbClr val="1A202C"/>
                </a:solidFill>
                <a:latin typeface="Calibri" pitchFamily="34" charset="0"/>
                <a:ea typeface="Calibri" pitchFamily="34" charset="-122"/>
                <a:cs typeface="Calibri" pitchFamily="34" charset="-120"/>
              </a:rPr>
              <a:t>¿Qué proceso momento a momento genera esa distribución en equilibrio?</a:t>
            </a:r>
            <a:endParaRPr lang="en-US" sz="1600" dirty="0"/>
          </a:p>
        </p:txBody>
      </p:sp>
      <p:sp>
        <p:nvSpPr>
          <p:cNvPr id="12" name="Text 10"/>
          <p:cNvSpPr/>
          <p:nvPr/>
        </p:nvSpPr>
        <p:spPr>
          <a:xfrm>
            <a:off x="201168" y="3749040"/>
            <a:ext cx="8741664" cy="548640"/>
          </a:xfrm>
          <a:prstGeom prst="rect">
            <a:avLst/>
          </a:prstGeom>
          <a:noFill/>
          <a:ln/>
        </p:spPr>
        <p:txBody>
          <a:bodyPr wrap="square" rtlCol="0" anchor="ctr"/>
          <a:lstStyle/>
          <a:p>
            <a:pPr indent="0" marL="0">
              <a:buNone/>
            </a:pPr>
            <a:r>
              <a:rPr lang="en-US" sz="1400" i="1" dirty="0">
                <a:solidFill>
                  <a:srgbClr val="718096"/>
                </a:solidFill>
                <a:latin typeface="Calibri" pitchFamily="34" charset="0"/>
                <a:ea typeface="Calibri" pitchFamily="34" charset="-122"/>
                <a:cs typeface="Calibri" pitchFamily="34" charset="-120"/>
              </a:rPr>
              <a:t>Las descripciones del equilibrio (igualación, maximización global) no especifican el mecanismo que lleva al organismo hasta ese punto.</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C5282"/>
          </a:solidFill>
          <a:ln/>
        </p:spPr>
      </p:sp>
      <p:sp>
        <p:nvSpPr>
          <p:cNvPr id="3" name="Text 1"/>
          <p:cNvSpPr/>
          <p:nvPr/>
        </p:nvSpPr>
        <p:spPr>
          <a:xfrm>
            <a:off x="201168" y="164592"/>
            <a:ext cx="8778240" cy="566928"/>
          </a:xfrm>
          <a:prstGeom prst="rect">
            <a:avLst/>
          </a:prstGeom>
          <a:noFill/>
          <a:ln/>
        </p:spPr>
        <p:txBody>
          <a:bodyPr wrap="square" lIns="0" tIns="0" rIns="0" bIns="0" rtlCol="0" anchor="ctr"/>
          <a:lstStyle/>
          <a:p>
            <a:pPr indent="0" marL="0">
              <a:buNone/>
            </a:pPr>
            <a:r>
              <a:rPr lang="en-US" sz="2600" b="1" dirty="0">
                <a:solidFill>
                  <a:srgbClr val="2C5282"/>
                </a:solidFill>
                <a:latin typeface="Calibri" pitchFamily="34" charset="0"/>
                <a:ea typeface="Calibri" pitchFamily="34" charset="-122"/>
                <a:cs typeface="Calibri" pitchFamily="34" charset="-120"/>
              </a:rPr>
              <a:t>Un ejemplo cotidiano de elección concurrente</a:t>
            </a:r>
            <a:endParaRPr lang="en-US" sz="2600" dirty="0"/>
          </a:p>
        </p:txBody>
      </p:sp>
      <p:sp>
        <p:nvSpPr>
          <p:cNvPr id="4" name="Shape 2"/>
          <p:cNvSpPr/>
          <p:nvPr/>
        </p:nvSpPr>
        <p:spPr>
          <a:xfrm>
            <a:off x="201168" y="777240"/>
            <a:ext cx="8741664" cy="0"/>
          </a:xfrm>
          <a:prstGeom prst="line">
            <a:avLst/>
          </a:prstGeom>
          <a:noFill/>
          <a:ln w="19050">
            <a:solidFill>
              <a:srgbClr val="2C5282"/>
            </a:solidFill>
            <a:prstDash val="solid"/>
          </a:ln>
        </p:spPr>
      </p:sp>
      <p:sp>
        <p:nvSpPr>
          <p:cNvPr id="5" name="Text 3"/>
          <p:cNvSpPr/>
          <p:nvPr/>
        </p:nvSpPr>
        <p:spPr>
          <a:xfrm>
            <a:off x="201168" y="914400"/>
            <a:ext cx="8741664" cy="502920"/>
          </a:xfrm>
          <a:prstGeom prst="rect">
            <a:avLst/>
          </a:prstGeom>
          <a:noFill/>
          <a:ln/>
        </p:spPr>
        <p:txBody>
          <a:bodyPr wrap="square" rtlCol="0" anchor="ctr"/>
          <a:lstStyle/>
          <a:p>
            <a:pPr indent="0" marL="0">
              <a:buNone/>
            </a:pPr>
            <a:r>
              <a:rPr lang="en-US" sz="1600" dirty="0">
                <a:solidFill>
                  <a:srgbClr val="1A202C"/>
                </a:solidFill>
                <a:latin typeface="Calibri" pitchFamily="34" charset="0"/>
                <a:ea typeface="Calibri" pitchFamily="34" charset="-122"/>
                <a:cs typeface="Calibri" pitchFamily="34" charset="-120"/>
              </a:rPr>
              <a:t>Dos fuentes de mensajes abiertas: correo electrónico y mensajería instantánea.</a:t>
            </a:r>
            <a:endParaRPr lang="en-US" sz="1600" dirty="0"/>
          </a:p>
        </p:txBody>
      </p:sp>
      <p:sp>
        <p:nvSpPr>
          <p:cNvPr id="6" name="Shape 4"/>
          <p:cNvSpPr/>
          <p:nvPr/>
        </p:nvSpPr>
        <p:spPr>
          <a:xfrm>
            <a:off x="201168" y="1508760"/>
            <a:ext cx="4206240" cy="1920240"/>
          </a:xfrm>
          <a:prstGeom prst="rect">
            <a:avLst/>
          </a:prstGeom>
          <a:solidFill>
            <a:srgbClr val="EBF4FF"/>
          </a:solidFill>
          <a:ln w="15240">
            <a:solidFill>
              <a:srgbClr val="2C5282"/>
            </a:solidFill>
            <a:prstDash val="solid"/>
          </a:ln>
          <a:effectLst>
            <a:outerShdw sx="100000" sy="100000" kx="0" ky="0" algn="bl" rotWithShape="0" blurRad="76200" dist="38100" dir="8100000">
              <a:srgbClr val="000000">
                <a:alpha val="10000"/>
              </a:srgbClr>
            </a:outerShdw>
          </a:effectLst>
        </p:spPr>
      </p:sp>
      <p:sp>
        <p:nvSpPr>
          <p:cNvPr id="7" name="Text 5"/>
          <p:cNvSpPr/>
          <p:nvPr/>
        </p:nvSpPr>
        <p:spPr>
          <a:xfrm>
            <a:off x="338328" y="1627632"/>
            <a:ext cx="3931920" cy="320040"/>
          </a:xfrm>
          <a:prstGeom prst="rect">
            <a:avLst/>
          </a:prstGeom>
          <a:noFill/>
          <a:ln/>
        </p:spPr>
        <p:txBody>
          <a:bodyPr wrap="square" lIns="0" tIns="0" rIns="0" bIns="0" rtlCol="0" anchor="ctr"/>
          <a:lstStyle/>
          <a:p>
            <a:pPr indent="0" marL="0">
              <a:buNone/>
            </a:pPr>
            <a:r>
              <a:rPr lang="en-US" sz="1400" b="1" dirty="0">
                <a:solidFill>
                  <a:srgbClr val="2C5282"/>
                </a:solidFill>
                <a:latin typeface="Calibri" pitchFamily="34" charset="0"/>
                <a:ea typeface="Calibri" pitchFamily="34" charset="-122"/>
                <a:cs typeface="Calibri" pitchFamily="34" charset="-120"/>
              </a:rPr>
              <a:t>Correo electrónico</a:t>
            </a:r>
            <a:endParaRPr lang="en-US" sz="1400" dirty="0"/>
          </a:p>
        </p:txBody>
      </p:sp>
      <p:sp>
        <p:nvSpPr>
          <p:cNvPr id="8" name="Text 6"/>
          <p:cNvSpPr/>
          <p:nvPr/>
        </p:nvSpPr>
        <p:spPr>
          <a:xfrm>
            <a:off x="338328" y="1993392"/>
            <a:ext cx="3931920" cy="1280160"/>
          </a:xfrm>
          <a:prstGeom prst="rect">
            <a:avLst/>
          </a:prstGeom>
          <a:noFill/>
          <a:ln/>
        </p:spPr>
        <p:txBody>
          <a:bodyPr wrap="square" lIns="0" tIns="0" rIns="0" bIns="0" rtlCol="0" anchor="ctr"/>
          <a:lstStyle/>
          <a:p>
            <a:pPr indent="0" marL="0">
              <a:buNone/>
            </a:pPr>
            <a:r>
              <a:rPr lang="en-US" sz="1300" dirty="0">
                <a:solidFill>
                  <a:srgbClr val="1A202C"/>
                </a:solidFill>
                <a:latin typeface="Calibri" pitchFamily="34" charset="0"/>
                <a:ea typeface="Calibri" pitchFamily="34" charset="-122"/>
                <a:cs typeface="Calibri" pitchFamily="34" charset="-120"/>
              </a:rPr>
              <a:t>Llega de manera intermitente.</a:t>
            </a:r>
            <a:endParaRPr lang="en-US" sz="1300" dirty="0"/>
          </a:p>
          <a:p>
            <a:pPr indent="0" marL="0">
              <a:buNone/>
            </a:pPr>
            <a:r>
              <a:rPr lang="en-US" sz="1300" dirty="0">
                <a:solidFill>
                  <a:srgbClr val="1A202C"/>
                </a:solidFill>
                <a:latin typeface="Calibri" pitchFamily="34" charset="0"/>
                <a:ea typeface="Calibri" pitchFamily="34" charset="-122"/>
                <a:cs typeface="Calibri" pitchFamily="34" charset="-120"/>
              </a:rPr>
              <a:t>Cuanto más tiempo sin revisar,</a:t>
            </a:r>
            <a:endParaRPr lang="en-US" sz="1300" dirty="0"/>
          </a:p>
          <a:p>
            <a:pPr indent="0" marL="0">
              <a:buNone/>
            </a:pPr>
            <a:r>
              <a:rPr lang="en-US" sz="1300" dirty="0">
                <a:solidFill>
                  <a:srgbClr val="1A202C"/>
                </a:solidFill>
                <a:latin typeface="Calibri" pitchFamily="34" charset="0"/>
                <a:ea typeface="Calibri" pitchFamily="34" charset="-122"/>
                <a:cs typeface="Calibri" pitchFamily="34" charset="-120"/>
              </a:rPr>
              <a:t>más probable encontrar algo nuevo.</a:t>
            </a:r>
            <a:endParaRPr lang="en-US" sz="1300" dirty="0"/>
          </a:p>
        </p:txBody>
      </p:sp>
      <p:sp>
        <p:nvSpPr>
          <p:cNvPr id="9" name="Shape 7"/>
          <p:cNvSpPr/>
          <p:nvPr/>
        </p:nvSpPr>
        <p:spPr>
          <a:xfrm>
            <a:off x="4572000" y="1508760"/>
            <a:ext cx="4206240" cy="1920240"/>
          </a:xfrm>
          <a:prstGeom prst="rect">
            <a:avLst/>
          </a:prstGeom>
          <a:solidFill>
            <a:srgbClr val="E6F4ED"/>
          </a:solidFill>
          <a:ln w="15240">
            <a:solidFill>
              <a:srgbClr val="276749"/>
            </a:solidFill>
            <a:prstDash val="solid"/>
          </a:ln>
          <a:effectLst>
            <a:outerShdw sx="100000" sy="100000" kx="0" ky="0" algn="bl" rotWithShape="0" blurRad="76200" dist="38100" dir="8100000">
              <a:srgbClr val="000000">
                <a:alpha val="10000"/>
              </a:srgbClr>
            </a:outerShdw>
          </a:effectLst>
        </p:spPr>
      </p:sp>
      <p:sp>
        <p:nvSpPr>
          <p:cNvPr id="10" name="Text 8"/>
          <p:cNvSpPr/>
          <p:nvPr/>
        </p:nvSpPr>
        <p:spPr>
          <a:xfrm>
            <a:off x="4709160" y="1627632"/>
            <a:ext cx="3931920" cy="320040"/>
          </a:xfrm>
          <a:prstGeom prst="rect">
            <a:avLst/>
          </a:prstGeom>
          <a:noFill/>
          <a:ln/>
        </p:spPr>
        <p:txBody>
          <a:bodyPr wrap="square" lIns="0" tIns="0" rIns="0" bIns="0" rtlCol="0" anchor="ctr"/>
          <a:lstStyle/>
          <a:p>
            <a:pPr indent="0" marL="0">
              <a:buNone/>
            </a:pPr>
            <a:r>
              <a:rPr lang="en-US" sz="1400" b="1" dirty="0">
                <a:solidFill>
                  <a:srgbClr val="276749"/>
                </a:solidFill>
                <a:latin typeface="Calibri" pitchFamily="34" charset="0"/>
                <a:ea typeface="Calibri" pitchFamily="34" charset="-122"/>
                <a:cs typeface="Calibri" pitchFamily="34" charset="-120"/>
              </a:rPr>
              <a:t>Mensajería instantánea</a:t>
            </a:r>
            <a:endParaRPr lang="en-US" sz="1400" dirty="0"/>
          </a:p>
        </p:txBody>
      </p:sp>
      <p:sp>
        <p:nvSpPr>
          <p:cNvPr id="11" name="Text 9"/>
          <p:cNvSpPr/>
          <p:nvPr/>
        </p:nvSpPr>
        <p:spPr>
          <a:xfrm>
            <a:off x="4709160" y="1993392"/>
            <a:ext cx="3931920" cy="1280160"/>
          </a:xfrm>
          <a:prstGeom prst="rect">
            <a:avLst/>
          </a:prstGeom>
          <a:noFill/>
          <a:ln/>
        </p:spPr>
        <p:txBody>
          <a:bodyPr wrap="square" lIns="0" tIns="0" rIns="0" bIns="0" rtlCol="0" anchor="ctr"/>
          <a:lstStyle/>
          <a:p>
            <a:pPr indent="0" marL="0">
              <a:buNone/>
            </a:pPr>
            <a:r>
              <a:rPr lang="en-US" sz="1300" dirty="0">
                <a:solidFill>
                  <a:srgbClr val="1A202C"/>
                </a:solidFill>
                <a:latin typeface="Calibri" pitchFamily="34" charset="0"/>
                <a:ea typeface="Calibri" pitchFamily="34" charset="-122"/>
                <a:cs typeface="Calibri" pitchFamily="34" charset="-120"/>
              </a:rPr>
              <a:t>Igual: llega de forma impredecible.</a:t>
            </a:r>
            <a:endParaRPr lang="en-US" sz="1300" dirty="0"/>
          </a:p>
          <a:p>
            <a:pPr indent="0" marL="0">
              <a:buNone/>
            </a:pPr>
            <a:r>
              <a:rPr lang="en-US" sz="1300" dirty="0">
                <a:solidFill>
                  <a:srgbClr val="1A202C"/>
                </a:solidFill>
                <a:latin typeface="Calibri" pitchFamily="34" charset="0"/>
                <a:ea typeface="Calibri" pitchFamily="34" charset="-122"/>
                <a:cs typeface="Calibri" pitchFamily="34" charset="-120"/>
              </a:rPr>
              <a:t>Acumulación durante la ausencia.</a:t>
            </a:r>
            <a:endParaRPr lang="en-US" sz="1300" dirty="0"/>
          </a:p>
          <a:p>
            <a:pPr indent="0" marL="0">
              <a:buNone/>
            </a:pPr>
            <a:r>
              <a:rPr lang="en-US" sz="1300" dirty="0">
                <a:solidFill>
                  <a:srgbClr val="1A202C"/>
                </a:solidFill>
                <a:latin typeface="Calibri" pitchFamily="34" charset="0"/>
                <a:ea typeface="Calibri" pitchFamily="34" charset="-122"/>
                <a:cs typeface="Calibri" pitchFamily="34" charset="-120"/>
              </a:rPr>
              <a:t>No sostenible ignorarlo indefinidamente.</a:t>
            </a:r>
            <a:endParaRPr lang="en-US" sz="1300" dirty="0"/>
          </a:p>
        </p:txBody>
      </p:sp>
      <p:sp>
        <p:nvSpPr>
          <p:cNvPr id="12" name="Shape 10"/>
          <p:cNvSpPr/>
          <p:nvPr/>
        </p:nvSpPr>
        <p:spPr>
          <a:xfrm>
            <a:off x="201168" y="3566160"/>
            <a:ext cx="8741664" cy="868680"/>
          </a:xfrm>
          <a:prstGeom prst="rect">
            <a:avLst/>
          </a:prstGeom>
          <a:solidFill>
            <a:srgbClr val="FFF3E8"/>
          </a:solidFill>
          <a:ln w="15240">
            <a:solidFill>
              <a:srgbClr val="C05621"/>
            </a:solidFill>
            <a:prstDash val="solid"/>
          </a:ln>
          <a:effectLst>
            <a:outerShdw sx="100000" sy="100000" kx="0" ky="0" algn="bl" rotWithShape="0" blurRad="76200" dist="38100" dir="8100000">
              <a:srgbClr val="000000">
                <a:alpha val="10000"/>
              </a:srgbClr>
            </a:outerShdw>
          </a:effectLst>
        </p:spPr>
      </p:sp>
      <p:sp>
        <p:nvSpPr>
          <p:cNvPr id="13" name="Text 11"/>
          <p:cNvSpPr/>
          <p:nvPr/>
        </p:nvSpPr>
        <p:spPr>
          <a:xfrm>
            <a:off x="320040" y="3639312"/>
            <a:ext cx="8503920" cy="640080"/>
          </a:xfrm>
          <a:prstGeom prst="rect">
            <a:avLst/>
          </a:prstGeom>
          <a:noFill/>
          <a:ln/>
        </p:spPr>
        <p:txBody>
          <a:bodyPr wrap="square" lIns="0" tIns="0" rIns="0" bIns="0" rtlCol="0" anchor="ctr"/>
          <a:lstStyle/>
          <a:p>
            <a:pPr algn="ctr" indent="0" marL="0">
              <a:buNone/>
            </a:pPr>
            <a:r>
              <a:rPr lang="en-US" sz="1600" b="1" dirty="0">
                <a:solidFill>
                  <a:srgbClr val="C05621"/>
                </a:solidFill>
                <a:latin typeface="Calibri" pitchFamily="34" charset="0"/>
                <a:ea typeface="Calibri" pitchFamily="34" charset="-122"/>
                <a:cs typeface="Calibri" pitchFamily="34" charset="-120"/>
              </a:rPr>
              <a:t>¿Qué regla sigue la persona para decidir cuándo cambiar de una fuente a la otra?</a:t>
            </a:r>
            <a:endParaRPr lang="en-US" sz="1600" dirty="0"/>
          </a:p>
        </p:txBody>
      </p:sp>
      <p:sp>
        <p:nvSpPr>
          <p:cNvPr id="14" name="Text 12"/>
          <p:cNvSpPr/>
          <p:nvPr/>
        </p:nvSpPr>
        <p:spPr>
          <a:xfrm>
            <a:off x="201168" y="4617720"/>
            <a:ext cx="8741664" cy="365760"/>
          </a:xfrm>
          <a:prstGeom prst="rect">
            <a:avLst/>
          </a:prstGeom>
          <a:noFill/>
          <a:ln/>
        </p:spPr>
        <p:txBody>
          <a:bodyPr wrap="square" rtlCol="0" anchor="ctr"/>
          <a:lstStyle/>
          <a:p>
            <a:pPr indent="0" marL="0">
              <a:buNone/>
            </a:pPr>
            <a:r>
              <a:rPr lang="en-US" sz="1200" i="1" dirty="0">
                <a:solidFill>
                  <a:srgbClr val="718096"/>
                </a:solidFill>
                <a:latin typeface="Calibri" pitchFamily="34" charset="0"/>
                <a:ea typeface="Calibri" pitchFamily="34" charset="-122"/>
                <a:cs typeface="Calibri" pitchFamily="34" charset="-120"/>
              </a:rPr>
              <a:t>En ningún caso la atención continua a una sola fuente es sostenible: eventualmente la otra se vuelve suficientemente atractiva.</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C5282"/>
          </a:solidFill>
          <a:ln/>
        </p:spPr>
      </p:sp>
      <p:sp>
        <p:nvSpPr>
          <p:cNvPr id="3" name="Text 1"/>
          <p:cNvSpPr/>
          <p:nvPr/>
        </p:nvSpPr>
        <p:spPr>
          <a:xfrm>
            <a:off x="201168" y="164592"/>
            <a:ext cx="8778240" cy="566928"/>
          </a:xfrm>
          <a:prstGeom prst="rect">
            <a:avLst/>
          </a:prstGeom>
          <a:noFill/>
          <a:ln/>
        </p:spPr>
        <p:txBody>
          <a:bodyPr wrap="square" lIns="0" tIns="0" rIns="0" bIns="0" rtlCol="0" anchor="ctr"/>
          <a:lstStyle/>
          <a:p>
            <a:pPr indent="0" marL="0">
              <a:buNone/>
            </a:pPr>
            <a:r>
              <a:rPr lang="en-US" sz="2600" b="1" dirty="0">
                <a:solidFill>
                  <a:srgbClr val="2C5282"/>
                </a:solidFill>
                <a:latin typeface="Calibri" pitchFamily="34" charset="0"/>
                <a:ea typeface="Calibri" pitchFamily="34" charset="-122"/>
                <a:cs typeface="Calibri" pitchFamily="34" charset="-120"/>
              </a:rPr>
              <a:t>Dos reglas posibles para cambiar de opción</a:t>
            </a:r>
            <a:endParaRPr lang="en-US" sz="2600" dirty="0"/>
          </a:p>
        </p:txBody>
      </p:sp>
      <p:sp>
        <p:nvSpPr>
          <p:cNvPr id="4" name="Shape 2"/>
          <p:cNvSpPr/>
          <p:nvPr/>
        </p:nvSpPr>
        <p:spPr>
          <a:xfrm>
            <a:off x="201168" y="777240"/>
            <a:ext cx="8741664" cy="0"/>
          </a:xfrm>
          <a:prstGeom prst="line">
            <a:avLst/>
          </a:prstGeom>
          <a:noFill/>
          <a:ln w="19050">
            <a:solidFill>
              <a:srgbClr val="2C5282"/>
            </a:solidFill>
            <a:prstDash val="solid"/>
          </a:ln>
        </p:spPr>
      </p:sp>
      <p:sp>
        <p:nvSpPr>
          <p:cNvPr id="5" name="Shape 3"/>
          <p:cNvSpPr/>
          <p:nvPr/>
        </p:nvSpPr>
        <p:spPr>
          <a:xfrm>
            <a:off x="201168" y="1005840"/>
            <a:ext cx="8741664" cy="1691640"/>
          </a:xfrm>
          <a:prstGeom prst="rect">
            <a:avLst/>
          </a:prstGeom>
          <a:solidFill>
            <a:srgbClr val="EBF4FF"/>
          </a:solidFill>
          <a:ln w="15240">
            <a:solidFill>
              <a:srgbClr val="2C5282"/>
            </a:solidFill>
            <a:prstDash val="solid"/>
          </a:ln>
          <a:effectLst>
            <a:outerShdw sx="100000" sy="100000" kx="0" ky="0" algn="bl" rotWithShape="0" blurRad="76200" dist="38100" dir="8100000">
              <a:srgbClr val="000000">
                <a:alpha val="10000"/>
              </a:srgbClr>
            </a:outerShdw>
          </a:effectLst>
        </p:spPr>
      </p:sp>
      <p:sp>
        <p:nvSpPr>
          <p:cNvPr id="6" name="Shape 4"/>
          <p:cNvSpPr/>
          <p:nvPr/>
        </p:nvSpPr>
        <p:spPr>
          <a:xfrm>
            <a:off x="201168" y="1005840"/>
            <a:ext cx="548640" cy="1691640"/>
          </a:xfrm>
          <a:prstGeom prst="rect">
            <a:avLst/>
          </a:prstGeom>
          <a:solidFill>
            <a:srgbClr val="2C5282"/>
          </a:solidFill>
          <a:ln w="12700">
            <a:solidFill>
              <a:srgbClr val="2C5282"/>
            </a:solidFill>
            <a:prstDash val="solid"/>
          </a:ln>
        </p:spPr>
      </p:sp>
      <p:sp>
        <p:nvSpPr>
          <p:cNvPr id="7" name="Text 5"/>
          <p:cNvSpPr/>
          <p:nvPr/>
        </p:nvSpPr>
        <p:spPr>
          <a:xfrm>
            <a:off x="201168" y="1600200"/>
            <a:ext cx="54864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8" name="Text 6"/>
          <p:cNvSpPr/>
          <p:nvPr/>
        </p:nvSpPr>
        <p:spPr>
          <a:xfrm>
            <a:off x="822960" y="1097280"/>
            <a:ext cx="7955280" cy="347472"/>
          </a:xfrm>
          <a:prstGeom prst="rect">
            <a:avLst/>
          </a:prstGeom>
          <a:noFill/>
          <a:ln/>
        </p:spPr>
        <p:txBody>
          <a:bodyPr wrap="square" lIns="0" tIns="0" rIns="0" bIns="0" rtlCol="0" anchor="ctr"/>
          <a:lstStyle/>
          <a:p>
            <a:pPr indent="0" marL="0">
              <a:buNone/>
            </a:pPr>
            <a:r>
              <a:rPr lang="en-US" sz="1400" b="1" dirty="0">
                <a:solidFill>
                  <a:srgbClr val="2C5282"/>
                </a:solidFill>
                <a:latin typeface="Calibri" pitchFamily="34" charset="0"/>
                <a:ea typeface="Calibri" pitchFamily="34" charset="-122"/>
                <a:cs typeface="Calibri" pitchFamily="34" charset="-120"/>
              </a:rPr>
              <a:t>Maximización Momentánea  (Shimp, 1969)</a:t>
            </a:r>
            <a:endParaRPr lang="en-US" sz="1400" dirty="0"/>
          </a:p>
        </p:txBody>
      </p:sp>
      <p:sp>
        <p:nvSpPr>
          <p:cNvPr id="9" name="Text 7"/>
          <p:cNvSpPr/>
          <p:nvPr/>
        </p:nvSpPr>
        <p:spPr>
          <a:xfrm>
            <a:off x="822960" y="1481328"/>
            <a:ext cx="7955280" cy="1097280"/>
          </a:xfrm>
          <a:prstGeom prst="rect">
            <a:avLst/>
          </a:prstGeom>
          <a:noFill/>
          <a:ln/>
        </p:spPr>
        <p:txBody>
          <a:bodyPr wrap="square" lIns="0" tIns="0" rIns="0" bIns="0" rtlCol="0" anchor="ctr"/>
          <a:lstStyle/>
          <a:p>
            <a:pPr indent="0" marL="0">
              <a:buNone/>
            </a:pPr>
            <a:r>
              <a:rPr lang="en-US" sz="1400" dirty="0">
                <a:solidFill>
                  <a:srgbClr val="1A202C"/>
                </a:solidFill>
                <a:latin typeface="Calibri" pitchFamily="34" charset="0"/>
                <a:ea typeface="Calibri" pitchFamily="34" charset="-122"/>
                <a:cs typeface="Calibri" pitchFamily="34" charset="-120"/>
              </a:rPr>
              <a:t>Cambiar cuando la probabilidad de encontrar un mensaje nuevo en la alternativa supera a la probabilidad en la opción actual.</a:t>
            </a:r>
            <a:endParaRPr lang="en-US" sz="1400" dirty="0"/>
          </a:p>
          <a:p>
            <a:pPr indent="0" marL="0">
              <a:buNone/>
            </a:pPr>
            <a:endParaRPr lang="en-US" sz="1400" dirty="0"/>
          </a:p>
          <a:p>
            <a:pPr indent="0" marL="0">
              <a:buNone/>
            </a:pPr>
            <a:r>
              <a:rPr lang="en-US" sz="1400" dirty="0">
                <a:solidFill>
                  <a:srgbClr val="1A202C"/>
                </a:solidFill>
                <a:latin typeface="Calibri" pitchFamily="34" charset="0"/>
                <a:ea typeface="Calibri" pitchFamily="34" charset="-122"/>
                <a:cs typeface="Calibri" pitchFamily="34" charset="-120"/>
              </a:rPr>
              <a:t>→ En cada instante: ir a donde p_i es mayor.</a:t>
            </a:r>
            <a:endParaRPr lang="en-US" sz="1400" dirty="0"/>
          </a:p>
        </p:txBody>
      </p:sp>
      <p:sp>
        <p:nvSpPr>
          <p:cNvPr id="10" name="Shape 8"/>
          <p:cNvSpPr/>
          <p:nvPr/>
        </p:nvSpPr>
        <p:spPr>
          <a:xfrm>
            <a:off x="201168" y="2926080"/>
            <a:ext cx="8741664" cy="1691640"/>
          </a:xfrm>
          <a:prstGeom prst="rect">
            <a:avLst/>
          </a:prstGeom>
          <a:solidFill>
            <a:srgbClr val="E6F4ED"/>
          </a:solidFill>
          <a:ln w="15240">
            <a:solidFill>
              <a:srgbClr val="276749"/>
            </a:solidFill>
            <a:prstDash val="solid"/>
          </a:ln>
          <a:effectLst>
            <a:outerShdw sx="100000" sy="100000" kx="0" ky="0" algn="bl" rotWithShape="0" blurRad="76200" dist="38100" dir="8100000">
              <a:srgbClr val="000000">
                <a:alpha val="10000"/>
              </a:srgbClr>
            </a:outerShdw>
          </a:effectLst>
        </p:spPr>
      </p:sp>
      <p:sp>
        <p:nvSpPr>
          <p:cNvPr id="11" name="Shape 9"/>
          <p:cNvSpPr/>
          <p:nvPr/>
        </p:nvSpPr>
        <p:spPr>
          <a:xfrm>
            <a:off x="201168" y="2926080"/>
            <a:ext cx="548640" cy="1691640"/>
          </a:xfrm>
          <a:prstGeom prst="rect">
            <a:avLst/>
          </a:prstGeom>
          <a:solidFill>
            <a:srgbClr val="276749"/>
          </a:solidFill>
          <a:ln w="12700">
            <a:solidFill>
              <a:srgbClr val="276749"/>
            </a:solidFill>
            <a:prstDash val="solid"/>
          </a:ln>
        </p:spPr>
      </p:sp>
      <p:sp>
        <p:nvSpPr>
          <p:cNvPr id="12" name="Text 10"/>
          <p:cNvSpPr/>
          <p:nvPr/>
        </p:nvSpPr>
        <p:spPr>
          <a:xfrm>
            <a:off x="201168" y="3520440"/>
            <a:ext cx="54864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3" name="Text 11"/>
          <p:cNvSpPr/>
          <p:nvPr/>
        </p:nvSpPr>
        <p:spPr>
          <a:xfrm>
            <a:off x="822960" y="3017520"/>
            <a:ext cx="7955280" cy="347472"/>
          </a:xfrm>
          <a:prstGeom prst="rect">
            <a:avLst/>
          </a:prstGeom>
          <a:noFill/>
          <a:ln/>
        </p:spPr>
        <p:txBody>
          <a:bodyPr wrap="square" lIns="0" tIns="0" rIns="0" bIns="0" rtlCol="0" anchor="ctr"/>
          <a:lstStyle/>
          <a:p>
            <a:pPr indent="0" marL="0">
              <a:buNone/>
            </a:pPr>
            <a:r>
              <a:rPr lang="en-US" sz="1400" b="1" dirty="0">
                <a:solidFill>
                  <a:srgbClr val="276749"/>
                </a:solidFill>
                <a:latin typeface="Calibri" pitchFamily="34" charset="0"/>
                <a:ea typeface="Calibri" pitchFamily="34" charset="-122"/>
                <a:cs typeface="Calibri" pitchFamily="34" charset="-120"/>
              </a:rPr>
              <a:t>Mejoramiento  (Herrnstein &amp; Vaughan, 1980)</a:t>
            </a:r>
            <a:endParaRPr lang="en-US" sz="1400" dirty="0"/>
          </a:p>
        </p:txBody>
      </p:sp>
      <p:sp>
        <p:nvSpPr>
          <p:cNvPr id="14" name="Text 12"/>
          <p:cNvSpPr/>
          <p:nvPr/>
        </p:nvSpPr>
        <p:spPr>
          <a:xfrm>
            <a:off x="822960" y="3401568"/>
            <a:ext cx="7955280" cy="1097280"/>
          </a:xfrm>
          <a:prstGeom prst="rect">
            <a:avLst/>
          </a:prstGeom>
          <a:noFill/>
          <a:ln/>
        </p:spPr>
        <p:txBody>
          <a:bodyPr wrap="square" lIns="0" tIns="0" rIns="0" bIns="0" rtlCol="0" anchor="ctr"/>
          <a:lstStyle/>
          <a:p>
            <a:pPr indent="0" marL="0">
              <a:buNone/>
            </a:pPr>
            <a:r>
              <a:rPr lang="en-US" sz="1400" dirty="0">
                <a:solidFill>
                  <a:srgbClr val="1A202C"/>
                </a:solidFill>
                <a:latin typeface="Calibri" pitchFamily="34" charset="0"/>
                <a:ea typeface="Calibri" pitchFamily="34" charset="-122"/>
                <a:cs typeface="Calibri" pitchFamily="34" charset="-120"/>
              </a:rPr>
              <a:t>Estimar la tasa reciente de mensajes en cada canal y redistribuir la atención para igualar esas tasas locales.</a:t>
            </a:r>
            <a:endParaRPr lang="en-US" sz="1400" dirty="0"/>
          </a:p>
          <a:p>
            <a:pPr indent="0" marL="0">
              <a:buNone/>
            </a:pPr>
            <a:endParaRPr lang="en-US" sz="1400" dirty="0"/>
          </a:p>
          <a:p>
            <a:pPr indent="0" marL="0">
              <a:buNone/>
            </a:pPr>
            <a:r>
              <a:rPr lang="en-US" sz="1400" dirty="0">
                <a:solidFill>
                  <a:srgbClr val="1A202C"/>
                </a:solidFill>
                <a:latin typeface="Calibri" pitchFamily="34" charset="0"/>
                <a:ea typeface="Calibri" pitchFamily="34" charset="-122"/>
                <a:cs typeface="Calibri" pitchFamily="34" charset="-120"/>
              </a:rPr>
              <a:t>→ Moverse hacia la opción con mayor tasa local de refuerzo.</a:t>
            </a:r>
            <a:endParaRPr lang="en-US" sz="1400" dirty="0"/>
          </a:p>
        </p:txBody>
      </p:sp>
      <p:sp>
        <p:nvSpPr>
          <p:cNvPr id="15" name="Shape 13"/>
          <p:cNvSpPr/>
          <p:nvPr/>
        </p:nvSpPr>
        <p:spPr>
          <a:xfrm>
            <a:off x="201168" y="4800600"/>
            <a:ext cx="8741664" cy="182880"/>
          </a:xfrm>
          <a:prstGeom prst="rect">
            <a:avLst/>
          </a:prstGeom>
          <a:solidFill>
            <a:srgbClr val="FFF8F0"/>
          </a:solidFill>
          <a:ln w="15240">
            <a:solidFill>
              <a:srgbClr val="C05621"/>
            </a:solidFill>
            <a:prstDash val="solid"/>
          </a:ln>
          <a:effectLst>
            <a:outerShdw sx="100000" sy="100000" kx="0" ky="0" algn="bl" rotWithShape="0" blurRad="76200" dist="38100" dir="8100000">
              <a:srgbClr val="000000">
                <a:alpha val="10000"/>
              </a:srgbClr>
            </a:outerShdw>
          </a:effectLst>
        </p:spPr>
      </p:sp>
      <p:sp>
        <p:nvSpPr>
          <p:cNvPr id="16" name="Text 14"/>
          <p:cNvSpPr/>
          <p:nvPr/>
        </p:nvSpPr>
        <p:spPr>
          <a:xfrm>
            <a:off x="320040" y="4818888"/>
            <a:ext cx="8503920" cy="146304"/>
          </a:xfrm>
          <a:prstGeom prst="rect">
            <a:avLst/>
          </a:prstGeom>
          <a:noFill/>
          <a:ln/>
        </p:spPr>
        <p:txBody>
          <a:bodyPr wrap="square" lIns="0" tIns="0" rIns="0" bIns="0" rtlCol="0" anchor="ctr"/>
          <a:lstStyle/>
          <a:p>
            <a:pPr indent="0" marL="0">
              <a:buNone/>
            </a:pPr>
            <a:r>
              <a:rPr lang="en-US" sz="1100" i="1" dirty="0">
                <a:solidFill>
                  <a:srgbClr val="C05621"/>
                </a:solidFill>
                <a:latin typeface="Calibri" pitchFamily="34" charset="0"/>
                <a:ea typeface="Calibri" pitchFamily="34" charset="-122"/>
                <a:cs typeface="Calibri" pitchFamily="34" charset="-120"/>
              </a:rPr>
              <a:t>Las dos reglas producen el mismo resultado agregado (igualación), pero mediante mecanismos diferentes y con predicciones distintas sobre la conducta momento a momento.</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C5282"/>
          </a:solidFill>
          <a:ln/>
        </p:spPr>
      </p:sp>
      <p:sp>
        <p:nvSpPr>
          <p:cNvPr id="3" name="Text 1"/>
          <p:cNvSpPr/>
          <p:nvPr/>
        </p:nvSpPr>
        <p:spPr>
          <a:xfrm>
            <a:off x="201168" y="164592"/>
            <a:ext cx="8778240" cy="566928"/>
          </a:xfrm>
          <a:prstGeom prst="rect">
            <a:avLst/>
          </a:prstGeom>
          <a:noFill/>
          <a:ln/>
        </p:spPr>
        <p:txBody>
          <a:bodyPr wrap="square" lIns="0" tIns="0" rIns="0" bIns="0" rtlCol="0" anchor="ctr"/>
          <a:lstStyle/>
          <a:p>
            <a:pPr indent="0" marL="0">
              <a:buNone/>
            </a:pPr>
            <a:r>
              <a:rPr lang="en-US" sz="2600" b="1" dirty="0">
                <a:solidFill>
                  <a:srgbClr val="2C5282"/>
                </a:solidFill>
                <a:latin typeface="Calibri" pitchFamily="34" charset="0"/>
                <a:ea typeface="Calibri" pitchFamily="34" charset="-122"/>
                <a:cs typeface="Calibri" pitchFamily="34" charset="-120"/>
              </a:rPr>
              <a:t>Conceptos clave: variable de decisión y regla de respuesta</a:t>
            </a:r>
            <a:endParaRPr lang="en-US" sz="2600" dirty="0"/>
          </a:p>
        </p:txBody>
      </p:sp>
      <p:sp>
        <p:nvSpPr>
          <p:cNvPr id="4" name="Shape 2"/>
          <p:cNvSpPr/>
          <p:nvPr/>
        </p:nvSpPr>
        <p:spPr>
          <a:xfrm>
            <a:off x="201168" y="777240"/>
            <a:ext cx="8741664" cy="0"/>
          </a:xfrm>
          <a:prstGeom prst="line">
            <a:avLst/>
          </a:prstGeom>
          <a:noFill/>
          <a:ln w="19050">
            <a:solidFill>
              <a:srgbClr val="2C5282"/>
            </a:solidFill>
            <a:prstDash val="solid"/>
          </a:ln>
        </p:spPr>
      </p:sp>
      <p:sp>
        <p:nvSpPr>
          <p:cNvPr id="5" name="Text 3"/>
          <p:cNvSpPr/>
          <p:nvPr/>
        </p:nvSpPr>
        <p:spPr>
          <a:xfrm>
            <a:off x="201168" y="914400"/>
            <a:ext cx="8741664" cy="365760"/>
          </a:xfrm>
          <a:prstGeom prst="rect">
            <a:avLst/>
          </a:prstGeom>
          <a:noFill/>
          <a:ln/>
        </p:spPr>
        <p:txBody>
          <a:bodyPr wrap="square" rtlCol="0" anchor="ctr"/>
          <a:lstStyle/>
          <a:p>
            <a:pPr indent="0" marL="0">
              <a:buNone/>
            </a:pPr>
            <a:r>
              <a:rPr lang="en-US" sz="1500" dirty="0">
                <a:solidFill>
                  <a:srgbClr val="1A202C"/>
                </a:solidFill>
                <a:latin typeface="Calibri" pitchFamily="34" charset="0"/>
                <a:ea typeface="Calibri" pitchFamily="34" charset="-122"/>
                <a:cs typeface="Calibri" pitchFamily="34" charset="-120"/>
              </a:rPr>
              <a:t>Todo modelo de elección debe especificar dos cosas:</a:t>
            </a:r>
            <a:endParaRPr lang="en-US" sz="1500" dirty="0"/>
          </a:p>
        </p:txBody>
      </p:sp>
      <p:sp>
        <p:nvSpPr>
          <p:cNvPr id="6" name="Shape 4"/>
          <p:cNvSpPr/>
          <p:nvPr/>
        </p:nvSpPr>
        <p:spPr>
          <a:xfrm>
            <a:off x="201168" y="1417320"/>
            <a:ext cx="4206240" cy="1737360"/>
          </a:xfrm>
          <a:prstGeom prst="rect">
            <a:avLst/>
          </a:prstGeom>
          <a:solidFill>
            <a:srgbClr val="EBF4FF"/>
          </a:solidFill>
          <a:ln w="15240">
            <a:solidFill>
              <a:srgbClr val="2C5282"/>
            </a:solidFill>
            <a:prstDash val="solid"/>
          </a:ln>
          <a:effectLst>
            <a:outerShdw sx="100000" sy="100000" kx="0" ky="0" algn="bl" rotWithShape="0" blurRad="76200" dist="38100" dir="8100000">
              <a:srgbClr val="000000">
                <a:alpha val="10000"/>
              </a:srgbClr>
            </a:outerShdw>
          </a:effectLst>
        </p:spPr>
      </p:sp>
      <p:sp>
        <p:nvSpPr>
          <p:cNvPr id="7" name="Text 5"/>
          <p:cNvSpPr/>
          <p:nvPr/>
        </p:nvSpPr>
        <p:spPr>
          <a:xfrm>
            <a:off x="310896" y="1527048"/>
            <a:ext cx="3986784" cy="347472"/>
          </a:xfrm>
          <a:prstGeom prst="rect">
            <a:avLst/>
          </a:prstGeom>
          <a:noFill/>
          <a:ln/>
        </p:spPr>
        <p:txBody>
          <a:bodyPr wrap="square" lIns="0" tIns="0" rIns="0" bIns="0" rtlCol="0" anchor="ctr"/>
          <a:lstStyle/>
          <a:p>
            <a:pPr indent="0" marL="0">
              <a:buNone/>
            </a:pPr>
            <a:r>
              <a:rPr lang="en-US" sz="1400" b="1" dirty="0">
                <a:solidFill>
                  <a:srgbClr val="2C5282"/>
                </a:solidFill>
                <a:latin typeface="Calibri" pitchFamily="34" charset="0"/>
                <a:ea typeface="Calibri" pitchFamily="34" charset="-122"/>
                <a:cs typeface="Calibri" pitchFamily="34" charset="-120"/>
              </a:rPr>
              <a:t>Variable de decisión</a:t>
            </a:r>
            <a:endParaRPr lang="en-US" sz="1400" dirty="0"/>
          </a:p>
        </p:txBody>
      </p:sp>
      <p:sp>
        <p:nvSpPr>
          <p:cNvPr id="8" name="Text 6"/>
          <p:cNvSpPr/>
          <p:nvPr/>
        </p:nvSpPr>
        <p:spPr>
          <a:xfrm>
            <a:off x="310896" y="1920240"/>
            <a:ext cx="3986784" cy="1097280"/>
          </a:xfrm>
          <a:prstGeom prst="rect">
            <a:avLst/>
          </a:prstGeom>
          <a:noFill/>
          <a:ln/>
        </p:spPr>
        <p:txBody>
          <a:bodyPr wrap="square" lIns="0" tIns="0" rIns="0" bIns="0" rtlCol="0" anchor="ctr"/>
          <a:lstStyle/>
          <a:p>
            <a:pPr indent="0" marL="0">
              <a:buNone/>
            </a:pPr>
            <a:r>
              <a:rPr lang="en-US" sz="1300" dirty="0">
                <a:solidFill>
                  <a:srgbClr val="1A202C"/>
                </a:solidFill>
                <a:latin typeface="Calibri" pitchFamily="34" charset="0"/>
                <a:ea typeface="Calibri" pitchFamily="34" charset="-122"/>
                <a:cs typeface="Calibri" pitchFamily="34" charset="-120"/>
              </a:rPr>
              <a:t>¿Qué compara el organismo?</a:t>
            </a:r>
            <a:endParaRPr lang="en-US" sz="1300" dirty="0"/>
          </a:p>
          <a:p>
            <a:pPr indent="0" marL="0">
              <a:buNone/>
            </a:pPr>
            <a:r>
              <a:rPr lang="en-US" sz="1300" dirty="0">
                <a:solidFill>
                  <a:srgbClr val="1A202C"/>
                </a:solidFill>
                <a:latin typeface="Calibri" pitchFamily="34" charset="0"/>
                <a:ea typeface="Calibri" pitchFamily="34" charset="-122"/>
                <a:cs typeface="Calibri" pitchFamily="34" charset="-120"/>
              </a:rPr>
              <a:t>Ej. en kinesis: diferencia en concentración de glucosa.</a:t>
            </a:r>
            <a:endParaRPr lang="en-US" sz="1300" dirty="0"/>
          </a:p>
        </p:txBody>
      </p:sp>
      <p:sp>
        <p:nvSpPr>
          <p:cNvPr id="9" name="Shape 7"/>
          <p:cNvSpPr/>
          <p:nvPr/>
        </p:nvSpPr>
        <p:spPr>
          <a:xfrm>
            <a:off x="4681728" y="1417320"/>
            <a:ext cx="4206240" cy="1737360"/>
          </a:xfrm>
          <a:prstGeom prst="rect">
            <a:avLst/>
          </a:prstGeom>
          <a:solidFill>
            <a:srgbClr val="E6F4ED"/>
          </a:solidFill>
          <a:ln w="15240">
            <a:solidFill>
              <a:srgbClr val="276749"/>
            </a:solidFill>
            <a:prstDash val="solid"/>
          </a:ln>
          <a:effectLst>
            <a:outerShdw sx="100000" sy="100000" kx="0" ky="0" algn="bl" rotWithShape="0" blurRad="76200" dist="38100" dir="8100000">
              <a:srgbClr val="000000">
                <a:alpha val="10000"/>
              </a:srgbClr>
            </a:outerShdw>
          </a:effectLst>
        </p:spPr>
      </p:sp>
      <p:sp>
        <p:nvSpPr>
          <p:cNvPr id="10" name="Text 8"/>
          <p:cNvSpPr/>
          <p:nvPr/>
        </p:nvSpPr>
        <p:spPr>
          <a:xfrm>
            <a:off x="4791456" y="1527048"/>
            <a:ext cx="3986784" cy="347472"/>
          </a:xfrm>
          <a:prstGeom prst="rect">
            <a:avLst/>
          </a:prstGeom>
          <a:noFill/>
          <a:ln/>
        </p:spPr>
        <p:txBody>
          <a:bodyPr wrap="square" lIns="0" tIns="0" rIns="0" bIns="0" rtlCol="0" anchor="ctr"/>
          <a:lstStyle/>
          <a:p>
            <a:pPr indent="0" marL="0">
              <a:buNone/>
            </a:pPr>
            <a:r>
              <a:rPr lang="en-US" sz="1400" b="1" dirty="0">
                <a:solidFill>
                  <a:srgbClr val="276749"/>
                </a:solidFill>
                <a:latin typeface="Calibri" pitchFamily="34" charset="0"/>
                <a:ea typeface="Calibri" pitchFamily="34" charset="-122"/>
                <a:cs typeface="Calibri" pitchFamily="34" charset="-120"/>
              </a:rPr>
              <a:t>Regla de respuesta</a:t>
            </a:r>
            <a:endParaRPr lang="en-US" sz="1400" dirty="0"/>
          </a:p>
        </p:txBody>
      </p:sp>
      <p:sp>
        <p:nvSpPr>
          <p:cNvPr id="11" name="Text 9"/>
          <p:cNvSpPr/>
          <p:nvPr/>
        </p:nvSpPr>
        <p:spPr>
          <a:xfrm>
            <a:off x="4791456" y="1920240"/>
            <a:ext cx="3986784" cy="1097280"/>
          </a:xfrm>
          <a:prstGeom prst="rect">
            <a:avLst/>
          </a:prstGeom>
          <a:noFill/>
          <a:ln/>
        </p:spPr>
        <p:txBody>
          <a:bodyPr wrap="square" lIns="0" tIns="0" rIns="0" bIns="0" rtlCol="0" anchor="ctr"/>
          <a:lstStyle/>
          <a:p>
            <a:pPr indent="0" marL="0">
              <a:buNone/>
            </a:pPr>
            <a:r>
              <a:rPr lang="en-US" sz="1300" dirty="0">
                <a:solidFill>
                  <a:srgbClr val="1A202C"/>
                </a:solidFill>
                <a:latin typeface="Calibri" pitchFamily="34" charset="0"/>
                <a:ea typeface="Calibri" pitchFamily="34" charset="-122"/>
                <a:cs typeface="Calibri" pitchFamily="34" charset="-120"/>
              </a:rPr>
              <a:t>¿Qué hace con el resultado de esa comparación?</a:t>
            </a:r>
            <a:endParaRPr lang="en-US" sz="1300" dirty="0"/>
          </a:p>
          <a:p>
            <a:pPr indent="0" marL="0">
              <a:buNone/>
            </a:pPr>
            <a:r>
              <a:rPr lang="en-US" sz="1300" dirty="0">
                <a:solidFill>
                  <a:srgbClr val="1A202C"/>
                </a:solidFill>
                <a:latin typeface="Calibri" pitchFamily="34" charset="0"/>
                <a:ea typeface="Calibri" pitchFamily="34" charset="-122"/>
                <a:cs typeface="Calibri" pitchFamily="34" charset="-120"/>
              </a:rPr>
              <a:t>Ej. en kinesis: nado recto si la diferencia es positiva.</a:t>
            </a:r>
            <a:endParaRPr lang="en-US" sz="1300" dirty="0"/>
          </a:p>
        </p:txBody>
      </p:sp>
      <p:sp>
        <p:nvSpPr>
          <p:cNvPr id="12" name="Shape 10"/>
          <p:cNvSpPr/>
          <p:nvPr/>
        </p:nvSpPr>
        <p:spPr>
          <a:xfrm>
            <a:off x="4572000" y="1737360"/>
            <a:ext cx="0" cy="1097280"/>
          </a:xfrm>
          <a:prstGeom prst="line">
            <a:avLst/>
          </a:prstGeom>
          <a:noFill/>
          <a:ln w="19050">
            <a:solidFill>
              <a:srgbClr val="718096"/>
            </a:solidFill>
            <a:prstDash val="dash"/>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01168" y="3291840"/>
          <a:ext cx="8741664" cy="1417320"/>
        </p:xfrm>
        <a:graphic>
          <a:graphicData uri="http://schemas.openxmlformats.org/drawingml/2006/table">
            <a:tbl>
              <a:tblPr/>
              <a:tblGrid>
                <a:gridCol w="2194560"/>
                <a:gridCol w="3657600"/>
                <a:gridCol w="2889504"/>
              </a:tblGrid>
              <a:tr h="39319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Modelo</a:t>
                      </a:r>
                      <a:endParaRPr lang="en-US" sz="13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solidFill>
                      <a:srgbClr val="2C5282"/>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Variable de decisión</a:t>
                      </a:r>
                      <a:endParaRPr lang="en-US" sz="13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solidFill>
                      <a:srgbClr val="2C5282"/>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Regla de respuesta</a:t>
                      </a:r>
                      <a:endParaRPr lang="en-US" sz="13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solidFill>
                      <a:srgbClr val="2C5282"/>
                    </a:solidFill>
                  </a:tcPr>
                </a:tc>
              </a:tr>
              <a:tr h="393192">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Max. Momentánea</a:t>
                      </a:r>
                      <a:endParaRPr lang="en-US" sz="13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p_i : prob. instantánea de reforzador disponible</a:t>
                      </a:r>
                      <a:endParaRPr lang="en-US" sz="13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Elegir opción con p_i máxima</a:t>
                      </a:r>
                      <a:endParaRPr lang="en-US" sz="13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r>
              <a:tr h="393192">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Mejoramiento</a:t>
                      </a:r>
                      <a:endParaRPr lang="en-US" sz="13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ρ_i : tasa local de refuerzo  r_i/T_i</a:t>
                      </a:r>
                      <a:endParaRPr lang="en-US" sz="13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Moverse hacia mayor tasa local</a:t>
                      </a:r>
                      <a:endParaRPr lang="en-US" sz="13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r>
            </a:tbl>
          </a:graphicData>
        </a:graphic>
      </p:graphicFrame>
      <p:sp>
        <p:nvSpPr>
          <p:cNvPr id="14" name="Text 11"/>
          <p:cNvSpPr/>
          <p:nvPr/>
        </p:nvSpPr>
        <p:spPr>
          <a:xfrm>
            <a:off x="201168" y="4846320"/>
            <a:ext cx="8741664" cy="228600"/>
          </a:xfrm>
          <a:prstGeom prst="rect">
            <a:avLst/>
          </a:prstGeom>
          <a:noFill/>
          <a:ln/>
        </p:spPr>
        <p:txBody>
          <a:bodyPr wrap="square" rtlCol="0" anchor="ctr"/>
          <a:lstStyle/>
          <a:p>
            <a:pPr indent="0" marL="0">
              <a:buNone/>
            </a:pPr>
            <a:r>
              <a:rPr lang="en-US" sz="1200" b="1" i="1" dirty="0">
                <a:solidFill>
                  <a:srgbClr val="C05621"/>
                </a:solidFill>
                <a:latin typeface="Calibri" pitchFamily="34" charset="0"/>
                <a:ea typeface="Calibri" pitchFamily="34" charset="-122"/>
                <a:cs typeface="Calibri" pitchFamily="34" charset="-120"/>
              </a:rPr>
              <a:t>La diferencia en la variable de decisión es lo que el experimento puede detectar.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3457"/>
        </a:solidFill>
      </p:bgPr>
    </p:bg>
    <p:spTree>
      <p:nvGrpSpPr>
        <p:cNvPr id="1" name=""/>
        <p:cNvGrpSpPr/>
        <p:nvPr/>
      </p:nvGrpSpPr>
      <p:grpSpPr>
        <a:xfrm>
          <a:off x="0" y="0"/>
          <a:ext cx="0" cy="0"/>
          <a:chOff x="0" y="0"/>
          <a:chExt cx="0" cy="0"/>
        </a:xfrm>
      </p:grpSpPr>
      <p:sp>
        <p:nvSpPr>
          <p:cNvPr id="2" name="Shape 0"/>
          <p:cNvSpPr/>
          <p:nvPr/>
        </p:nvSpPr>
        <p:spPr>
          <a:xfrm>
            <a:off x="0" y="4297680"/>
            <a:ext cx="9144000" cy="845820"/>
          </a:xfrm>
          <a:prstGeom prst="rect">
            <a:avLst/>
          </a:prstGeom>
          <a:solidFill>
            <a:srgbClr val="2C5282"/>
          </a:solidFill>
          <a:ln w="12700">
            <a:solidFill>
              <a:srgbClr val="2C5282"/>
            </a:solidFill>
            <a:prstDash val="solid"/>
          </a:ln>
        </p:spPr>
      </p:sp>
      <p:sp>
        <p:nvSpPr>
          <p:cNvPr id="3" name="Shape 1"/>
          <p:cNvSpPr/>
          <p:nvPr/>
        </p:nvSpPr>
        <p:spPr>
          <a:xfrm>
            <a:off x="7863840" y="0"/>
            <a:ext cx="1280160" cy="4297680"/>
          </a:xfrm>
          <a:prstGeom prst="rect">
            <a:avLst/>
          </a:prstGeom>
          <a:solidFill>
            <a:srgbClr val="2C5282">
              <a:alpha val="30000"/>
            </a:srgbClr>
          </a:solidFill>
          <a:ln w="12700">
            <a:solidFill>
              <a:srgbClr val="2C5282">
                <a:alpha val="30000"/>
              </a:srgbClr>
            </a:solidFill>
            <a:prstDash val="solid"/>
          </a:ln>
        </p:spPr>
      </p:sp>
      <p:sp>
        <p:nvSpPr>
          <p:cNvPr id="4" name="Text 2"/>
          <p:cNvSpPr/>
          <p:nvPr/>
        </p:nvSpPr>
        <p:spPr>
          <a:xfrm>
            <a:off x="457200" y="1097280"/>
            <a:ext cx="7315200" cy="457200"/>
          </a:xfrm>
          <a:prstGeom prst="rect">
            <a:avLst/>
          </a:prstGeom>
          <a:noFill/>
          <a:ln/>
        </p:spPr>
        <p:txBody>
          <a:bodyPr wrap="square" rtlCol="0" anchor="ctr"/>
          <a:lstStyle/>
          <a:p>
            <a:pPr indent="0" marL="0">
              <a:buNone/>
            </a:pPr>
            <a:r>
              <a:rPr lang="en-US" sz="1300" b="1" spc="400" kern="0" dirty="0">
                <a:solidFill>
                  <a:srgbClr val="AECDE8"/>
                </a:solidFill>
                <a:latin typeface="Calibri" pitchFamily="34" charset="0"/>
                <a:ea typeface="Calibri" pitchFamily="34" charset="-122"/>
                <a:cs typeface="Calibri" pitchFamily="34" charset="-120"/>
              </a:rPr>
              <a:t>SECCIÓN I</a:t>
            </a:r>
            <a:endParaRPr lang="en-US" sz="1300" dirty="0"/>
          </a:p>
        </p:txBody>
      </p:sp>
      <p:sp>
        <p:nvSpPr>
          <p:cNvPr id="5" name="Text 3"/>
          <p:cNvSpPr/>
          <p:nvPr/>
        </p:nvSpPr>
        <p:spPr>
          <a:xfrm>
            <a:off x="457200" y="1645920"/>
            <a:ext cx="7772400" cy="1645920"/>
          </a:xfrm>
          <a:prstGeom prst="rect">
            <a:avLst/>
          </a:prstGeom>
          <a:noFill/>
          <a:ln/>
        </p:spPr>
        <p:txBody>
          <a:bodyPr wrap="square"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Maximización Momentánea</a:t>
            </a:r>
            <a:endParaRPr lang="en-US" sz="3400" dirty="0"/>
          </a:p>
        </p:txBody>
      </p:sp>
      <p:sp>
        <p:nvSpPr>
          <p:cNvPr id="6" name="Text 4"/>
          <p:cNvSpPr/>
          <p:nvPr/>
        </p:nvSpPr>
        <p:spPr>
          <a:xfrm>
            <a:off x="457200" y="3383280"/>
            <a:ext cx="7772400" cy="640080"/>
          </a:xfrm>
          <a:prstGeom prst="rect">
            <a:avLst/>
          </a:prstGeom>
          <a:noFill/>
          <a:ln/>
        </p:spPr>
        <p:txBody>
          <a:bodyPr wrap="square" rtlCol="0" anchor="ctr"/>
          <a:lstStyle/>
          <a:p>
            <a:pPr indent="0" marL="0">
              <a:buNone/>
            </a:pPr>
            <a:r>
              <a:rPr lang="en-US" sz="1600" i="1" dirty="0">
                <a:solidFill>
                  <a:srgbClr val="AECDE8"/>
                </a:solidFill>
                <a:latin typeface="Calibri" pitchFamily="34" charset="0"/>
                <a:ea typeface="Calibri" pitchFamily="34" charset="-122"/>
                <a:cs typeface="Calibri" pitchFamily="34" charset="-120"/>
              </a:rPr>
              <a:t>Shimp (1969) — predicción y evaluación empírica</a:t>
            </a:r>
            <a:endParaRPr lang="en-US" sz="1600" dirty="0"/>
          </a:p>
        </p:txBody>
      </p:sp>
      <p:sp>
        <p:nvSpPr>
          <p:cNvPr id="7" name="Text 5"/>
          <p:cNvSpPr/>
          <p:nvPr/>
        </p:nvSpPr>
        <p:spPr>
          <a:xfrm>
            <a:off x="457200" y="4663440"/>
            <a:ext cx="8229600" cy="320040"/>
          </a:xfrm>
          <a:prstGeom prst="rect">
            <a:avLst/>
          </a:prstGeom>
          <a:noFill/>
          <a:ln/>
        </p:spPr>
        <p:txBody>
          <a:bodyPr wrap="square" rtlCol="0" anchor="ctr"/>
          <a:lstStyle/>
          <a:p>
            <a:pPr indent="0" marL="0">
              <a:buNone/>
            </a:pPr>
            <a:r>
              <a:rPr lang="en-US" sz="1100" dirty="0">
                <a:solidFill>
                  <a:srgbClr val="AECDE8"/>
                </a:solidFill>
                <a:latin typeface="Calibri" pitchFamily="34" charset="0"/>
                <a:ea typeface="Calibri" pitchFamily="34" charset="-122"/>
                <a:cs typeface="Calibri" pitchFamily="34" charset="-120"/>
              </a:rPr>
              <a:t>Capítulo 15 · Aprendizaje y Comportamiento Adaptable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C5282"/>
          </a:solidFill>
          <a:ln/>
        </p:spPr>
      </p:sp>
      <p:sp>
        <p:nvSpPr>
          <p:cNvPr id="3" name="Text 1"/>
          <p:cNvSpPr/>
          <p:nvPr/>
        </p:nvSpPr>
        <p:spPr>
          <a:xfrm>
            <a:off x="201168" y="164592"/>
            <a:ext cx="8778240" cy="566928"/>
          </a:xfrm>
          <a:prstGeom prst="rect">
            <a:avLst/>
          </a:prstGeom>
          <a:noFill/>
          <a:ln/>
        </p:spPr>
        <p:txBody>
          <a:bodyPr wrap="square" lIns="0" tIns="0" rIns="0" bIns="0" rtlCol="0" anchor="ctr"/>
          <a:lstStyle/>
          <a:p>
            <a:pPr indent="0" marL="0">
              <a:buNone/>
            </a:pPr>
            <a:r>
              <a:rPr lang="en-US" sz="2600" b="1" dirty="0">
                <a:solidFill>
                  <a:srgbClr val="2C5282"/>
                </a:solidFill>
                <a:latin typeface="Calibri" pitchFamily="34" charset="0"/>
                <a:ea typeface="Calibri" pitchFamily="34" charset="-122"/>
                <a:cs typeface="Calibri" pitchFamily="34" charset="-120"/>
              </a:rPr>
              <a:t>La estructura del programa de intervalo variable (IV)</a:t>
            </a:r>
            <a:endParaRPr lang="en-US" sz="2600" dirty="0"/>
          </a:p>
        </p:txBody>
      </p:sp>
      <p:sp>
        <p:nvSpPr>
          <p:cNvPr id="4" name="Shape 2"/>
          <p:cNvSpPr/>
          <p:nvPr/>
        </p:nvSpPr>
        <p:spPr>
          <a:xfrm>
            <a:off x="201168" y="777240"/>
            <a:ext cx="8741664" cy="0"/>
          </a:xfrm>
          <a:prstGeom prst="line">
            <a:avLst/>
          </a:prstGeom>
          <a:noFill/>
          <a:ln w="19050">
            <a:solidFill>
              <a:srgbClr val="2C5282"/>
            </a:solidFill>
            <a:prstDash val="solid"/>
          </a:ln>
        </p:spPr>
      </p:sp>
      <p:sp>
        <p:nvSpPr>
          <p:cNvPr id="5" name="Text 3"/>
          <p:cNvSpPr/>
          <p:nvPr/>
        </p:nvSpPr>
        <p:spPr>
          <a:xfrm>
            <a:off x="201168" y="914400"/>
            <a:ext cx="8741664" cy="384048"/>
          </a:xfrm>
          <a:prstGeom prst="rect">
            <a:avLst/>
          </a:prstGeom>
          <a:noFill/>
          <a:ln/>
        </p:spPr>
        <p:txBody>
          <a:bodyPr wrap="square" rtlCol="0" anchor="ctr"/>
          <a:lstStyle/>
          <a:p>
            <a:pPr indent="0" marL="0">
              <a:buNone/>
            </a:pPr>
            <a:r>
              <a:rPr lang="en-US" sz="1500" b="1" i="1" dirty="0">
                <a:solidFill>
                  <a:srgbClr val="2C5282"/>
                </a:solidFill>
                <a:latin typeface="Calibri" pitchFamily="34" charset="0"/>
                <a:ea typeface="Calibri" pitchFamily="34" charset="-122"/>
                <a:cs typeface="Calibri" pitchFamily="34" charset="-120"/>
              </a:rPr>
              <a:t>¿Por qué la probabilidad de encontrar el reforzador crece con el tiempo de ausencia?</a:t>
            </a:r>
            <a:endParaRPr lang="en-US" sz="1500" dirty="0"/>
          </a:p>
        </p:txBody>
      </p:sp>
      <p:sp>
        <p:nvSpPr>
          <p:cNvPr id="6" name="Shape 4"/>
          <p:cNvSpPr/>
          <p:nvPr/>
        </p:nvSpPr>
        <p:spPr>
          <a:xfrm>
            <a:off x="201168" y="1463040"/>
            <a:ext cx="457200" cy="457200"/>
          </a:xfrm>
          <a:prstGeom prst="ellipse">
            <a:avLst/>
          </a:prstGeom>
          <a:solidFill>
            <a:srgbClr val="2C5282"/>
          </a:solidFill>
          <a:ln w="12700">
            <a:solidFill>
              <a:srgbClr val="2C5282"/>
            </a:solidFill>
            <a:prstDash val="solid"/>
          </a:ln>
        </p:spPr>
      </p:sp>
      <p:sp>
        <p:nvSpPr>
          <p:cNvPr id="7" name="Text 5"/>
          <p:cNvSpPr/>
          <p:nvPr/>
        </p:nvSpPr>
        <p:spPr>
          <a:xfrm>
            <a:off x="201168" y="1490472"/>
            <a:ext cx="45720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749808" y="1508760"/>
            <a:ext cx="8229600" cy="457200"/>
          </a:xfrm>
          <a:prstGeom prst="rect">
            <a:avLst/>
          </a:prstGeom>
          <a:noFill/>
          <a:ln/>
        </p:spPr>
        <p:txBody>
          <a:bodyPr wrap="square" lIns="0" tIns="0" rIns="0" bIns="0" rtlCol="0" anchor="ctr"/>
          <a:lstStyle/>
          <a:p>
            <a:pPr indent="0" marL="0">
              <a:buNone/>
            </a:pPr>
            <a:r>
              <a:rPr lang="en-US" sz="1400" dirty="0">
                <a:solidFill>
                  <a:srgbClr val="1A202C"/>
                </a:solidFill>
                <a:latin typeface="Calibri" pitchFamily="34" charset="0"/>
                <a:ea typeface="Calibri" pitchFamily="34" charset="-122"/>
                <a:cs typeface="Calibri" pitchFamily="34" charset="-120"/>
              </a:rPr>
              <a:t>El reloj del IV corre continuamente, incluso mientras el organismo atiende la otra opción.</a:t>
            </a:r>
            <a:endParaRPr lang="en-US" sz="1400" dirty="0"/>
          </a:p>
        </p:txBody>
      </p:sp>
      <p:sp>
        <p:nvSpPr>
          <p:cNvPr id="9" name="Shape 7"/>
          <p:cNvSpPr/>
          <p:nvPr/>
        </p:nvSpPr>
        <p:spPr>
          <a:xfrm>
            <a:off x="429768" y="1920240"/>
            <a:ext cx="0" cy="365760"/>
          </a:xfrm>
          <a:prstGeom prst="line">
            <a:avLst/>
          </a:prstGeom>
          <a:noFill/>
          <a:ln w="19050">
            <a:solidFill>
              <a:srgbClr val="2C5282"/>
            </a:solidFill>
            <a:prstDash val="dash"/>
          </a:ln>
        </p:spPr>
      </p:sp>
      <p:sp>
        <p:nvSpPr>
          <p:cNvPr id="10" name="Shape 8"/>
          <p:cNvSpPr/>
          <p:nvPr/>
        </p:nvSpPr>
        <p:spPr>
          <a:xfrm>
            <a:off x="201168" y="2286000"/>
            <a:ext cx="457200" cy="457200"/>
          </a:xfrm>
          <a:prstGeom prst="ellipse">
            <a:avLst/>
          </a:prstGeom>
          <a:solidFill>
            <a:srgbClr val="2C5282"/>
          </a:solidFill>
          <a:ln w="12700">
            <a:solidFill>
              <a:srgbClr val="2C5282"/>
            </a:solidFill>
            <a:prstDash val="solid"/>
          </a:ln>
        </p:spPr>
      </p:sp>
      <p:sp>
        <p:nvSpPr>
          <p:cNvPr id="11" name="Text 9"/>
          <p:cNvSpPr/>
          <p:nvPr/>
        </p:nvSpPr>
        <p:spPr>
          <a:xfrm>
            <a:off x="201168" y="2313432"/>
            <a:ext cx="45720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749808" y="2331720"/>
            <a:ext cx="8229600" cy="457200"/>
          </a:xfrm>
          <a:prstGeom prst="rect">
            <a:avLst/>
          </a:prstGeom>
          <a:noFill/>
          <a:ln/>
        </p:spPr>
        <p:txBody>
          <a:bodyPr wrap="square" lIns="0" tIns="0" rIns="0" bIns="0" rtlCol="0" anchor="ctr"/>
          <a:lstStyle/>
          <a:p>
            <a:pPr indent="0" marL="0">
              <a:buNone/>
            </a:pPr>
            <a:r>
              <a:rPr lang="en-US" sz="1400" dirty="0">
                <a:solidFill>
                  <a:srgbClr val="1A202C"/>
                </a:solidFill>
                <a:latin typeface="Calibri" pitchFamily="34" charset="0"/>
                <a:ea typeface="Calibri" pitchFamily="34" charset="-122"/>
                <a:cs typeface="Calibri" pitchFamily="34" charset="-120"/>
              </a:rPr>
              <a:t>Cuando el intervalo programado se completa, el reforzador queda armado — disponible esperando.</a:t>
            </a:r>
            <a:endParaRPr lang="en-US" sz="1400" dirty="0"/>
          </a:p>
        </p:txBody>
      </p:sp>
      <p:sp>
        <p:nvSpPr>
          <p:cNvPr id="13" name="Shape 11"/>
          <p:cNvSpPr/>
          <p:nvPr/>
        </p:nvSpPr>
        <p:spPr>
          <a:xfrm>
            <a:off x="429768" y="2743200"/>
            <a:ext cx="0" cy="365760"/>
          </a:xfrm>
          <a:prstGeom prst="line">
            <a:avLst/>
          </a:prstGeom>
          <a:noFill/>
          <a:ln w="19050">
            <a:solidFill>
              <a:srgbClr val="2C5282"/>
            </a:solidFill>
            <a:prstDash val="dash"/>
          </a:ln>
        </p:spPr>
      </p:sp>
      <p:sp>
        <p:nvSpPr>
          <p:cNvPr id="14" name="Shape 12"/>
          <p:cNvSpPr/>
          <p:nvPr/>
        </p:nvSpPr>
        <p:spPr>
          <a:xfrm>
            <a:off x="201168" y="3108960"/>
            <a:ext cx="457200" cy="457200"/>
          </a:xfrm>
          <a:prstGeom prst="ellipse">
            <a:avLst/>
          </a:prstGeom>
          <a:solidFill>
            <a:srgbClr val="2C5282"/>
          </a:solidFill>
          <a:ln w="12700">
            <a:solidFill>
              <a:srgbClr val="2C5282"/>
            </a:solidFill>
            <a:prstDash val="solid"/>
          </a:ln>
        </p:spPr>
      </p:sp>
      <p:sp>
        <p:nvSpPr>
          <p:cNvPr id="15" name="Text 13"/>
          <p:cNvSpPr/>
          <p:nvPr/>
        </p:nvSpPr>
        <p:spPr>
          <a:xfrm>
            <a:off x="201168" y="3136392"/>
            <a:ext cx="45720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749808" y="3154680"/>
            <a:ext cx="8229600" cy="457200"/>
          </a:xfrm>
          <a:prstGeom prst="rect">
            <a:avLst/>
          </a:prstGeom>
          <a:noFill/>
          <a:ln/>
        </p:spPr>
        <p:txBody>
          <a:bodyPr wrap="square" lIns="0" tIns="0" rIns="0" bIns="0" rtlCol="0" anchor="ctr"/>
          <a:lstStyle/>
          <a:p>
            <a:pPr indent="0" marL="0">
              <a:buNone/>
            </a:pPr>
            <a:r>
              <a:rPr lang="en-US" sz="1400" dirty="0">
                <a:solidFill>
                  <a:srgbClr val="1A202C"/>
                </a:solidFill>
                <a:latin typeface="Calibri" pitchFamily="34" charset="0"/>
                <a:ea typeface="Calibri" pitchFamily="34" charset="-122"/>
                <a:cs typeface="Calibri" pitchFamily="34" charset="-120"/>
              </a:rPr>
              <a:t>La probabilidad de encontrarlo disponible al llegar crece con el tiempo de ausencia.</a:t>
            </a:r>
            <a:endParaRPr lang="en-US" sz="1400" dirty="0"/>
          </a:p>
        </p:txBody>
      </p:sp>
      <p:sp>
        <p:nvSpPr>
          <p:cNvPr id="17" name="Shape 15"/>
          <p:cNvSpPr/>
          <p:nvPr/>
        </p:nvSpPr>
        <p:spPr>
          <a:xfrm>
            <a:off x="429768" y="3566160"/>
            <a:ext cx="0" cy="365760"/>
          </a:xfrm>
          <a:prstGeom prst="line">
            <a:avLst/>
          </a:prstGeom>
          <a:noFill/>
          <a:ln w="19050">
            <a:solidFill>
              <a:srgbClr val="2C5282"/>
            </a:solidFill>
            <a:prstDash val="dash"/>
          </a:ln>
        </p:spPr>
      </p:sp>
      <p:sp>
        <p:nvSpPr>
          <p:cNvPr id="18" name="Shape 16"/>
          <p:cNvSpPr/>
          <p:nvPr/>
        </p:nvSpPr>
        <p:spPr>
          <a:xfrm>
            <a:off x="201168" y="3931920"/>
            <a:ext cx="457200" cy="457200"/>
          </a:xfrm>
          <a:prstGeom prst="ellipse">
            <a:avLst/>
          </a:prstGeom>
          <a:solidFill>
            <a:srgbClr val="2C5282"/>
          </a:solidFill>
          <a:ln w="12700">
            <a:solidFill>
              <a:srgbClr val="2C5282"/>
            </a:solidFill>
            <a:prstDash val="solid"/>
          </a:ln>
        </p:spPr>
      </p:sp>
      <p:sp>
        <p:nvSpPr>
          <p:cNvPr id="19" name="Text 17"/>
          <p:cNvSpPr/>
          <p:nvPr/>
        </p:nvSpPr>
        <p:spPr>
          <a:xfrm>
            <a:off x="201168" y="3959352"/>
            <a:ext cx="45720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0" name="Text 18"/>
          <p:cNvSpPr/>
          <p:nvPr/>
        </p:nvSpPr>
        <p:spPr>
          <a:xfrm>
            <a:off x="749808" y="3977640"/>
            <a:ext cx="8229600" cy="457200"/>
          </a:xfrm>
          <a:prstGeom prst="rect">
            <a:avLst/>
          </a:prstGeom>
          <a:noFill/>
          <a:ln/>
        </p:spPr>
        <p:txBody>
          <a:bodyPr wrap="square" lIns="0" tIns="0" rIns="0" bIns="0" rtlCol="0" anchor="ctr"/>
          <a:lstStyle/>
          <a:p>
            <a:pPr indent="0" marL="0">
              <a:buNone/>
            </a:pPr>
            <a:r>
              <a:rPr lang="en-US" sz="1400" dirty="0">
                <a:solidFill>
                  <a:srgbClr val="1A202C"/>
                </a:solidFill>
                <a:latin typeface="Calibri" pitchFamily="34" charset="0"/>
                <a:ea typeface="Calibri" pitchFamily="34" charset="-122"/>
                <a:cs typeface="Calibri" pitchFamily="34" charset="-120"/>
              </a:rPr>
              <a:t>Si el organismo visita con suficiente frecuencia, puede recolectar casi todos los reforzadores disponibles.</a:t>
            </a:r>
            <a:endParaRPr lang="en-US" sz="1400" dirty="0"/>
          </a:p>
        </p:txBody>
      </p:sp>
      <p:sp>
        <p:nvSpPr>
          <p:cNvPr id="21" name="Shape 19"/>
          <p:cNvSpPr/>
          <p:nvPr/>
        </p:nvSpPr>
        <p:spPr>
          <a:xfrm>
            <a:off x="201168" y="4663440"/>
            <a:ext cx="8741664" cy="347472"/>
          </a:xfrm>
          <a:prstGeom prst="rect">
            <a:avLst/>
          </a:prstGeom>
          <a:solidFill>
            <a:srgbClr val="EBF4FF"/>
          </a:solidFill>
          <a:ln w="15240">
            <a:solidFill>
              <a:srgbClr val="2C5282"/>
            </a:solidFill>
            <a:prstDash val="solid"/>
          </a:ln>
          <a:effectLst>
            <a:outerShdw sx="100000" sy="100000" kx="0" ky="0" algn="bl" rotWithShape="0" blurRad="76200" dist="38100" dir="8100000">
              <a:srgbClr val="000000">
                <a:alpha val="10000"/>
              </a:srgbClr>
            </a:outerShdw>
          </a:effectLst>
        </p:spPr>
      </p:sp>
      <p:sp>
        <p:nvSpPr>
          <p:cNvPr id="22" name="Text 20"/>
          <p:cNvSpPr/>
          <p:nvPr/>
        </p:nvSpPr>
        <p:spPr>
          <a:xfrm>
            <a:off x="320040" y="4718304"/>
            <a:ext cx="8503920" cy="256032"/>
          </a:xfrm>
          <a:prstGeom prst="rect">
            <a:avLst/>
          </a:prstGeom>
          <a:noFill/>
          <a:ln/>
        </p:spPr>
        <p:txBody>
          <a:bodyPr wrap="square" lIns="0" tIns="0" rIns="0" bIns="0" rtlCol="0" anchor="ctr"/>
          <a:lstStyle/>
          <a:p>
            <a:pPr algn="ctr" indent="0" marL="0">
              <a:buNone/>
            </a:pPr>
            <a:r>
              <a:rPr lang="en-US" sz="1300" dirty="0">
                <a:solidFill>
                  <a:srgbClr val="2C5282"/>
                </a:solidFill>
                <a:latin typeface="Calibri" pitchFamily="34" charset="0"/>
                <a:ea typeface="Calibri" pitchFamily="34" charset="-122"/>
                <a:cs typeface="Calibri" pitchFamily="34" charset="-120"/>
              </a:rPr>
              <a:t>P(reforzador disponible) = 1 − e^(−λ · t)    donde λ = tasa del programa y t = tiempo sin visitar</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C5282"/>
          </a:solidFill>
          <a:ln/>
        </p:spPr>
      </p:sp>
      <p:sp>
        <p:nvSpPr>
          <p:cNvPr id="3" name="Text 1"/>
          <p:cNvSpPr/>
          <p:nvPr/>
        </p:nvSpPr>
        <p:spPr>
          <a:xfrm>
            <a:off x="201168" y="164592"/>
            <a:ext cx="8778240" cy="566928"/>
          </a:xfrm>
          <a:prstGeom prst="rect">
            <a:avLst/>
          </a:prstGeom>
          <a:noFill/>
          <a:ln/>
        </p:spPr>
        <p:txBody>
          <a:bodyPr wrap="square" lIns="0" tIns="0" rIns="0" bIns="0" rtlCol="0" anchor="ctr"/>
          <a:lstStyle/>
          <a:p>
            <a:pPr indent="0" marL="0">
              <a:buNone/>
            </a:pPr>
            <a:r>
              <a:rPr lang="en-US" sz="2600" b="1" dirty="0">
                <a:solidFill>
                  <a:srgbClr val="2C5282"/>
                </a:solidFill>
                <a:latin typeface="Calibri" pitchFamily="34" charset="0"/>
                <a:ea typeface="Calibri" pitchFamily="34" charset="-122"/>
                <a:cs typeface="Calibri" pitchFamily="34" charset="-120"/>
              </a:rPr>
              <a:t>El modelo de Shimp (1969): maximización momentánea</a:t>
            </a:r>
            <a:endParaRPr lang="en-US" sz="2600" dirty="0"/>
          </a:p>
        </p:txBody>
      </p:sp>
      <p:sp>
        <p:nvSpPr>
          <p:cNvPr id="4" name="Shape 2"/>
          <p:cNvSpPr/>
          <p:nvPr/>
        </p:nvSpPr>
        <p:spPr>
          <a:xfrm>
            <a:off x="201168" y="777240"/>
            <a:ext cx="8741664" cy="0"/>
          </a:xfrm>
          <a:prstGeom prst="line">
            <a:avLst/>
          </a:prstGeom>
          <a:noFill/>
          <a:ln w="19050">
            <a:solidFill>
              <a:srgbClr val="2C5282"/>
            </a:solidFill>
            <a:prstDash val="solid"/>
          </a:ln>
        </p:spPr>
      </p:sp>
      <p:sp>
        <p:nvSpPr>
          <p:cNvPr id="5" name="Shape 3"/>
          <p:cNvSpPr/>
          <p:nvPr/>
        </p:nvSpPr>
        <p:spPr>
          <a:xfrm>
            <a:off x="201168" y="914400"/>
            <a:ext cx="8741664" cy="1143000"/>
          </a:xfrm>
          <a:prstGeom prst="rect">
            <a:avLst/>
          </a:prstGeom>
          <a:solidFill>
            <a:srgbClr val="EBF4FF"/>
          </a:solidFill>
          <a:ln w="15240">
            <a:solidFill>
              <a:srgbClr val="2C5282"/>
            </a:solidFill>
            <a:prstDash val="solid"/>
          </a:ln>
          <a:effectLst>
            <a:outerShdw sx="100000" sy="100000" kx="0" ky="0" algn="bl" rotWithShape="0" blurRad="76200" dist="38100" dir="8100000">
              <a:srgbClr val="000000">
                <a:alpha val="10000"/>
              </a:srgbClr>
            </a:outerShdw>
          </a:effectLst>
        </p:spPr>
      </p:sp>
      <p:sp>
        <p:nvSpPr>
          <p:cNvPr id="6" name="Text 4"/>
          <p:cNvSpPr/>
          <p:nvPr/>
        </p:nvSpPr>
        <p:spPr>
          <a:xfrm>
            <a:off x="320040" y="987552"/>
            <a:ext cx="8503920" cy="320040"/>
          </a:xfrm>
          <a:prstGeom prst="rect">
            <a:avLst/>
          </a:prstGeom>
          <a:noFill/>
          <a:ln/>
        </p:spPr>
        <p:txBody>
          <a:bodyPr wrap="square" lIns="0" tIns="0" rIns="0" bIns="0" rtlCol="0" anchor="ctr"/>
          <a:lstStyle/>
          <a:p>
            <a:pPr indent="0" marL="0">
              <a:buNone/>
            </a:pPr>
            <a:r>
              <a:rPr lang="en-US" sz="1300" b="1" dirty="0">
                <a:solidFill>
                  <a:srgbClr val="2C5282"/>
                </a:solidFill>
                <a:latin typeface="Calibri" pitchFamily="34" charset="0"/>
                <a:ea typeface="Calibri" pitchFamily="34" charset="-122"/>
                <a:cs typeface="Calibri" pitchFamily="34" charset="-120"/>
              </a:rPr>
              <a:t>Proposición central</a:t>
            </a:r>
            <a:endParaRPr lang="en-US" sz="1300" dirty="0"/>
          </a:p>
        </p:txBody>
      </p:sp>
      <p:sp>
        <p:nvSpPr>
          <p:cNvPr id="7" name="Text 5"/>
          <p:cNvSpPr/>
          <p:nvPr/>
        </p:nvSpPr>
        <p:spPr>
          <a:xfrm>
            <a:off x="320040" y="1325880"/>
            <a:ext cx="8503920" cy="594360"/>
          </a:xfrm>
          <a:prstGeom prst="rect">
            <a:avLst/>
          </a:prstGeom>
          <a:noFill/>
          <a:ln/>
        </p:spPr>
        <p:txBody>
          <a:bodyPr wrap="square" lIns="0" tIns="0" rIns="0" bIns="0" rtlCol="0" anchor="ctr"/>
          <a:lstStyle/>
          <a:p>
            <a:pPr indent="0" marL="0">
              <a:buNone/>
            </a:pPr>
            <a:r>
              <a:rPr lang="en-US" sz="1400" dirty="0">
                <a:solidFill>
                  <a:srgbClr val="1A202C"/>
                </a:solidFill>
                <a:latin typeface="Calibri" pitchFamily="34" charset="0"/>
                <a:ea typeface="Calibri" pitchFamily="34" charset="-122"/>
                <a:cs typeface="Calibri" pitchFamily="34" charset="-120"/>
              </a:rPr>
              <a:t>En cada oportunidad de respuesta, el organismo computa p_i — la probabilidad instantánea de que el reforzador esté disponible en la opción i — y responde a la alternativa con p_i más alta.</a:t>
            </a:r>
            <a:endParaRPr lang="en-US" sz="1400" dirty="0"/>
          </a:p>
        </p:txBody>
      </p:sp>
      <p:sp>
        <p:nvSpPr>
          <p:cNvPr id="8" name="Text 6"/>
          <p:cNvSpPr/>
          <p:nvPr/>
        </p:nvSpPr>
        <p:spPr>
          <a:xfrm>
            <a:off x="201168" y="2240280"/>
            <a:ext cx="8741664" cy="411480"/>
          </a:xfrm>
          <a:prstGeom prst="rect">
            <a:avLst/>
          </a:prstGeom>
          <a:noFill/>
          <a:ln/>
        </p:spPr>
        <p:txBody>
          <a:bodyPr wrap="square" rtlCol="0" anchor="ctr"/>
          <a:lstStyle/>
          <a:p>
            <a:pPr indent="0" marL="0">
              <a:buNone/>
            </a:pPr>
            <a:r>
              <a:rPr lang="en-US" sz="1500" b="1" dirty="0">
                <a:solidFill>
                  <a:srgbClr val="2C5282"/>
                </a:solidFill>
                <a:latin typeface="Calibri" pitchFamily="34" charset="0"/>
                <a:ea typeface="Calibri" pitchFamily="34" charset="-122"/>
                <a:cs typeface="Calibri" pitchFamily="34" charset="-120"/>
              </a:rPr>
              <a:t>Variable de decisión:  </a:t>
            </a:r>
            <a:pPr indent="0" marL="0">
              <a:buNone/>
            </a:pPr>
            <a:r>
              <a:rPr lang="en-US" sz="1500" dirty="0">
                <a:solidFill>
                  <a:srgbClr val="1A202C"/>
                </a:solidFill>
                <a:latin typeface="Calibri" pitchFamily="34" charset="0"/>
                <a:ea typeface="Calibri" pitchFamily="34" charset="-122"/>
                <a:cs typeface="Calibri" pitchFamily="34" charset="-120"/>
              </a:rPr>
              <a:t>p_i  (probabilidad instantánea de reforzador disponible)</a:t>
            </a:r>
            <a:endParaRPr lang="en-US" sz="1500" dirty="0"/>
          </a:p>
        </p:txBody>
      </p:sp>
      <p:sp>
        <p:nvSpPr>
          <p:cNvPr id="9" name="Text 7"/>
          <p:cNvSpPr/>
          <p:nvPr/>
        </p:nvSpPr>
        <p:spPr>
          <a:xfrm>
            <a:off x="201168" y="2697480"/>
            <a:ext cx="8741664" cy="411480"/>
          </a:xfrm>
          <a:prstGeom prst="rect">
            <a:avLst/>
          </a:prstGeom>
          <a:noFill/>
          <a:ln/>
        </p:spPr>
        <p:txBody>
          <a:bodyPr wrap="square" rtlCol="0" anchor="ctr"/>
          <a:lstStyle/>
          <a:p>
            <a:pPr indent="0" marL="0">
              <a:buNone/>
            </a:pPr>
            <a:r>
              <a:rPr lang="en-US" sz="1500" b="1" dirty="0">
                <a:solidFill>
                  <a:srgbClr val="2C5282"/>
                </a:solidFill>
                <a:latin typeface="Calibri" pitchFamily="34" charset="0"/>
                <a:ea typeface="Calibri" pitchFamily="34" charset="-122"/>
                <a:cs typeface="Calibri" pitchFamily="34" charset="-120"/>
              </a:rPr>
              <a:t>Regla de respuesta:  </a:t>
            </a:r>
            <a:pPr indent="0" marL="0">
              <a:buNone/>
            </a:pPr>
            <a:r>
              <a:rPr lang="en-US" sz="1500" dirty="0">
                <a:solidFill>
                  <a:srgbClr val="1A202C"/>
                </a:solidFill>
                <a:latin typeface="Calibri" pitchFamily="34" charset="0"/>
                <a:ea typeface="Calibri" pitchFamily="34" charset="-122"/>
                <a:cs typeface="Calibri" pitchFamily="34" charset="-120"/>
              </a:rPr>
              <a:t>elegir argmax_i { p_i }</a:t>
            </a:r>
            <a:endParaRPr lang="en-US" sz="1500" dirty="0"/>
          </a:p>
        </p:txBody>
      </p:sp>
      <p:sp>
        <p:nvSpPr>
          <p:cNvPr id="10" name="Shape 8"/>
          <p:cNvSpPr/>
          <p:nvPr/>
        </p:nvSpPr>
        <p:spPr>
          <a:xfrm>
            <a:off x="201168" y="3246120"/>
            <a:ext cx="8741664" cy="914400"/>
          </a:xfrm>
          <a:prstGeom prst="rect">
            <a:avLst/>
          </a:prstGeom>
          <a:solidFill>
            <a:srgbClr val="E6F4ED"/>
          </a:solidFill>
          <a:ln w="15240">
            <a:solidFill>
              <a:srgbClr val="276749"/>
            </a:solidFill>
            <a:prstDash val="solid"/>
          </a:ln>
          <a:effectLst>
            <a:outerShdw sx="100000" sy="100000" kx="0" ky="0" algn="bl" rotWithShape="0" blurRad="76200" dist="38100" dir="8100000">
              <a:srgbClr val="000000">
                <a:alpha val="10000"/>
              </a:srgbClr>
            </a:outerShdw>
          </a:effectLst>
        </p:spPr>
      </p:sp>
      <p:sp>
        <p:nvSpPr>
          <p:cNvPr id="11" name="Text 9"/>
          <p:cNvSpPr/>
          <p:nvPr/>
        </p:nvSpPr>
        <p:spPr>
          <a:xfrm>
            <a:off x="320040" y="3319272"/>
            <a:ext cx="8503920" cy="320040"/>
          </a:xfrm>
          <a:prstGeom prst="rect">
            <a:avLst/>
          </a:prstGeom>
          <a:noFill/>
          <a:ln/>
        </p:spPr>
        <p:txBody>
          <a:bodyPr wrap="square" lIns="0" tIns="0" rIns="0" bIns="0" rtlCol="0" anchor="ctr"/>
          <a:lstStyle/>
          <a:p>
            <a:pPr indent="0" marL="0">
              <a:buNone/>
            </a:pPr>
            <a:r>
              <a:rPr lang="en-US" sz="1300" b="1" dirty="0">
                <a:solidFill>
                  <a:srgbClr val="276749"/>
                </a:solidFill>
                <a:latin typeface="Calibri" pitchFamily="34" charset="0"/>
                <a:ea typeface="Calibri" pitchFamily="34" charset="-122"/>
                <a:cs typeface="Calibri" pitchFamily="34" charset="-120"/>
              </a:rPr>
              <a:t>Igualación como resultado emergente</a:t>
            </a:r>
            <a:endParaRPr lang="en-US" sz="1300" dirty="0"/>
          </a:p>
        </p:txBody>
      </p:sp>
      <p:sp>
        <p:nvSpPr>
          <p:cNvPr id="12" name="Text 10"/>
          <p:cNvSpPr/>
          <p:nvPr/>
        </p:nvSpPr>
        <p:spPr>
          <a:xfrm>
            <a:off x="320040" y="3657600"/>
            <a:ext cx="8503920" cy="411480"/>
          </a:xfrm>
          <a:prstGeom prst="rect">
            <a:avLst/>
          </a:prstGeom>
          <a:noFill/>
          <a:ln/>
        </p:spPr>
        <p:txBody>
          <a:bodyPr wrap="square" lIns="0" tIns="0" rIns="0" bIns="0" rtlCol="0" anchor="ctr"/>
          <a:lstStyle/>
          <a:p>
            <a:pPr indent="0" marL="0">
              <a:buNone/>
            </a:pPr>
            <a:r>
              <a:rPr lang="en-US" sz="1300" dirty="0">
                <a:solidFill>
                  <a:srgbClr val="1A202C"/>
                </a:solidFill>
                <a:latin typeface="Calibri" pitchFamily="34" charset="0"/>
                <a:ea typeface="Calibri" pitchFamily="34" charset="-122"/>
                <a:cs typeface="Calibri" pitchFamily="34" charset="-120"/>
              </a:rPr>
              <a:t>Shimp verificó por simulación: si el organismo siempre va hacia donde p_i es máxima, la distribución de tiempo entre opciones refleja en promedio la proporción relativa de reforzadores → igualación emerge de la regla local.</a:t>
            </a:r>
            <a:endParaRPr lang="en-US" sz="1300" dirty="0"/>
          </a:p>
        </p:txBody>
      </p:sp>
      <p:sp>
        <p:nvSpPr>
          <p:cNvPr id="13" name="Text 11"/>
          <p:cNvSpPr/>
          <p:nvPr/>
        </p:nvSpPr>
        <p:spPr>
          <a:xfrm>
            <a:off x="201168" y="4343400"/>
            <a:ext cx="8741664" cy="457200"/>
          </a:xfrm>
          <a:prstGeom prst="rect">
            <a:avLst/>
          </a:prstGeom>
          <a:noFill/>
          <a:ln/>
        </p:spPr>
        <p:txBody>
          <a:bodyPr wrap="square" rtlCol="0" anchor="ctr"/>
          <a:lstStyle/>
          <a:p>
            <a:pPr algn="ctr" indent="0" marL="0">
              <a:buNone/>
            </a:pPr>
            <a:r>
              <a:rPr lang="en-US" sz="1600" b="1" i="1" dirty="0">
                <a:solidFill>
                  <a:srgbClr val="C05621"/>
                </a:solidFill>
                <a:latin typeface="Calibri" pitchFamily="34" charset="0"/>
                <a:ea typeface="Calibri" pitchFamily="34" charset="-122"/>
                <a:cs typeface="Calibri" pitchFamily="34" charset="-120"/>
              </a:rPr>
              <a:t>La pregunta empírica: ¿siguen los organismos reales este algoritmo?</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C5282"/>
          </a:solidFill>
          <a:ln/>
        </p:spPr>
      </p:sp>
      <p:sp>
        <p:nvSpPr>
          <p:cNvPr id="3" name="Text 1"/>
          <p:cNvSpPr/>
          <p:nvPr/>
        </p:nvSpPr>
        <p:spPr>
          <a:xfrm>
            <a:off x="201168" y="164592"/>
            <a:ext cx="8778240" cy="566928"/>
          </a:xfrm>
          <a:prstGeom prst="rect">
            <a:avLst/>
          </a:prstGeom>
          <a:noFill/>
          <a:ln/>
        </p:spPr>
        <p:txBody>
          <a:bodyPr wrap="square" lIns="0" tIns="0" rIns="0" bIns="0" rtlCol="0" anchor="ctr"/>
          <a:lstStyle/>
          <a:p>
            <a:pPr indent="0" marL="0">
              <a:buNone/>
            </a:pPr>
            <a:r>
              <a:rPr lang="en-US" sz="2600" b="1" dirty="0">
                <a:solidFill>
                  <a:srgbClr val="2C5282"/>
                </a:solidFill>
                <a:latin typeface="Calibri" pitchFamily="34" charset="0"/>
                <a:ea typeface="Calibri" pitchFamily="34" charset="-122"/>
                <a:cs typeface="Calibri" pitchFamily="34" charset="-120"/>
              </a:rPr>
              <a:t>Protocolo experimental: programa concurrente IV-IV de ensayos discretos</a:t>
            </a:r>
            <a:endParaRPr lang="en-US" sz="2600" dirty="0"/>
          </a:p>
        </p:txBody>
      </p:sp>
      <p:sp>
        <p:nvSpPr>
          <p:cNvPr id="4" name="Shape 2"/>
          <p:cNvSpPr/>
          <p:nvPr/>
        </p:nvSpPr>
        <p:spPr>
          <a:xfrm>
            <a:off x="201168" y="777240"/>
            <a:ext cx="8741664" cy="0"/>
          </a:xfrm>
          <a:prstGeom prst="line">
            <a:avLst/>
          </a:prstGeom>
          <a:noFill/>
          <a:ln w="19050">
            <a:solidFill>
              <a:srgbClr val="2C5282"/>
            </a:solidFill>
            <a:prstDash val="solid"/>
          </a:ln>
        </p:spPr>
      </p:sp>
      <p:sp>
        <p:nvSpPr>
          <p:cNvPr id="5" name="Text 3"/>
          <p:cNvSpPr/>
          <p:nvPr/>
        </p:nvSpPr>
        <p:spPr>
          <a:xfrm>
            <a:off x="201168" y="914400"/>
            <a:ext cx="8741664" cy="384048"/>
          </a:xfrm>
          <a:prstGeom prst="rect">
            <a:avLst/>
          </a:prstGeom>
          <a:noFill/>
          <a:ln/>
        </p:spPr>
        <p:txBody>
          <a:bodyPr wrap="square" rtlCol="0" anchor="ctr"/>
          <a:lstStyle/>
          <a:p>
            <a:pPr indent="0" marL="0">
              <a:buNone/>
            </a:pPr>
            <a:r>
              <a:rPr lang="en-US" sz="1400" i="1" dirty="0">
                <a:solidFill>
                  <a:srgbClr val="1A202C"/>
                </a:solidFill>
                <a:latin typeface="Calibri" pitchFamily="34" charset="0"/>
                <a:ea typeface="Calibri" pitchFamily="34" charset="-122"/>
                <a:cs typeface="Calibri" pitchFamily="34" charset="-120"/>
              </a:rPr>
              <a:t>Los programas de ensayos discretos permiten operacionalizar con precisión las secuencias de elección.</a:t>
            </a:r>
            <a:endParaRPr lang="en-US" sz="1400" dirty="0"/>
          </a:p>
        </p:txBody>
      </p:sp>
      <p:sp>
        <p:nvSpPr>
          <p:cNvPr id="6" name="Shape 4"/>
          <p:cNvSpPr/>
          <p:nvPr/>
        </p:nvSpPr>
        <p:spPr>
          <a:xfrm>
            <a:off x="201168" y="1444752"/>
            <a:ext cx="2788920" cy="2011680"/>
          </a:xfrm>
          <a:prstGeom prst="rect">
            <a:avLst/>
          </a:prstGeom>
          <a:solidFill>
            <a:srgbClr val="EBF4FF"/>
          </a:solidFill>
          <a:ln w="15240">
            <a:solidFill>
              <a:srgbClr val="2C5282"/>
            </a:solidFill>
            <a:prstDash val="solid"/>
          </a:ln>
          <a:effectLst>
            <a:outerShdw sx="100000" sy="100000" kx="0" ky="0" algn="bl" rotWithShape="0" blurRad="76200" dist="38100" dir="8100000">
              <a:srgbClr val="000000">
                <a:alpha val="10000"/>
              </a:srgbClr>
            </a:outerShdw>
          </a:effectLst>
        </p:spPr>
      </p:sp>
      <p:sp>
        <p:nvSpPr>
          <p:cNvPr id="7" name="Shape 5"/>
          <p:cNvSpPr/>
          <p:nvPr/>
        </p:nvSpPr>
        <p:spPr>
          <a:xfrm>
            <a:off x="1298448" y="1188720"/>
            <a:ext cx="594360" cy="594360"/>
          </a:xfrm>
          <a:prstGeom prst="ellipse">
            <a:avLst/>
          </a:prstGeom>
          <a:solidFill>
            <a:srgbClr val="2C5282"/>
          </a:solidFill>
          <a:ln w="12700">
            <a:solidFill>
              <a:srgbClr val="2C5282"/>
            </a:solidFill>
            <a:prstDash val="solid"/>
          </a:ln>
        </p:spPr>
      </p:sp>
      <p:sp>
        <p:nvSpPr>
          <p:cNvPr id="8" name="Text 6"/>
          <p:cNvSpPr/>
          <p:nvPr/>
        </p:nvSpPr>
        <p:spPr>
          <a:xfrm>
            <a:off x="1298448" y="1207008"/>
            <a:ext cx="59436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292608" y="1517904"/>
            <a:ext cx="2606040" cy="365760"/>
          </a:xfrm>
          <a:prstGeom prst="rect">
            <a:avLst/>
          </a:prstGeom>
          <a:noFill/>
          <a:ln/>
        </p:spPr>
        <p:txBody>
          <a:bodyPr wrap="square" lIns="0" tIns="0" rIns="0" bIns="0" rtlCol="0" anchor="ctr"/>
          <a:lstStyle/>
          <a:p>
            <a:pPr indent="0" marL="0">
              <a:buNone/>
            </a:pPr>
            <a:r>
              <a:rPr lang="en-US" sz="1300" b="1" dirty="0">
                <a:solidFill>
                  <a:srgbClr val="2C5282"/>
                </a:solidFill>
                <a:latin typeface="Calibri" pitchFamily="34" charset="0"/>
                <a:ea typeface="Calibri" pitchFamily="34" charset="-122"/>
                <a:cs typeface="Calibri" pitchFamily="34" charset="-120"/>
              </a:rPr>
              <a:t>Oportunidad de respuesta</a:t>
            </a:r>
            <a:endParaRPr lang="en-US" sz="1300" dirty="0"/>
          </a:p>
        </p:txBody>
      </p:sp>
      <p:sp>
        <p:nvSpPr>
          <p:cNvPr id="10" name="Text 8"/>
          <p:cNvSpPr/>
          <p:nvPr/>
        </p:nvSpPr>
        <p:spPr>
          <a:xfrm>
            <a:off x="292608" y="1947672"/>
            <a:ext cx="2606040" cy="1371600"/>
          </a:xfrm>
          <a:prstGeom prst="rect">
            <a:avLst/>
          </a:prstGeom>
          <a:noFill/>
          <a:ln/>
        </p:spPr>
        <p:txBody>
          <a:bodyPr wrap="square" lIns="0" tIns="0" rIns="0" bIns="0" rtlCol="0" anchor="ctr"/>
          <a:lstStyle/>
          <a:p>
            <a:pPr indent="0" marL="0">
              <a:buNone/>
            </a:pPr>
            <a:r>
              <a:rPr lang="en-US" sz="1200" dirty="0">
                <a:solidFill>
                  <a:srgbClr val="1A202C"/>
                </a:solidFill>
                <a:latin typeface="Calibri" pitchFamily="34" charset="0"/>
                <a:ea typeface="Calibri" pitchFamily="34" charset="-122"/>
                <a:cs typeface="Calibri" pitchFamily="34" charset="-120"/>
              </a:rPr>
              <a:t>Presentación breve de dos alternativas.</a:t>
            </a:r>
            <a:endParaRPr lang="en-US" sz="1200" dirty="0"/>
          </a:p>
          <a:p>
            <a:pPr indent="0" marL="0">
              <a:buNone/>
            </a:pPr>
            <a:r>
              <a:rPr lang="en-US" sz="1200" dirty="0">
                <a:solidFill>
                  <a:srgbClr val="1A202C"/>
                </a:solidFill>
                <a:latin typeface="Calibri" pitchFamily="34" charset="0"/>
                <a:ea typeface="Calibri" pitchFamily="34" charset="-122"/>
                <a:cs typeface="Calibri" pitchFamily="34" charset="-120"/>
              </a:rPr>
              <a:t>El organismo elige una con una sola respuesta.</a:t>
            </a:r>
            <a:endParaRPr lang="en-US" sz="1200" dirty="0"/>
          </a:p>
        </p:txBody>
      </p:sp>
      <p:sp>
        <p:nvSpPr>
          <p:cNvPr id="11" name="Shape 9"/>
          <p:cNvSpPr/>
          <p:nvPr/>
        </p:nvSpPr>
        <p:spPr>
          <a:xfrm>
            <a:off x="2990088" y="2450592"/>
            <a:ext cx="173736" cy="0"/>
          </a:xfrm>
          <a:prstGeom prst="line">
            <a:avLst/>
          </a:prstGeom>
          <a:noFill/>
          <a:ln w="25400">
            <a:solidFill>
              <a:srgbClr val="2C5282"/>
            </a:solidFill>
            <a:prstDash val="solid"/>
          </a:ln>
        </p:spPr>
      </p:sp>
      <p:sp>
        <p:nvSpPr>
          <p:cNvPr id="12" name="Text 10"/>
          <p:cNvSpPr/>
          <p:nvPr/>
        </p:nvSpPr>
        <p:spPr>
          <a:xfrm>
            <a:off x="3008376" y="2267712"/>
            <a:ext cx="228600" cy="365760"/>
          </a:xfrm>
          <a:prstGeom prst="rect">
            <a:avLst/>
          </a:prstGeom>
          <a:noFill/>
          <a:ln/>
        </p:spPr>
        <p:txBody>
          <a:bodyPr wrap="square" lIns="0" tIns="0" rIns="0" bIns="0" rtlCol="0" anchor="ctr"/>
          <a:lstStyle/>
          <a:p>
            <a:pPr algn="ctr" indent="0" marL="0">
              <a:buNone/>
            </a:pPr>
            <a:r>
              <a:rPr lang="en-US" sz="1600" dirty="0">
                <a:solidFill>
                  <a:srgbClr val="2C5282"/>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3163824" y="1444752"/>
            <a:ext cx="2788920" cy="2011680"/>
          </a:xfrm>
          <a:prstGeom prst="rect">
            <a:avLst/>
          </a:prstGeom>
          <a:solidFill>
            <a:srgbClr val="F4F4F4"/>
          </a:solidFill>
          <a:ln w="15240">
            <a:solidFill>
              <a:srgbClr val="718096"/>
            </a:solidFill>
            <a:prstDash val="solid"/>
          </a:ln>
          <a:effectLst>
            <a:outerShdw sx="100000" sy="100000" kx="0" ky="0" algn="bl" rotWithShape="0" blurRad="76200" dist="38100" dir="8100000">
              <a:srgbClr val="000000">
                <a:alpha val="10000"/>
              </a:srgbClr>
            </a:outerShdw>
          </a:effectLst>
        </p:spPr>
      </p:sp>
      <p:sp>
        <p:nvSpPr>
          <p:cNvPr id="14" name="Shape 12"/>
          <p:cNvSpPr/>
          <p:nvPr/>
        </p:nvSpPr>
        <p:spPr>
          <a:xfrm>
            <a:off x="4261104" y="1188720"/>
            <a:ext cx="594360" cy="594360"/>
          </a:xfrm>
          <a:prstGeom prst="ellipse">
            <a:avLst/>
          </a:prstGeom>
          <a:solidFill>
            <a:srgbClr val="718096"/>
          </a:solidFill>
          <a:ln w="12700">
            <a:solidFill>
              <a:srgbClr val="718096"/>
            </a:solidFill>
            <a:prstDash val="solid"/>
          </a:ln>
        </p:spPr>
      </p:sp>
      <p:sp>
        <p:nvSpPr>
          <p:cNvPr id="15" name="Text 13"/>
          <p:cNvSpPr/>
          <p:nvPr/>
        </p:nvSpPr>
        <p:spPr>
          <a:xfrm>
            <a:off x="4261104" y="1207008"/>
            <a:ext cx="59436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Text 14"/>
          <p:cNvSpPr/>
          <p:nvPr/>
        </p:nvSpPr>
        <p:spPr>
          <a:xfrm>
            <a:off x="3255264" y="1517904"/>
            <a:ext cx="2606040" cy="365760"/>
          </a:xfrm>
          <a:prstGeom prst="rect">
            <a:avLst/>
          </a:prstGeom>
          <a:noFill/>
          <a:ln/>
        </p:spPr>
        <p:txBody>
          <a:bodyPr wrap="square" lIns="0" tIns="0" rIns="0" bIns="0" rtlCol="0" anchor="ctr"/>
          <a:lstStyle/>
          <a:p>
            <a:pPr indent="0" marL="0">
              <a:buNone/>
            </a:pPr>
            <a:r>
              <a:rPr lang="en-US" sz="1300" b="1" dirty="0">
                <a:solidFill>
                  <a:srgbClr val="718096"/>
                </a:solidFill>
                <a:latin typeface="Calibri" pitchFamily="34" charset="0"/>
                <a:ea typeface="Calibri" pitchFamily="34" charset="-122"/>
                <a:cs typeface="Calibri" pitchFamily="34" charset="-120"/>
              </a:rPr>
              <a:t>Intervalo entre ensayos</a:t>
            </a:r>
            <a:endParaRPr lang="en-US" sz="1300" dirty="0"/>
          </a:p>
        </p:txBody>
      </p:sp>
      <p:sp>
        <p:nvSpPr>
          <p:cNvPr id="17" name="Text 15"/>
          <p:cNvSpPr/>
          <p:nvPr/>
        </p:nvSpPr>
        <p:spPr>
          <a:xfrm>
            <a:off x="3255264" y="1947672"/>
            <a:ext cx="2606040" cy="1371600"/>
          </a:xfrm>
          <a:prstGeom prst="rect">
            <a:avLst/>
          </a:prstGeom>
          <a:noFill/>
          <a:ln/>
        </p:spPr>
        <p:txBody>
          <a:bodyPr wrap="square" lIns="0" tIns="0" rIns="0" bIns="0" rtlCol="0" anchor="ctr"/>
          <a:lstStyle/>
          <a:p>
            <a:pPr indent="0" marL="0">
              <a:buNone/>
            </a:pPr>
            <a:r>
              <a:rPr lang="en-US" sz="1200" dirty="0">
                <a:solidFill>
                  <a:srgbClr val="1A202C"/>
                </a:solidFill>
                <a:latin typeface="Calibri" pitchFamily="34" charset="0"/>
                <a:ea typeface="Calibri" pitchFamily="34" charset="-122"/>
                <a:cs typeface="Calibri" pitchFamily="34" charset="-120"/>
              </a:rPr>
              <a:t>Los programas de intervalo siguen corriendo.</a:t>
            </a:r>
            <a:endParaRPr lang="en-US" sz="1200" dirty="0"/>
          </a:p>
          <a:p>
            <a:pPr indent="0" marL="0">
              <a:buNone/>
            </a:pPr>
            <a:r>
              <a:rPr lang="en-US" sz="1200" dirty="0">
                <a:solidFill>
                  <a:srgbClr val="1A202C"/>
                </a:solidFill>
                <a:latin typeface="Calibri" pitchFamily="34" charset="0"/>
                <a:ea typeface="Calibri" pitchFamily="34" charset="-122"/>
                <a:cs typeface="Calibri" pitchFamily="34" charset="-120"/>
              </a:rPr>
              <a:t>El reforzador queda armado si el intervalo se completa.</a:t>
            </a:r>
            <a:endParaRPr lang="en-US" sz="1200" dirty="0"/>
          </a:p>
        </p:txBody>
      </p:sp>
      <p:sp>
        <p:nvSpPr>
          <p:cNvPr id="18" name="Shape 16"/>
          <p:cNvSpPr/>
          <p:nvPr/>
        </p:nvSpPr>
        <p:spPr>
          <a:xfrm>
            <a:off x="5952744" y="2450592"/>
            <a:ext cx="173736" cy="0"/>
          </a:xfrm>
          <a:prstGeom prst="line">
            <a:avLst/>
          </a:prstGeom>
          <a:noFill/>
          <a:ln w="25400">
            <a:solidFill>
              <a:srgbClr val="718096"/>
            </a:solidFill>
            <a:prstDash val="solid"/>
          </a:ln>
        </p:spPr>
      </p:sp>
      <p:sp>
        <p:nvSpPr>
          <p:cNvPr id="19" name="Text 17"/>
          <p:cNvSpPr/>
          <p:nvPr/>
        </p:nvSpPr>
        <p:spPr>
          <a:xfrm>
            <a:off x="5971032" y="2267712"/>
            <a:ext cx="228600" cy="365760"/>
          </a:xfrm>
          <a:prstGeom prst="rect">
            <a:avLst/>
          </a:prstGeom>
          <a:noFill/>
          <a:ln/>
        </p:spPr>
        <p:txBody>
          <a:bodyPr wrap="square" lIns="0" tIns="0" rIns="0" bIns="0" rtlCol="0" anchor="ctr"/>
          <a:lstStyle/>
          <a:p>
            <a:pPr algn="ctr" indent="0" marL="0">
              <a:buNone/>
            </a:pPr>
            <a:r>
              <a:rPr lang="en-US" sz="1600" dirty="0">
                <a:solidFill>
                  <a:srgbClr val="718096"/>
                </a:solidFill>
                <a:latin typeface="Calibri" pitchFamily="34" charset="0"/>
                <a:ea typeface="Calibri" pitchFamily="34" charset="-122"/>
                <a:cs typeface="Calibri" pitchFamily="34" charset="-120"/>
              </a:rPr>
              <a:t>→</a:t>
            </a:r>
            <a:endParaRPr lang="en-US" sz="1600" dirty="0"/>
          </a:p>
        </p:txBody>
      </p:sp>
      <p:sp>
        <p:nvSpPr>
          <p:cNvPr id="20" name="Shape 18"/>
          <p:cNvSpPr/>
          <p:nvPr/>
        </p:nvSpPr>
        <p:spPr>
          <a:xfrm>
            <a:off x="6126480" y="1444752"/>
            <a:ext cx="2788920" cy="2011680"/>
          </a:xfrm>
          <a:prstGeom prst="rect">
            <a:avLst/>
          </a:prstGeom>
          <a:solidFill>
            <a:srgbClr val="E6F4ED"/>
          </a:solidFill>
          <a:ln w="15240">
            <a:solidFill>
              <a:srgbClr val="276749"/>
            </a:solidFill>
            <a:prstDash val="solid"/>
          </a:ln>
          <a:effectLst>
            <a:outerShdw sx="100000" sy="100000" kx="0" ky="0" algn="bl" rotWithShape="0" blurRad="76200" dist="38100" dir="8100000">
              <a:srgbClr val="000000">
                <a:alpha val="10000"/>
              </a:srgbClr>
            </a:outerShdw>
          </a:effectLst>
        </p:spPr>
      </p:sp>
      <p:sp>
        <p:nvSpPr>
          <p:cNvPr id="21" name="Shape 19"/>
          <p:cNvSpPr/>
          <p:nvPr/>
        </p:nvSpPr>
        <p:spPr>
          <a:xfrm>
            <a:off x="7223760" y="1188720"/>
            <a:ext cx="594360" cy="594360"/>
          </a:xfrm>
          <a:prstGeom prst="ellipse">
            <a:avLst/>
          </a:prstGeom>
          <a:solidFill>
            <a:srgbClr val="276749"/>
          </a:solidFill>
          <a:ln w="12700">
            <a:solidFill>
              <a:srgbClr val="276749"/>
            </a:solidFill>
            <a:prstDash val="solid"/>
          </a:ln>
        </p:spPr>
      </p:sp>
      <p:sp>
        <p:nvSpPr>
          <p:cNvPr id="22" name="Text 20"/>
          <p:cNvSpPr/>
          <p:nvPr/>
        </p:nvSpPr>
        <p:spPr>
          <a:xfrm>
            <a:off x="7223760" y="1207008"/>
            <a:ext cx="59436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3" name="Text 21"/>
          <p:cNvSpPr/>
          <p:nvPr/>
        </p:nvSpPr>
        <p:spPr>
          <a:xfrm>
            <a:off x="6217920" y="1517904"/>
            <a:ext cx="2606040" cy="365760"/>
          </a:xfrm>
          <a:prstGeom prst="rect">
            <a:avLst/>
          </a:prstGeom>
          <a:noFill/>
          <a:ln/>
        </p:spPr>
        <p:txBody>
          <a:bodyPr wrap="square" lIns="0" tIns="0" rIns="0" bIns="0" rtlCol="0" anchor="ctr"/>
          <a:lstStyle/>
          <a:p>
            <a:pPr indent="0" marL="0">
              <a:buNone/>
            </a:pPr>
            <a:r>
              <a:rPr lang="en-US" sz="1300" b="1" dirty="0">
                <a:solidFill>
                  <a:srgbClr val="276749"/>
                </a:solidFill>
                <a:latin typeface="Calibri" pitchFamily="34" charset="0"/>
                <a:ea typeface="Calibri" pitchFamily="34" charset="-122"/>
                <a:cs typeface="Calibri" pitchFamily="34" charset="-120"/>
              </a:rPr>
              <a:t>Siguiente ensayo</a:t>
            </a:r>
            <a:endParaRPr lang="en-US" sz="1300" dirty="0"/>
          </a:p>
        </p:txBody>
      </p:sp>
      <p:sp>
        <p:nvSpPr>
          <p:cNvPr id="24" name="Text 22"/>
          <p:cNvSpPr/>
          <p:nvPr/>
        </p:nvSpPr>
        <p:spPr>
          <a:xfrm>
            <a:off x="6217920" y="1947672"/>
            <a:ext cx="2606040" cy="1371600"/>
          </a:xfrm>
          <a:prstGeom prst="rect">
            <a:avLst/>
          </a:prstGeom>
          <a:noFill/>
          <a:ln/>
        </p:spPr>
        <p:txBody>
          <a:bodyPr wrap="square" lIns="0" tIns="0" rIns="0" bIns="0" rtlCol="0" anchor="ctr"/>
          <a:lstStyle/>
          <a:p>
            <a:pPr indent="0" marL="0">
              <a:buNone/>
            </a:pPr>
            <a:r>
              <a:rPr lang="en-US" sz="1200" dirty="0">
                <a:solidFill>
                  <a:srgbClr val="1A202C"/>
                </a:solidFill>
                <a:latin typeface="Calibri" pitchFamily="34" charset="0"/>
                <a:ea typeface="Calibri" pitchFamily="34" charset="-122"/>
                <a:cs typeface="Calibri" pitchFamily="34" charset="-120"/>
              </a:rPr>
              <a:t>Nueva oportunidad de respuesta.</a:t>
            </a:r>
            <a:endParaRPr lang="en-US" sz="1200" dirty="0"/>
          </a:p>
          <a:p>
            <a:pPr indent="0" marL="0">
              <a:buNone/>
            </a:pPr>
            <a:r>
              <a:rPr lang="en-US" sz="1200" dirty="0">
                <a:solidFill>
                  <a:srgbClr val="1A202C"/>
                </a:solidFill>
                <a:latin typeface="Calibri" pitchFamily="34" charset="0"/>
                <a:ea typeface="Calibri" pitchFamily="34" charset="-122"/>
                <a:cs typeface="Calibri" pitchFamily="34" charset="-120"/>
              </a:rPr>
              <a:t>Cada respuesta adicional a la misma tecla incrementa</a:t>
            </a:r>
            <a:endParaRPr lang="en-US" sz="1200" dirty="0"/>
          </a:p>
          <a:p>
            <a:pPr indent="0" marL="0">
              <a:buNone/>
            </a:pPr>
            <a:r>
              <a:rPr lang="en-US" sz="1200" dirty="0">
                <a:solidFill>
                  <a:srgbClr val="1A202C"/>
                </a:solidFill>
                <a:latin typeface="Calibri" pitchFamily="34" charset="0"/>
                <a:ea typeface="Calibri" pitchFamily="34" charset="-122"/>
                <a:cs typeface="Calibri" pitchFamily="34" charset="-120"/>
              </a:rPr>
              <a:t>la ausencia de la alternativa.</a:t>
            </a:r>
            <a:endParaRPr lang="en-US" sz="1200" dirty="0"/>
          </a:p>
        </p:txBody>
      </p:sp>
      <p:sp>
        <p:nvSpPr>
          <p:cNvPr id="25" name="Shape 23"/>
          <p:cNvSpPr/>
          <p:nvPr/>
        </p:nvSpPr>
        <p:spPr>
          <a:xfrm>
            <a:off x="201168" y="3611880"/>
            <a:ext cx="8741664" cy="804672"/>
          </a:xfrm>
          <a:prstGeom prst="rect">
            <a:avLst/>
          </a:prstGeom>
          <a:solidFill>
            <a:srgbClr val="FFF3E8"/>
          </a:solidFill>
          <a:ln w="15240">
            <a:solidFill>
              <a:srgbClr val="C05621"/>
            </a:solidFill>
            <a:prstDash val="solid"/>
          </a:ln>
          <a:effectLst>
            <a:outerShdw sx="100000" sy="100000" kx="0" ky="0" algn="bl" rotWithShape="0" blurRad="76200" dist="38100" dir="8100000">
              <a:srgbClr val="000000">
                <a:alpha val="10000"/>
              </a:srgbClr>
            </a:outerShdw>
          </a:effectLst>
        </p:spPr>
      </p:sp>
      <p:sp>
        <p:nvSpPr>
          <p:cNvPr id="26" name="Text 24"/>
          <p:cNvSpPr/>
          <p:nvPr/>
        </p:nvSpPr>
        <p:spPr>
          <a:xfrm>
            <a:off x="320040" y="3685032"/>
            <a:ext cx="8503920" cy="292608"/>
          </a:xfrm>
          <a:prstGeom prst="rect">
            <a:avLst/>
          </a:prstGeom>
          <a:noFill/>
          <a:ln/>
        </p:spPr>
        <p:txBody>
          <a:bodyPr wrap="square" lIns="0" tIns="0" rIns="0" bIns="0" rtlCol="0" anchor="ctr"/>
          <a:lstStyle/>
          <a:p>
            <a:pPr indent="0" marL="0">
              <a:buNone/>
            </a:pPr>
            <a:r>
              <a:rPr lang="en-US" sz="1300" b="1" dirty="0">
                <a:solidFill>
                  <a:srgbClr val="C05621"/>
                </a:solidFill>
                <a:latin typeface="Calibri" pitchFamily="34" charset="0"/>
                <a:ea typeface="Calibri" pitchFamily="34" charset="-122"/>
                <a:cs typeface="Calibri" pitchFamily="34" charset="-120"/>
              </a:rPr>
              <a:t>Predicción operacionalizable del modelo:</a:t>
            </a:r>
            <a:endParaRPr lang="en-US" sz="1300" dirty="0"/>
          </a:p>
        </p:txBody>
      </p:sp>
      <p:sp>
        <p:nvSpPr>
          <p:cNvPr id="27" name="Text 25"/>
          <p:cNvSpPr/>
          <p:nvPr/>
        </p:nvSpPr>
        <p:spPr>
          <a:xfrm>
            <a:off x="320040" y="4005072"/>
            <a:ext cx="8503920" cy="347472"/>
          </a:xfrm>
          <a:prstGeom prst="rect">
            <a:avLst/>
          </a:prstGeom>
          <a:noFill/>
          <a:ln/>
        </p:spPr>
        <p:txBody>
          <a:bodyPr wrap="square" lIns="0" tIns="0" rIns="0" bIns="0" rtlCol="0" anchor="ctr"/>
          <a:lstStyle/>
          <a:p>
            <a:pPr indent="0" marL="0">
              <a:buNone/>
            </a:pPr>
            <a:r>
              <a:rPr lang="en-US" sz="1300" dirty="0">
                <a:solidFill>
                  <a:srgbClr val="1A202C"/>
                </a:solidFill>
                <a:latin typeface="Calibri" pitchFamily="34" charset="0"/>
                <a:ea typeface="Calibri" pitchFamily="34" charset="-122"/>
                <a:cs typeface="Calibri" pitchFamily="34" charset="-120"/>
              </a:rPr>
              <a:t>La probabilidad de cambiar de opción debe aumentar con el número de elecciones consecutivas de la misma alternativa, siguiendo el ritmo al que crece p(reforzador disponible).</a:t>
            </a:r>
            <a:endParaRPr lang="en-US" sz="1300" dirty="0"/>
          </a:p>
        </p:txBody>
      </p:sp>
      <p:sp>
        <p:nvSpPr>
          <p:cNvPr id="28" name="Text 26"/>
          <p:cNvSpPr/>
          <p:nvPr/>
        </p:nvSpPr>
        <p:spPr>
          <a:xfrm>
            <a:off x="201168" y="4617720"/>
            <a:ext cx="8741664" cy="347472"/>
          </a:xfrm>
          <a:prstGeom prst="rect">
            <a:avLst/>
          </a:prstGeom>
          <a:noFill/>
          <a:ln/>
        </p:spPr>
        <p:txBody>
          <a:bodyPr wrap="square" rtlCol="0" anchor="ctr"/>
          <a:lstStyle/>
          <a:p>
            <a:pPr indent="0" marL="0">
              <a:buNone/>
            </a:pPr>
            <a:r>
              <a:rPr lang="en-US" sz="1300" i="1" dirty="0">
                <a:solidFill>
                  <a:srgbClr val="718096"/>
                </a:solidFill>
                <a:latin typeface="Calibri" pitchFamily="34" charset="0"/>
                <a:ea typeface="Calibri" pitchFamily="34" charset="-122"/>
                <a:cs typeface="Calibri" pitchFamily="34" charset="-120"/>
              </a:rPr>
              <a:t>Experimento clave: Nevin (1969)  —  programa concurrente IV-IV con palomas, sesiones extensas.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C5282"/>
          </a:solidFill>
          <a:ln/>
        </p:spPr>
      </p:sp>
      <p:sp>
        <p:nvSpPr>
          <p:cNvPr id="3" name="Text 1"/>
          <p:cNvSpPr/>
          <p:nvPr/>
        </p:nvSpPr>
        <p:spPr>
          <a:xfrm>
            <a:off x="201168" y="164592"/>
            <a:ext cx="8778240" cy="566928"/>
          </a:xfrm>
          <a:prstGeom prst="rect">
            <a:avLst/>
          </a:prstGeom>
          <a:noFill/>
          <a:ln/>
        </p:spPr>
        <p:txBody>
          <a:bodyPr wrap="square" lIns="0" tIns="0" rIns="0" bIns="0" rtlCol="0" anchor="ctr"/>
          <a:lstStyle/>
          <a:p>
            <a:pPr indent="0" marL="0">
              <a:buNone/>
            </a:pPr>
            <a:r>
              <a:rPr lang="en-US" sz="2600" b="1" dirty="0">
                <a:solidFill>
                  <a:srgbClr val="2C5282"/>
                </a:solidFill>
                <a:latin typeface="Calibri" pitchFamily="34" charset="0"/>
                <a:ea typeface="Calibri" pitchFamily="34" charset="-122"/>
                <a:cs typeface="Calibri" pitchFamily="34" charset="-120"/>
              </a:rPr>
              <a:t>Resultado de Nevin (1969): predicción vs. conducta observada</a:t>
            </a:r>
            <a:endParaRPr lang="en-US" sz="2600" dirty="0"/>
          </a:p>
        </p:txBody>
      </p:sp>
      <p:sp>
        <p:nvSpPr>
          <p:cNvPr id="4" name="Shape 2"/>
          <p:cNvSpPr/>
          <p:nvPr/>
        </p:nvSpPr>
        <p:spPr>
          <a:xfrm>
            <a:off x="201168" y="777240"/>
            <a:ext cx="8741664" cy="0"/>
          </a:xfrm>
          <a:prstGeom prst="line">
            <a:avLst/>
          </a:prstGeom>
          <a:noFill/>
          <a:ln w="19050">
            <a:solidFill>
              <a:srgbClr val="2C5282"/>
            </a:solidFill>
            <a:prstDash val="solid"/>
          </a:ln>
        </p:spPr>
      </p:sp>
      <p:pic>
        <p:nvPicPr>
          <p:cNvPr id="5" name="Image 0" descr="preencoded.png">    </p:cNvPr>
          <p:cNvPicPr>
            <a:picLocks noChangeAspect="1"/>
          </p:cNvPicPr>
          <p:nvPr/>
        </p:nvPicPr>
        <p:blipFill>
          <a:blip r:embed="rId1"/>
          <a:stretch>
            <a:fillRect/>
          </a:stretch>
        </p:blipFill>
        <p:spPr>
          <a:xfrm>
            <a:off x="201168" y="896112"/>
            <a:ext cx="8741664" cy="39776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C5282"/>
          </a:solidFill>
          <a:ln/>
        </p:spPr>
      </p:sp>
      <p:sp>
        <p:nvSpPr>
          <p:cNvPr id="3" name="Text 1"/>
          <p:cNvSpPr/>
          <p:nvPr/>
        </p:nvSpPr>
        <p:spPr>
          <a:xfrm>
            <a:off x="201168" y="164592"/>
            <a:ext cx="8778240" cy="566928"/>
          </a:xfrm>
          <a:prstGeom prst="rect">
            <a:avLst/>
          </a:prstGeom>
          <a:noFill/>
          <a:ln/>
        </p:spPr>
        <p:txBody>
          <a:bodyPr wrap="square" lIns="0" tIns="0" rIns="0" bIns="0" rtlCol="0" anchor="ctr"/>
          <a:lstStyle/>
          <a:p>
            <a:pPr indent="0" marL="0">
              <a:buNone/>
            </a:pPr>
            <a:r>
              <a:rPr lang="en-US" sz="2600" b="1" dirty="0">
                <a:solidFill>
                  <a:srgbClr val="2C5282"/>
                </a:solidFill>
                <a:latin typeface="Calibri" pitchFamily="34" charset="0"/>
                <a:ea typeface="Calibri" pitchFamily="34" charset="-122"/>
                <a:cs typeface="Calibri" pitchFamily="34" charset="-120"/>
              </a:rPr>
              <a:t>Primer hallazgo: la conducta no sigue la probabilidad de refuerzo</a:t>
            </a:r>
            <a:endParaRPr lang="en-US" sz="2600" dirty="0"/>
          </a:p>
        </p:txBody>
      </p:sp>
      <p:sp>
        <p:nvSpPr>
          <p:cNvPr id="4" name="Shape 2"/>
          <p:cNvSpPr/>
          <p:nvPr/>
        </p:nvSpPr>
        <p:spPr>
          <a:xfrm>
            <a:off x="201168" y="777240"/>
            <a:ext cx="8741664" cy="0"/>
          </a:xfrm>
          <a:prstGeom prst="line">
            <a:avLst/>
          </a:prstGeom>
          <a:noFill/>
          <a:ln w="19050">
            <a:solidFill>
              <a:srgbClr val="2C5282"/>
            </a:solidFill>
            <a:prstDash val="solid"/>
          </a:ln>
        </p:spPr>
      </p:sp>
      <p:sp>
        <p:nvSpPr>
          <p:cNvPr id="5" name="Shape 3"/>
          <p:cNvSpPr/>
          <p:nvPr/>
        </p:nvSpPr>
        <p:spPr>
          <a:xfrm>
            <a:off x="201168" y="960120"/>
            <a:ext cx="8741664" cy="914400"/>
          </a:xfrm>
          <a:prstGeom prst="rect">
            <a:avLst/>
          </a:prstGeom>
          <a:solidFill>
            <a:srgbClr val="EBF4FF"/>
          </a:solidFill>
          <a:ln w="15240">
            <a:solidFill>
              <a:srgbClr val="2C5282"/>
            </a:solidFill>
            <a:prstDash val="solid"/>
          </a:ln>
          <a:effectLst>
            <a:outerShdw sx="100000" sy="100000" kx="0" ky="0" algn="bl" rotWithShape="0" blurRad="76200" dist="38100" dir="8100000">
              <a:srgbClr val="000000">
                <a:alpha val="10000"/>
              </a:srgbClr>
            </a:outerShdw>
          </a:effectLst>
        </p:spPr>
      </p:sp>
      <p:sp>
        <p:nvSpPr>
          <p:cNvPr id="6" name="Text 4"/>
          <p:cNvSpPr/>
          <p:nvPr/>
        </p:nvSpPr>
        <p:spPr>
          <a:xfrm>
            <a:off x="320040" y="1033272"/>
            <a:ext cx="8503920" cy="274320"/>
          </a:xfrm>
          <a:prstGeom prst="rect">
            <a:avLst/>
          </a:prstGeom>
          <a:noFill/>
          <a:ln/>
        </p:spPr>
        <p:txBody>
          <a:bodyPr wrap="square" lIns="0" tIns="0" rIns="0" bIns="0" rtlCol="0" anchor="ctr"/>
          <a:lstStyle/>
          <a:p>
            <a:pPr indent="0" marL="0">
              <a:buNone/>
            </a:pPr>
            <a:r>
              <a:rPr lang="en-US" sz="1300" b="1" dirty="0">
                <a:solidFill>
                  <a:srgbClr val="2C5282"/>
                </a:solidFill>
                <a:latin typeface="Calibri" pitchFamily="34" charset="0"/>
                <a:ea typeface="Calibri" pitchFamily="34" charset="-122"/>
                <a:cs typeface="Calibri" pitchFamily="34" charset="-120"/>
              </a:rPr>
              <a:t>Lo que predice el modelo:</a:t>
            </a:r>
            <a:endParaRPr lang="en-US" sz="1300" dirty="0"/>
          </a:p>
        </p:txBody>
      </p:sp>
      <p:sp>
        <p:nvSpPr>
          <p:cNvPr id="7" name="Text 5"/>
          <p:cNvSpPr/>
          <p:nvPr/>
        </p:nvSpPr>
        <p:spPr>
          <a:xfrm>
            <a:off x="320040" y="1344168"/>
            <a:ext cx="8503920" cy="457200"/>
          </a:xfrm>
          <a:prstGeom prst="rect">
            <a:avLst/>
          </a:prstGeom>
          <a:noFill/>
          <a:ln/>
        </p:spPr>
        <p:txBody>
          <a:bodyPr wrap="square" lIns="0" tIns="0" rIns="0" bIns="0" rtlCol="0" anchor="ctr"/>
          <a:lstStyle/>
          <a:p>
            <a:pPr indent="0" marL="0">
              <a:buNone/>
            </a:pPr>
            <a:r>
              <a:rPr lang="en-US" sz="1400" dirty="0">
                <a:solidFill>
                  <a:srgbClr val="1A202C"/>
                </a:solidFill>
                <a:latin typeface="Calibri" pitchFamily="34" charset="0"/>
                <a:ea typeface="Calibri" pitchFamily="34" charset="-122"/>
                <a:cs typeface="Calibri" pitchFamily="34" charset="-120"/>
              </a:rPr>
              <a:t>P(cambiar de opción) debe crecer con el número de ensayos consecutivos a la misma alternativa, siguiendo la curva creciente de P(reforzador disponible).</a:t>
            </a:r>
            <a:endParaRPr lang="en-US" sz="1400" dirty="0"/>
          </a:p>
        </p:txBody>
      </p:sp>
      <p:sp>
        <p:nvSpPr>
          <p:cNvPr id="8" name="Shape 6"/>
          <p:cNvSpPr/>
          <p:nvPr/>
        </p:nvSpPr>
        <p:spPr>
          <a:xfrm>
            <a:off x="201168" y="2011680"/>
            <a:ext cx="8741664" cy="914400"/>
          </a:xfrm>
          <a:prstGeom prst="rect">
            <a:avLst/>
          </a:prstGeom>
          <a:solidFill>
            <a:srgbClr val="FFF3E8"/>
          </a:solidFill>
          <a:ln w="15240">
            <a:solidFill>
              <a:srgbClr val="C05621"/>
            </a:solidFill>
            <a:prstDash val="solid"/>
          </a:ln>
          <a:effectLst>
            <a:outerShdw sx="100000" sy="100000" kx="0" ky="0" algn="bl" rotWithShape="0" blurRad="76200" dist="38100" dir="8100000">
              <a:srgbClr val="000000">
                <a:alpha val="10000"/>
              </a:srgbClr>
            </a:outerShdw>
          </a:effectLst>
        </p:spPr>
      </p:sp>
      <p:sp>
        <p:nvSpPr>
          <p:cNvPr id="9" name="Text 7"/>
          <p:cNvSpPr/>
          <p:nvPr/>
        </p:nvSpPr>
        <p:spPr>
          <a:xfrm>
            <a:off x="320040" y="2084832"/>
            <a:ext cx="8503920" cy="274320"/>
          </a:xfrm>
          <a:prstGeom prst="rect">
            <a:avLst/>
          </a:prstGeom>
          <a:noFill/>
          <a:ln/>
        </p:spPr>
        <p:txBody>
          <a:bodyPr wrap="square" lIns="0" tIns="0" rIns="0" bIns="0" rtlCol="0" anchor="ctr"/>
          <a:lstStyle/>
          <a:p>
            <a:pPr indent="0" marL="0">
              <a:buNone/>
            </a:pPr>
            <a:r>
              <a:rPr lang="en-US" sz="1300" b="1" dirty="0">
                <a:solidFill>
                  <a:srgbClr val="C05621"/>
                </a:solidFill>
                <a:latin typeface="Calibri" pitchFamily="34" charset="0"/>
                <a:ea typeface="Calibri" pitchFamily="34" charset="-122"/>
                <a:cs typeface="Calibri" pitchFamily="34" charset="-120"/>
              </a:rPr>
              <a:t>Lo que observó Nevin (1969):</a:t>
            </a:r>
            <a:endParaRPr lang="en-US" sz="1300" dirty="0"/>
          </a:p>
        </p:txBody>
      </p:sp>
      <p:sp>
        <p:nvSpPr>
          <p:cNvPr id="10" name="Text 8"/>
          <p:cNvSpPr/>
          <p:nvPr/>
        </p:nvSpPr>
        <p:spPr>
          <a:xfrm>
            <a:off x="320040" y="2395728"/>
            <a:ext cx="8503920" cy="457200"/>
          </a:xfrm>
          <a:prstGeom prst="rect">
            <a:avLst/>
          </a:prstGeom>
          <a:noFill/>
          <a:ln/>
        </p:spPr>
        <p:txBody>
          <a:bodyPr wrap="square" lIns="0" tIns="0" rIns="0" bIns="0" rtlCol="0" anchor="ctr"/>
          <a:lstStyle/>
          <a:p>
            <a:pPr indent="0" marL="0">
              <a:buNone/>
            </a:pPr>
            <a:r>
              <a:rPr lang="en-US" sz="1400" dirty="0">
                <a:solidFill>
                  <a:srgbClr val="1A202C"/>
                </a:solidFill>
                <a:latin typeface="Calibri" pitchFamily="34" charset="0"/>
                <a:ea typeface="Calibri" pitchFamily="34" charset="-122"/>
                <a:cs typeface="Calibri" pitchFamily="34" charset="-120"/>
              </a:rPr>
              <a:t>La probabilidad de cambiar tendió a DISMINUIR con el número de respuestas consecutivas — curva plana o decreciente — directamente contraria a la predicción.</a:t>
            </a:r>
            <a:endParaRPr lang="en-US" sz="1400" dirty="0"/>
          </a:p>
        </p:txBody>
      </p:sp>
      <p:sp>
        <p:nvSpPr>
          <p:cNvPr id="11" name="Text 9"/>
          <p:cNvSpPr/>
          <p:nvPr/>
        </p:nvSpPr>
        <p:spPr>
          <a:xfrm>
            <a:off x="201168" y="3063240"/>
            <a:ext cx="8741664" cy="640080"/>
          </a:xfrm>
          <a:prstGeom prst="rect">
            <a:avLst/>
          </a:prstGeom>
          <a:noFill/>
          <a:ln/>
        </p:spPr>
        <p:txBody>
          <a:bodyPr wrap="square" rtlCol="0" anchor="ctr"/>
          <a:lstStyle/>
          <a:p>
            <a:pPr indent="0" marL="0">
              <a:buNone/>
            </a:pPr>
            <a:r>
              <a:rPr lang="en-US" sz="1500" b="1" dirty="0">
                <a:solidFill>
                  <a:srgbClr val="9B2335"/>
                </a:solidFill>
                <a:latin typeface="Calibri" pitchFamily="34" charset="0"/>
                <a:ea typeface="Calibri" pitchFamily="34" charset="-122"/>
                <a:cs typeface="Calibri" pitchFamily="34" charset="-120"/>
              </a:rPr>
              <a:t>Conclusión:  </a:t>
            </a:r>
            <a:pPr indent="0" marL="0">
              <a:buNone/>
            </a:pPr>
            <a:r>
              <a:rPr lang="en-US" sz="1500" dirty="0">
                <a:solidFill>
                  <a:srgbClr val="1A202C"/>
                </a:solidFill>
                <a:latin typeface="Calibri" pitchFamily="34" charset="0"/>
                <a:ea typeface="Calibri" pitchFamily="34" charset="-122"/>
                <a:cs typeface="Calibri" pitchFamily="34" charset="-120"/>
              </a:rPr>
              <a:t>Los organismos no responden a la probabilidad instantánea de refuerzo. La predicción central del modelo de maximización momentánea es falsa.</a:t>
            </a:r>
            <a:endParaRPr lang="en-US" sz="1500" dirty="0"/>
          </a:p>
        </p:txBody>
      </p:sp>
      <p:sp>
        <p:nvSpPr>
          <p:cNvPr id="12" name="Text 10"/>
          <p:cNvSpPr/>
          <p:nvPr/>
        </p:nvSpPr>
        <p:spPr>
          <a:xfrm>
            <a:off x="201168" y="3794760"/>
            <a:ext cx="8741664" cy="457200"/>
          </a:xfrm>
          <a:prstGeom prst="rect">
            <a:avLst/>
          </a:prstGeom>
          <a:noFill/>
          <a:ln/>
        </p:spPr>
        <p:txBody>
          <a:bodyPr wrap="square" rtlCol="0" anchor="ctr"/>
          <a:lstStyle/>
          <a:p>
            <a:pPr indent="0" marL="0">
              <a:buNone/>
            </a:pPr>
            <a:r>
              <a:rPr lang="en-US" sz="1400" i="1" dirty="0">
                <a:solidFill>
                  <a:srgbClr val="718096"/>
                </a:solidFill>
                <a:latin typeface="Calibri" pitchFamily="34" charset="0"/>
                <a:ea typeface="Calibri" pitchFamily="34" charset="-122"/>
                <a:cs typeface="Calibri" pitchFamily="34" charset="-120"/>
              </a:rPr>
              <a:t>El resultado sugiere que el comportamiento de elección incorpora una inercia que el modelo no contempla.</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C5282"/>
          </a:solidFill>
          <a:ln/>
        </p:spPr>
      </p:sp>
      <p:sp>
        <p:nvSpPr>
          <p:cNvPr id="3" name="Text 1"/>
          <p:cNvSpPr/>
          <p:nvPr/>
        </p:nvSpPr>
        <p:spPr>
          <a:xfrm>
            <a:off x="201168" y="164592"/>
            <a:ext cx="8778240" cy="566928"/>
          </a:xfrm>
          <a:prstGeom prst="rect">
            <a:avLst/>
          </a:prstGeom>
          <a:noFill/>
          <a:ln/>
        </p:spPr>
        <p:txBody>
          <a:bodyPr wrap="square" lIns="0" tIns="0" rIns="0" bIns="0" rtlCol="0" anchor="ctr"/>
          <a:lstStyle/>
          <a:p>
            <a:pPr indent="0" marL="0">
              <a:buNone/>
            </a:pPr>
            <a:r>
              <a:rPr lang="en-US" sz="2600" b="1" dirty="0">
                <a:solidFill>
                  <a:srgbClr val="2C5282"/>
                </a:solidFill>
                <a:latin typeface="Calibri" pitchFamily="34" charset="0"/>
                <a:ea typeface="Calibri" pitchFamily="34" charset="-122"/>
                <a:cs typeface="Calibri" pitchFamily="34" charset="-120"/>
              </a:rPr>
              <a:t>Segundo hallazgo: efecto de perseverancia</a:t>
            </a:r>
            <a:endParaRPr lang="en-US" sz="2600" dirty="0"/>
          </a:p>
        </p:txBody>
      </p:sp>
      <p:sp>
        <p:nvSpPr>
          <p:cNvPr id="4" name="Shape 2"/>
          <p:cNvSpPr/>
          <p:nvPr/>
        </p:nvSpPr>
        <p:spPr>
          <a:xfrm>
            <a:off x="201168" y="777240"/>
            <a:ext cx="8741664" cy="0"/>
          </a:xfrm>
          <a:prstGeom prst="line">
            <a:avLst/>
          </a:prstGeom>
          <a:noFill/>
          <a:ln w="19050">
            <a:solidFill>
              <a:srgbClr val="2C5282"/>
            </a:solidFill>
            <a:prstDash val="solid"/>
          </a:ln>
        </p:spPr>
      </p:sp>
      <p:sp>
        <p:nvSpPr>
          <p:cNvPr id="5" name="Text 3"/>
          <p:cNvSpPr/>
          <p:nvPr/>
        </p:nvSpPr>
        <p:spPr>
          <a:xfrm>
            <a:off x="201168" y="914400"/>
            <a:ext cx="8741664" cy="347472"/>
          </a:xfrm>
          <a:prstGeom prst="rect">
            <a:avLst/>
          </a:prstGeom>
          <a:noFill/>
          <a:ln/>
        </p:spPr>
        <p:txBody>
          <a:bodyPr wrap="square" rtlCol="0" anchor="ctr"/>
          <a:lstStyle/>
          <a:p>
            <a:pPr indent="0" marL="0">
              <a:buNone/>
            </a:pPr>
            <a:r>
              <a:rPr lang="en-US" sz="1400" i="1" dirty="0">
                <a:solidFill>
                  <a:srgbClr val="2C5282"/>
                </a:solidFill>
                <a:latin typeface="Calibri" pitchFamily="34" charset="0"/>
                <a:ea typeface="Calibri" pitchFamily="34" charset="-122"/>
                <a:cs typeface="Calibri" pitchFamily="34" charset="-120"/>
              </a:rPr>
              <a:t>Reanálisis de Nevin (1979) sobre datos propios + Silberberg et al. (1978)</a:t>
            </a:r>
            <a:endParaRPr lang="en-US" sz="1400" dirty="0"/>
          </a:p>
        </p:txBody>
      </p:sp>
      <p:sp>
        <p:nvSpPr>
          <p:cNvPr id="6" name="Shape 4"/>
          <p:cNvSpPr/>
          <p:nvPr/>
        </p:nvSpPr>
        <p:spPr>
          <a:xfrm>
            <a:off x="201168" y="1371600"/>
            <a:ext cx="8741664" cy="1005840"/>
          </a:xfrm>
          <a:prstGeom prst="rect">
            <a:avLst/>
          </a:prstGeom>
          <a:solidFill>
            <a:srgbClr val="FFF3E8"/>
          </a:solidFill>
          <a:ln w="15240">
            <a:solidFill>
              <a:srgbClr val="C05621"/>
            </a:solidFill>
            <a:prstDash val="solid"/>
          </a:ln>
          <a:effectLst>
            <a:outerShdw sx="100000" sy="100000" kx="0" ky="0" algn="bl" rotWithShape="0" blurRad="76200" dist="38100" dir="8100000">
              <a:srgbClr val="000000">
                <a:alpha val="10000"/>
              </a:srgbClr>
            </a:outerShdw>
          </a:effectLst>
        </p:spPr>
      </p:sp>
      <p:sp>
        <p:nvSpPr>
          <p:cNvPr id="7" name="Text 5"/>
          <p:cNvSpPr/>
          <p:nvPr/>
        </p:nvSpPr>
        <p:spPr>
          <a:xfrm>
            <a:off x="320040" y="1444752"/>
            <a:ext cx="8503920" cy="274320"/>
          </a:xfrm>
          <a:prstGeom prst="rect">
            <a:avLst/>
          </a:prstGeom>
          <a:noFill/>
          <a:ln/>
        </p:spPr>
        <p:txBody>
          <a:bodyPr wrap="square" lIns="0" tIns="0" rIns="0" bIns="0" rtlCol="0" anchor="ctr"/>
          <a:lstStyle/>
          <a:p>
            <a:pPr indent="0" marL="0">
              <a:buNone/>
            </a:pPr>
            <a:r>
              <a:rPr lang="en-US" sz="1300" b="1" dirty="0">
                <a:solidFill>
                  <a:srgbClr val="C05621"/>
                </a:solidFill>
                <a:latin typeface="Calibri" pitchFamily="34" charset="0"/>
                <a:ea typeface="Calibri" pitchFamily="34" charset="-122"/>
                <a:cs typeface="Calibri" pitchFamily="34" charset="-120"/>
              </a:rPr>
              <a:t>Patrón observado:</a:t>
            </a:r>
            <a:endParaRPr lang="en-US" sz="1300" dirty="0"/>
          </a:p>
        </p:txBody>
      </p:sp>
      <p:sp>
        <p:nvSpPr>
          <p:cNvPr id="8" name="Text 6"/>
          <p:cNvSpPr/>
          <p:nvPr/>
        </p:nvSpPr>
        <p:spPr>
          <a:xfrm>
            <a:off x="320040" y="1737360"/>
            <a:ext cx="8503920" cy="530352"/>
          </a:xfrm>
          <a:prstGeom prst="rect">
            <a:avLst/>
          </a:prstGeom>
          <a:noFill/>
          <a:ln/>
        </p:spPr>
        <p:txBody>
          <a:bodyPr wrap="square" lIns="0" tIns="0" rIns="0" bIns="0" rtlCol="0" anchor="ctr"/>
          <a:lstStyle/>
          <a:p>
            <a:pPr indent="0" marL="0">
              <a:buNone/>
            </a:pPr>
            <a:r>
              <a:rPr lang="en-US" sz="1400" dirty="0">
                <a:solidFill>
                  <a:srgbClr val="1A202C"/>
                </a:solidFill>
                <a:latin typeface="Calibri" pitchFamily="34" charset="0"/>
                <a:ea typeface="Calibri" pitchFamily="34" charset="-122"/>
                <a:cs typeface="Calibri" pitchFamily="34" charset="-120"/>
              </a:rPr>
              <a:t>La probabilidad de repetir una elección era alta e independiente de si esa respuesta había sido reforzada en el ensayo anterior. Los organismos tendían a PERMANECER en la opción elegida.</a:t>
            </a:r>
            <a:endParaRPr lang="en-US" sz="1400" dirty="0"/>
          </a:p>
        </p:txBody>
      </p:sp>
      <p:pic>
        <p:nvPicPr>
          <p:cNvPr id="9" name="Image 0" descr="preencoded.png">    </p:cNvPr>
          <p:cNvPicPr>
            <a:picLocks noChangeAspect="1"/>
          </p:cNvPicPr>
          <p:nvPr/>
        </p:nvPicPr>
        <p:blipFill>
          <a:blip r:embed="rId1"/>
          <a:stretch>
            <a:fillRect/>
          </a:stretch>
        </p:blipFill>
        <p:spPr>
          <a:xfrm>
            <a:off x="201168" y="2468880"/>
            <a:ext cx="8741664" cy="24231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C5282"/>
          </a:solidFill>
          <a:ln/>
        </p:spPr>
      </p:sp>
      <p:sp>
        <p:nvSpPr>
          <p:cNvPr id="3" name="Text 1"/>
          <p:cNvSpPr/>
          <p:nvPr/>
        </p:nvSpPr>
        <p:spPr>
          <a:xfrm>
            <a:off x="201168" y="164592"/>
            <a:ext cx="8778240" cy="566928"/>
          </a:xfrm>
          <a:prstGeom prst="rect">
            <a:avLst/>
          </a:prstGeom>
          <a:noFill/>
          <a:ln/>
        </p:spPr>
        <p:txBody>
          <a:bodyPr wrap="square" lIns="0" tIns="0" rIns="0" bIns="0" rtlCol="0" anchor="ctr"/>
          <a:lstStyle/>
          <a:p>
            <a:pPr indent="0" marL="0">
              <a:buNone/>
            </a:pPr>
            <a:r>
              <a:rPr lang="en-US" sz="2600" b="1" dirty="0">
                <a:solidFill>
                  <a:srgbClr val="2C5282"/>
                </a:solidFill>
                <a:latin typeface="Calibri" pitchFamily="34" charset="0"/>
                <a:ea typeface="Calibri" pitchFamily="34" charset="-122"/>
                <a:cs typeface="Calibri" pitchFamily="34" charset="-120"/>
              </a:rPr>
              <a:t>Una prueba más limpia: programa concurrente RV-IV (Williams, 1985)</a:t>
            </a:r>
            <a:endParaRPr lang="en-US" sz="2600" dirty="0"/>
          </a:p>
        </p:txBody>
      </p:sp>
      <p:sp>
        <p:nvSpPr>
          <p:cNvPr id="4" name="Shape 2"/>
          <p:cNvSpPr/>
          <p:nvPr/>
        </p:nvSpPr>
        <p:spPr>
          <a:xfrm>
            <a:off x="201168" y="777240"/>
            <a:ext cx="8741664" cy="0"/>
          </a:xfrm>
          <a:prstGeom prst="line">
            <a:avLst/>
          </a:prstGeom>
          <a:noFill/>
          <a:ln w="19050">
            <a:solidFill>
              <a:srgbClr val="2C5282"/>
            </a:solidFill>
            <a:prstDash val="solid"/>
          </a:ln>
        </p:spPr>
      </p:sp>
      <p:sp>
        <p:nvSpPr>
          <p:cNvPr id="5" name="Text 3"/>
          <p:cNvSpPr/>
          <p:nvPr/>
        </p:nvSpPr>
        <p:spPr>
          <a:xfrm>
            <a:off x="201168" y="914400"/>
            <a:ext cx="8741664" cy="347472"/>
          </a:xfrm>
          <a:prstGeom prst="rect">
            <a:avLst/>
          </a:prstGeom>
          <a:noFill/>
          <a:ln/>
        </p:spPr>
        <p:txBody>
          <a:bodyPr wrap="square" rtlCol="0" anchor="ctr"/>
          <a:lstStyle/>
          <a:p>
            <a:pPr indent="0" marL="0">
              <a:buNone/>
            </a:pPr>
            <a:r>
              <a:rPr lang="en-US" sz="1400" i="1" dirty="0">
                <a:solidFill>
                  <a:srgbClr val="1A202C"/>
                </a:solidFill>
                <a:latin typeface="Calibri" pitchFamily="34" charset="0"/>
                <a:ea typeface="Calibri" pitchFamily="34" charset="-122"/>
                <a:cs typeface="Calibri" pitchFamily="34" charset="-120"/>
              </a:rPr>
              <a:t>La asimetría entre los dos programas hace la predicción todavía más específica.</a:t>
            </a:r>
            <a:endParaRPr lang="en-US" sz="1400" dirty="0"/>
          </a:p>
        </p:txBody>
      </p:sp>
      <p:sp>
        <p:nvSpPr>
          <p:cNvPr id="6" name="Shape 4"/>
          <p:cNvSpPr/>
          <p:nvPr/>
        </p:nvSpPr>
        <p:spPr>
          <a:xfrm>
            <a:off x="201168" y="1417320"/>
            <a:ext cx="4206240" cy="1920240"/>
          </a:xfrm>
          <a:prstGeom prst="rect">
            <a:avLst/>
          </a:prstGeom>
          <a:solidFill>
            <a:srgbClr val="EBF4FF"/>
          </a:solidFill>
          <a:ln w="15240">
            <a:solidFill>
              <a:srgbClr val="2C5282"/>
            </a:solidFill>
            <a:prstDash val="solid"/>
          </a:ln>
          <a:effectLst>
            <a:outerShdw sx="100000" sy="100000" kx="0" ky="0" algn="bl" rotWithShape="0" blurRad="76200" dist="38100" dir="8100000">
              <a:srgbClr val="000000">
                <a:alpha val="10000"/>
              </a:srgbClr>
            </a:outerShdw>
          </a:effectLst>
        </p:spPr>
      </p:sp>
      <p:sp>
        <p:nvSpPr>
          <p:cNvPr id="7" name="Text 5"/>
          <p:cNvSpPr/>
          <p:nvPr/>
        </p:nvSpPr>
        <p:spPr>
          <a:xfrm>
            <a:off x="338328" y="1527048"/>
            <a:ext cx="3931920" cy="320040"/>
          </a:xfrm>
          <a:prstGeom prst="rect">
            <a:avLst/>
          </a:prstGeom>
          <a:noFill/>
          <a:ln/>
        </p:spPr>
        <p:txBody>
          <a:bodyPr wrap="square" lIns="0" tIns="0" rIns="0" bIns="0" rtlCol="0" anchor="ctr"/>
          <a:lstStyle/>
          <a:p>
            <a:pPr indent="0" marL="0">
              <a:buNone/>
            </a:pPr>
            <a:r>
              <a:rPr lang="en-US" sz="1400" b="1" dirty="0">
                <a:solidFill>
                  <a:srgbClr val="2C5282"/>
                </a:solidFill>
                <a:latin typeface="Calibri" pitchFamily="34" charset="0"/>
                <a:ea typeface="Calibri" pitchFamily="34" charset="-122"/>
                <a:cs typeface="Calibri" pitchFamily="34" charset="-120"/>
              </a:rPr>
              <a:t>Razón Variable (RV)</a:t>
            </a:r>
            <a:endParaRPr lang="en-US" sz="1400" dirty="0"/>
          </a:p>
        </p:txBody>
      </p:sp>
      <p:sp>
        <p:nvSpPr>
          <p:cNvPr id="8" name="Text 6"/>
          <p:cNvSpPr/>
          <p:nvPr/>
        </p:nvSpPr>
        <p:spPr>
          <a:xfrm>
            <a:off x="338328" y="1901952"/>
            <a:ext cx="3931920" cy="1325880"/>
          </a:xfrm>
          <a:prstGeom prst="rect">
            <a:avLst/>
          </a:prstGeom>
          <a:noFill/>
          <a:ln/>
        </p:spPr>
        <p:txBody>
          <a:bodyPr wrap="square" lIns="0" tIns="0" rIns="0" bIns="0" rtlCol="0" anchor="ctr"/>
          <a:lstStyle/>
          <a:p>
            <a:pPr indent="0" marL="0">
              <a:buNone/>
            </a:pPr>
            <a:r>
              <a:rPr lang="en-US" sz="1300" dirty="0">
                <a:solidFill>
                  <a:srgbClr val="1A202C"/>
                </a:solidFill>
                <a:latin typeface="Calibri" pitchFamily="34" charset="0"/>
                <a:ea typeface="Calibri" pitchFamily="34" charset="-122"/>
                <a:cs typeface="Calibri" pitchFamily="34" charset="-120"/>
              </a:rPr>
              <a:t>P(refuerzo) por respuesta = CONSTANTE</a:t>
            </a:r>
            <a:endParaRPr lang="en-US" sz="1300" dirty="0"/>
          </a:p>
          <a:p>
            <a:pPr indent="0" marL="0">
              <a:buNone/>
            </a:pPr>
            <a:r>
              <a:rPr lang="en-US" sz="1300" dirty="0">
                <a:solidFill>
                  <a:srgbClr val="1A202C"/>
                </a:solidFill>
                <a:latin typeface="Calibri" pitchFamily="34" charset="0"/>
                <a:ea typeface="Calibri" pitchFamily="34" charset="-122"/>
                <a:cs typeface="Calibri" pitchFamily="34" charset="-120"/>
              </a:rPr>
              <a:t>p_r = 1/n</a:t>
            </a:r>
            <a:endParaRPr lang="en-US" sz="1300" dirty="0"/>
          </a:p>
          <a:p>
            <a:pPr indent="0" marL="0">
              <a:buNone/>
            </a:pPr>
            <a:endParaRPr lang="en-US" sz="1300" dirty="0"/>
          </a:p>
          <a:p>
            <a:pPr indent="0" marL="0">
              <a:buNone/>
            </a:pPr>
            <a:r>
              <a:rPr lang="en-US" sz="1300" dirty="0">
                <a:solidFill>
                  <a:srgbClr val="1A202C"/>
                </a:solidFill>
                <a:latin typeface="Calibri" pitchFamily="34" charset="0"/>
                <a:ea typeface="Calibri" pitchFamily="34" charset="-122"/>
                <a:cs typeface="Calibri" pitchFamily="34" charset="-120"/>
              </a:rPr>
              <a:t>Independiente del tiempo y de la historia reciente.</a:t>
            </a:r>
            <a:endParaRPr lang="en-US" sz="1300" dirty="0"/>
          </a:p>
        </p:txBody>
      </p:sp>
      <p:sp>
        <p:nvSpPr>
          <p:cNvPr id="9" name="Shape 7"/>
          <p:cNvSpPr/>
          <p:nvPr/>
        </p:nvSpPr>
        <p:spPr>
          <a:xfrm>
            <a:off x="4663440" y="1417320"/>
            <a:ext cx="4206240" cy="1920240"/>
          </a:xfrm>
          <a:prstGeom prst="rect">
            <a:avLst/>
          </a:prstGeom>
          <a:solidFill>
            <a:srgbClr val="E6F4ED"/>
          </a:solidFill>
          <a:ln w="15240">
            <a:solidFill>
              <a:srgbClr val="276749"/>
            </a:solidFill>
            <a:prstDash val="solid"/>
          </a:ln>
          <a:effectLst>
            <a:outerShdw sx="100000" sy="100000" kx="0" ky="0" algn="bl" rotWithShape="0" blurRad="76200" dist="38100" dir="8100000">
              <a:srgbClr val="000000">
                <a:alpha val="10000"/>
              </a:srgbClr>
            </a:outerShdw>
          </a:effectLst>
        </p:spPr>
      </p:sp>
      <p:sp>
        <p:nvSpPr>
          <p:cNvPr id="10" name="Text 8"/>
          <p:cNvSpPr/>
          <p:nvPr/>
        </p:nvSpPr>
        <p:spPr>
          <a:xfrm>
            <a:off x="4800600" y="1527048"/>
            <a:ext cx="3931920" cy="320040"/>
          </a:xfrm>
          <a:prstGeom prst="rect">
            <a:avLst/>
          </a:prstGeom>
          <a:noFill/>
          <a:ln/>
        </p:spPr>
        <p:txBody>
          <a:bodyPr wrap="square" lIns="0" tIns="0" rIns="0" bIns="0" rtlCol="0" anchor="ctr"/>
          <a:lstStyle/>
          <a:p>
            <a:pPr indent="0" marL="0">
              <a:buNone/>
            </a:pPr>
            <a:r>
              <a:rPr lang="en-US" sz="1400" b="1" dirty="0">
                <a:solidFill>
                  <a:srgbClr val="276749"/>
                </a:solidFill>
                <a:latin typeface="Calibri" pitchFamily="34" charset="0"/>
                <a:ea typeface="Calibri" pitchFamily="34" charset="-122"/>
                <a:cs typeface="Calibri" pitchFamily="34" charset="-120"/>
              </a:rPr>
              <a:t>Intervalo Variable (IV)</a:t>
            </a:r>
            <a:endParaRPr lang="en-US" sz="1400" dirty="0"/>
          </a:p>
        </p:txBody>
      </p:sp>
      <p:sp>
        <p:nvSpPr>
          <p:cNvPr id="11" name="Text 9"/>
          <p:cNvSpPr/>
          <p:nvPr/>
        </p:nvSpPr>
        <p:spPr>
          <a:xfrm>
            <a:off x="4800600" y="1901952"/>
            <a:ext cx="3931920" cy="1325880"/>
          </a:xfrm>
          <a:prstGeom prst="rect">
            <a:avLst/>
          </a:prstGeom>
          <a:noFill/>
          <a:ln/>
        </p:spPr>
        <p:txBody>
          <a:bodyPr wrap="square" lIns="0" tIns="0" rIns="0" bIns="0" rtlCol="0" anchor="ctr"/>
          <a:lstStyle/>
          <a:p>
            <a:pPr indent="0" marL="0">
              <a:buNone/>
            </a:pPr>
            <a:r>
              <a:rPr lang="en-US" sz="1300" dirty="0">
                <a:solidFill>
                  <a:srgbClr val="1A202C"/>
                </a:solidFill>
                <a:latin typeface="Calibri" pitchFamily="34" charset="0"/>
                <a:ea typeface="Calibri" pitchFamily="34" charset="-122"/>
                <a:cs typeface="Calibri" pitchFamily="34" charset="-120"/>
              </a:rPr>
              <a:t>P(refuerzo disponible) CRECE con ausencia</a:t>
            </a:r>
            <a:endParaRPr lang="en-US" sz="1300" dirty="0"/>
          </a:p>
          <a:p>
            <a:pPr indent="0" marL="0">
              <a:buNone/>
            </a:pPr>
            <a:r>
              <a:rPr lang="en-US" sz="1300" dirty="0">
                <a:solidFill>
                  <a:srgbClr val="1A202C"/>
                </a:solidFill>
                <a:latin typeface="Calibri" pitchFamily="34" charset="0"/>
                <a:ea typeface="Calibri" pitchFamily="34" charset="-122"/>
                <a:cs typeface="Calibri" pitchFamily="34" charset="-120"/>
              </a:rPr>
              <a:t>Baja justo después de una visita</a:t>
            </a:r>
            <a:endParaRPr lang="en-US" sz="1300" dirty="0"/>
          </a:p>
          <a:p>
            <a:pPr indent="0" marL="0">
              <a:buNone/>
            </a:pPr>
            <a:r>
              <a:rPr lang="en-US" sz="1300" dirty="0">
                <a:solidFill>
                  <a:srgbClr val="1A202C"/>
                </a:solidFill>
                <a:latin typeface="Calibri" pitchFamily="34" charset="0"/>
                <a:ea typeface="Calibri" pitchFamily="34" charset="-122"/>
                <a:cs typeface="Calibri" pitchFamily="34" charset="-120"/>
              </a:rPr>
              <a:t>Se aproxima a 1 con tiempo</a:t>
            </a:r>
            <a:endParaRPr lang="en-US" sz="1300" dirty="0"/>
          </a:p>
          <a:p>
            <a:pPr indent="0" marL="0">
              <a:buNone/>
            </a:pPr>
            <a:endParaRPr lang="en-US" sz="1300" dirty="0"/>
          </a:p>
          <a:p>
            <a:pPr indent="0" marL="0">
              <a:buNone/>
            </a:pPr>
            <a:r>
              <a:rPr lang="en-US" sz="1300" dirty="0">
                <a:solidFill>
                  <a:srgbClr val="1A202C"/>
                </a:solidFill>
                <a:latin typeface="Calibri" pitchFamily="34" charset="0"/>
                <a:ea typeface="Calibri" pitchFamily="34" charset="-122"/>
                <a:cs typeface="Calibri" pitchFamily="34" charset="-120"/>
              </a:rPr>
              <a:t>Estructura temporal dinámica.</a:t>
            </a:r>
            <a:endParaRPr lang="en-US" sz="1300" dirty="0"/>
          </a:p>
        </p:txBody>
      </p:sp>
      <p:sp>
        <p:nvSpPr>
          <p:cNvPr id="12" name="Shape 10"/>
          <p:cNvSpPr/>
          <p:nvPr/>
        </p:nvSpPr>
        <p:spPr>
          <a:xfrm>
            <a:off x="201168" y="3474720"/>
            <a:ext cx="8741664" cy="1097280"/>
          </a:xfrm>
          <a:prstGeom prst="rect">
            <a:avLst/>
          </a:prstGeom>
          <a:solidFill>
            <a:srgbClr val="FFF3E8"/>
          </a:solidFill>
          <a:ln w="15240">
            <a:solidFill>
              <a:srgbClr val="C05621"/>
            </a:solidFill>
            <a:prstDash val="solid"/>
          </a:ln>
          <a:effectLst>
            <a:outerShdw sx="100000" sy="100000" kx="0" ky="0" algn="bl" rotWithShape="0" blurRad="76200" dist="38100" dir="8100000">
              <a:srgbClr val="000000">
                <a:alpha val="10000"/>
              </a:srgbClr>
            </a:outerShdw>
          </a:effectLst>
        </p:spPr>
      </p:sp>
      <p:sp>
        <p:nvSpPr>
          <p:cNvPr id="13" name="Text 11"/>
          <p:cNvSpPr/>
          <p:nvPr/>
        </p:nvSpPr>
        <p:spPr>
          <a:xfrm>
            <a:off x="320040" y="3547872"/>
            <a:ext cx="8503920" cy="274320"/>
          </a:xfrm>
          <a:prstGeom prst="rect">
            <a:avLst/>
          </a:prstGeom>
          <a:noFill/>
          <a:ln/>
        </p:spPr>
        <p:txBody>
          <a:bodyPr wrap="square" lIns="0" tIns="0" rIns="0" bIns="0" rtlCol="0" anchor="ctr"/>
          <a:lstStyle/>
          <a:p>
            <a:pPr indent="0" marL="0">
              <a:buNone/>
            </a:pPr>
            <a:r>
              <a:rPr lang="en-US" sz="1300" b="1" dirty="0">
                <a:solidFill>
                  <a:srgbClr val="C05621"/>
                </a:solidFill>
                <a:latin typeface="Calibri" pitchFamily="34" charset="0"/>
                <a:ea typeface="Calibri" pitchFamily="34" charset="-122"/>
                <a:cs typeface="Calibri" pitchFamily="34" charset="-120"/>
              </a:rPr>
              <a:t>Predicción específica del modelo:</a:t>
            </a:r>
            <a:endParaRPr lang="en-US" sz="1300" dirty="0"/>
          </a:p>
        </p:txBody>
      </p:sp>
      <p:sp>
        <p:nvSpPr>
          <p:cNvPr id="14" name="Text 12"/>
          <p:cNvSpPr/>
          <p:nvPr/>
        </p:nvSpPr>
        <p:spPr>
          <a:xfrm>
            <a:off x="320040" y="3849624"/>
            <a:ext cx="8503920" cy="594360"/>
          </a:xfrm>
          <a:prstGeom prst="rect">
            <a:avLst/>
          </a:prstGeom>
          <a:noFill/>
          <a:ln/>
        </p:spPr>
        <p:txBody>
          <a:bodyPr wrap="square" lIns="0" tIns="0" rIns="0" bIns="0" rtlCol="0" anchor="ctr"/>
          <a:lstStyle/>
          <a:p>
            <a:pPr indent="0" marL="0">
              <a:buNone/>
            </a:pPr>
            <a:r>
              <a:rPr lang="en-US" sz="1400" dirty="0">
                <a:solidFill>
                  <a:srgbClr val="1A202C"/>
                </a:solidFill>
                <a:latin typeface="Calibri" pitchFamily="34" charset="0"/>
                <a:ea typeface="Calibri" pitchFamily="34" charset="-122"/>
                <a:cs typeface="Calibri" pitchFamily="34" charset="-120"/>
              </a:rPr>
              <a:t>Responder al RV </a:t>
            </a:r>
            <a:pPr indent="0" marL="0">
              <a:buNone/>
            </a:pPr>
            <a:r>
              <a:rPr lang="en-US" sz="1400" b="1" dirty="0">
                <a:solidFill>
                  <a:srgbClr val="2C5282"/>
                </a:solidFill>
                <a:latin typeface="Calibri" pitchFamily="34" charset="0"/>
                <a:ea typeface="Calibri" pitchFamily="34" charset="-122"/>
                <a:cs typeface="Calibri" pitchFamily="34" charset="-120"/>
              </a:rPr>
              <a:t>cuando P(IV) es baja</a:t>
            </a:r>
            <a:pPr indent="0" marL="0">
              <a:buNone/>
            </a:pPr>
            <a:r>
              <a:rPr lang="en-US" sz="1400" dirty="0">
                <a:solidFill>
                  <a:srgbClr val="1A202C"/>
                </a:solidFill>
                <a:latin typeface="Calibri" pitchFamily="34" charset="0"/>
                <a:ea typeface="Calibri" pitchFamily="34" charset="-122"/>
                <a:cs typeface="Calibri" pitchFamily="34" charset="-120"/>
              </a:rPr>
              <a:t> (recién visitado).  Cambiar al IV </a:t>
            </a:r>
            <a:pPr indent="0" marL="0">
              <a:buNone/>
            </a:pPr>
            <a:r>
              <a:rPr lang="en-US" sz="1400" b="1" dirty="0">
                <a:solidFill>
                  <a:srgbClr val="276749"/>
                </a:solidFill>
                <a:latin typeface="Calibri" pitchFamily="34" charset="0"/>
                <a:ea typeface="Calibri" pitchFamily="34" charset="-122"/>
                <a:cs typeface="Calibri" pitchFamily="34" charset="-120"/>
              </a:rPr>
              <a:t>cuando P(IV) &gt; p_r</a:t>
            </a:r>
            <a:pPr indent="0" marL="0">
              <a:buNone/>
            </a:pPr>
            <a:r>
              <a:rPr lang="en-US" sz="1400" dirty="0">
                <a:solidFill>
                  <a:srgbClr val="1A202C"/>
                </a:solidFill>
                <a:latin typeface="Calibri" pitchFamily="34" charset="0"/>
                <a:ea typeface="Calibri" pitchFamily="34" charset="-122"/>
                <a:cs typeface="Calibri" pitchFamily="34" charset="-120"/>
              </a:rPr>
              <a:t> — función monótonamente creciente.</a:t>
            </a:r>
            <a:endParaRPr lang="en-US" sz="1400" dirty="0"/>
          </a:p>
        </p:txBody>
      </p:sp>
      <p:sp>
        <p:nvSpPr>
          <p:cNvPr id="15" name="Text 13"/>
          <p:cNvSpPr/>
          <p:nvPr/>
        </p:nvSpPr>
        <p:spPr>
          <a:xfrm>
            <a:off x="201168" y="4709160"/>
            <a:ext cx="8741664" cy="274320"/>
          </a:xfrm>
          <a:prstGeom prst="rect">
            <a:avLst/>
          </a:prstGeom>
          <a:noFill/>
          <a:ln/>
        </p:spPr>
        <p:txBody>
          <a:bodyPr wrap="square" rtlCol="0" anchor="ctr"/>
          <a:lstStyle/>
          <a:p>
            <a:pPr indent="0" marL="0">
              <a:buNone/>
            </a:pPr>
            <a:r>
              <a:rPr lang="en-US" sz="1200" i="1" dirty="0">
                <a:solidFill>
                  <a:srgbClr val="718096"/>
                </a:solidFill>
                <a:latin typeface="Calibri" pitchFamily="34" charset="0"/>
                <a:ea typeface="Calibri" pitchFamily="34" charset="-122"/>
                <a:cs typeface="Calibri" pitchFamily="34" charset="-120"/>
              </a:rPr>
              <a:t>La asimetría hace que la predicción sea perfectamente específica en términos probabilísticos.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C5282"/>
          </a:solidFill>
          <a:ln/>
        </p:spPr>
      </p:sp>
      <p:sp>
        <p:nvSpPr>
          <p:cNvPr id="3" name="Text 1"/>
          <p:cNvSpPr/>
          <p:nvPr/>
        </p:nvSpPr>
        <p:spPr>
          <a:xfrm>
            <a:off x="201168" y="164592"/>
            <a:ext cx="8778240" cy="566928"/>
          </a:xfrm>
          <a:prstGeom prst="rect">
            <a:avLst/>
          </a:prstGeom>
          <a:noFill/>
          <a:ln/>
        </p:spPr>
        <p:txBody>
          <a:bodyPr wrap="square" lIns="0" tIns="0" rIns="0" bIns="0" rtlCol="0" anchor="ctr"/>
          <a:lstStyle/>
          <a:p>
            <a:pPr indent="0" marL="0">
              <a:buNone/>
            </a:pPr>
            <a:r>
              <a:rPr lang="en-US" sz="2600" b="1" dirty="0">
                <a:solidFill>
                  <a:srgbClr val="2C5282"/>
                </a:solidFill>
                <a:latin typeface="Calibri" pitchFamily="34" charset="0"/>
                <a:ea typeface="Calibri" pitchFamily="34" charset="-122"/>
                <a:cs typeface="Calibri" pitchFamily="34" charset="-120"/>
              </a:rPr>
              <a:t>Williams (1985): la conducta no sigue la disponibilidad del reforzador IV</a:t>
            </a:r>
            <a:endParaRPr lang="en-US" sz="2600" dirty="0"/>
          </a:p>
        </p:txBody>
      </p:sp>
      <p:sp>
        <p:nvSpPr>
          <p:cNvPr id="4" name="Shape 2"/>
          <p:cNvSpPr/>
          <p:nvPr/>
        </p:nvSpPr>
        <p:spPr>
          <a:xfrm>
            <a:off x="201168" y="777240"/>
            <a:ext cx="8741664" cy="0"/>
          </a:xfrm>
          <a:prstGeom prst="line">
            <a:avLst/>
          </a:prstGeom>
          <a:noFill/>
          <a:ln w="19050">
            <a:solidFill>
              <a:srgbClr val="2C5282"/>
            </a:solidFill>
            <a:prstDash val="solid"/>
          </a:ln>
        </p:spPr>
      </p:sp>
      <p:pic>
        <p:nvPicPr>
          <p:cNvPr id="5" name="Image 0" descr="preencoded.png">    </p:cNvPr>
          <p:cNvPicPr>
            <a:picLocks noChangeAspect="1"/>
          </p:cNvPicPr>
          <p:nvPr/>
        </p:nvPicPr>
        <p:blipFill>
          <a:blip r:embed="rId1"/>
          <a:stretch>
            <a:fillRect/>
          </a:stretch>
        </p:blipFill>
        <p:spPr>
          <a:xfrm>
            <a:off x="201168" y="896112"/>
            <a:ext cx="8741664" cy="39776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C5282"/>
          </a:solidFill>
          <a:ln/>
        </p:spPr>
      </p:sp>
      <p:sp>
        <p:nvSpPr>
          <p:cNvPr id="3" name="Text 1"/>
          <p:cNvSpPr/>
          <p:nvPr/>
        </p:nvSpPr>
        <p:spPr>
          <a:xfrm>
            <a:off x="201168" y="164592"/>
            <a:ext cx="8778240" cy="566928"/>
          </a:xfrm>
          <a:prstGeom prst="rect">
            <a:avLst/>
          </a:prstGeom>
          <a:noFill/>
          <a:ln/>
        </p:spPr>
        <p:txBody>
          <a:bodyPr wrap="square" lIns="0" tIns="0" rIns="0" bIns="0" rtlCol="0" anchor="ctr"/>
          <a:lstStyle/>
          <a:p>
            <a:pPr indent="0" marL="0">
              <a:buNone/>
            </a:pPr>
            <a:r>
              <a:rPr lang="en-US" sz="2600" b="1" dirty="0">
                <a:solidFill>
                  <a:srgbClr val="2C5282"/>
                </a:solidFill>
                <a:latin typeface="Calibri" pitchFamily="34" charset="0"/>
                <a:ea typeface="Calibri" pitchFamily="34" charset="-122"/>
                <a:cs typeface="Calibri" pitchFamily="34" charset="-120"/>
              </a:rPr>
              <a:t>Conclusiones sobre el modelo de maximización momentánea</a:t>
            </a:r>
            <a:endParaRPr lang="en-US" sz="2600" dirty="0"/>
          </a:p>
        </p:txBody>
      </p:sp>
      <p:sp>
        <p:nvSpPr>
          <p:cNvPr id="4" name="Shape 2"/>
          <p:cNvSpPr/>
          <p:nvPr/>
        </p:nvSpPr>
        <p:spPr>
          <a:xfrm>
            <a:off x="201168" y="777240"/>
            <a:ext cx="8741664" cy="0"/>
          </a:xfrm>
          <a:prstGeom prst="line">
            <a:avLst/>
          </a:prstGeom>
          <a:noFill/>
          <a:ln w="19050">
            <a:solidFill>
              <a:srgbClr val="2C5282"/>
            </a:solidFill>
            <a:prstDash val="solid"/>
          </a:ln>
        </p:spPr>
      </p:sp>
      <p:sp>
        <p:nvSpPr>
          <p:cNvPr id="5" name="Text 3"/>
          <p:cNvSpPr/>
          <p:nvPr/>
        </p:nvSpPr>
        <p:spPr>
          <a:xfrm>
            <a:off x="201168" y="914400"/>
            <a:ext cx="8741664" cy="347472"/>
          </a:xfrm>
          <a:prstGeom prst="rect">
            <a:avLst/>
          </a:prstGeom>
          <a:noFill/>
          <a:ln/>
        </p:spPr>
        <p:txBody>
          <a:bodyPr wrap="square" rtlCol="0" anchor="ctr"/>
          <a:lstStyle/>
          <a:p>
            <a:pPr indent="0" marL="0">
              <a:buNone/>
            </a:pPr>
            <a:r>
              <a:rPr lang="en-US" sz="1500" b="1" dirty="0">
                <a:solidFill>
                  <a:srgbClr val="2C5282"/>
                </a:solidFill>
                <a:latin typeface="Calibri" pitchFamily="34" charset="0"/>
                <a:ea typeface="Calibri" pitchFamily="34" charset="-122"/>
                <a:cs typeface="Calibri" pitchFamily="34" charset="-120"/>
              </a:rPr>
              <a:t>Experimentos IV-IV y RV-IV convergen en el mismo diagnóstico:</a:t>
            </a:r>
            <a:endParaRPr lang="en-US" sz="1500" dirty="0"/>
          </a:p>
        </p:txBody>
      </p:sp>
      <p:sp>
        <p:nvSpPr>
          <p:cNvPr id="6" name="Shape 4"/>
          <p:cNvSpPr/>
          <p:nvPr/>
        </p:nvSpPr>
        <p:spPr>
          <a:xfrm>
            <a:off x="201168" y="1371600"/>
            <a:ext cx="8741664" cy="594360"/>
          </a:xfrm>
          <a:prstGeom prst="rect">
            <a:avLst/>
          </a:prstGeom>
          <a:solidFill>
            <a:srgbClr val="FDE8E8"/>
          </a:solidFill>
          <a:ln w="15240">
            <a:solidFill>
              <a:srgbClr val="9B2335"/>
            </a:solidFill>
            <a:prstDash val="solid"/>
          </a:ln>
          <a:effectLst>
            <a:outerShdw sx="100000" sy="100000" kx="0" ky="0" algn="bl" rotWithShape="0" blurRad="76200" dist="38100" dir="8100000">
              <a:srgbClr val="000000">
                <a:alpha val="10000"/>
              </a:srgbClr>
            </a:outerShdw>
          </a:effectLst>
        </p:spPr>
      </p:sp>
      <p:sp>
        <p:nvSpPr>
          <p:cNvPr id="7" name="Text 5"/>
          <p:cNvSpPr/>
          <p:nvPr/>
        </p:nvSpPr>
        <p:spPr>
          <a:xfrm>
            <a:off x="320040" y="1463040"/>
            <a:ext cx="8503920" cy="384048"/>
          </a:xfrm>
          <a:prstGeom prst="rect">
            <a:avLst/>
          </a:prstGeom>
          <a:noFill/>
          <a:ln/>
        </p:spPr>
        <p:txBody>
          <a:bodyPr wrap="square" lIns="0" tIns="0" rIns="0" bIns="0" rtlCol="0" anchor="ctr"/>
          <a:lstStyle/>
          <a:p>
            <a:pPr indent="0" marL="0">
              <a:buNone/>
            </a:pPr>
            <a:r>
              <a:rPr lang="en-US" sz="1400" b="1" dirty="0">
                <a:solidFill>
                  <a:srgbClr val="9B2335"/>
                </a:solidFill>
                <a:latin typeface="Calibri" pitchFamily="34" charset="0"/>
                <a:ea typeface="Calibri" pitchFamily="34" charset="-122"/>
                <a:cs typeface="Calibri" pitchFamily="34" charset="-120"/>
              </a:rPr>
              <a:t>✗  Los organismos NO computan p_i y NO responden a la opción con mayor probabilidad instantánea de refuerzo.</a:t>
            </a:r>
            <a:endParaRPr lang="en-US" sz="1400" dirty="0"/>
          </a:p>
        </p:txBody>
      </p:sp>
      <p:sp>
        <p:nvSpPr>
          <p:cNvPr id="8" name="Shape 6"/>
          <p:cNvSpPr/>
          <p:nvPr/>
        </p:nvSpPr>
        <p:spPr>
          <a:xfrm>
            <a:off x="201168" y="2148840"/>
            <a:ext cx="438912" cy="438912"/>
          </a:xfrm>
          <a:prstGeom prst="ellipse">
            <a:avLst/>
          </a:prstGeom>
          <a:solidFill>
            <a:srgbClr val="2C5282"/>
          </a:solidFill>
          <a:ln w="12700">
            <a:solidFill>
              <a:srgbClr val="2C5282"/>
            </a:solidFill>
            <a:prstDash val="solid"/>
          </a:ln>
        </p:spPr>
      </p:sp>
      <p:sp>
        <p:nvSpPr>
          <p:cNvPr id="9" name="Text 7"/>
          <p:cNvSpPr/>
          <p:nvPr/>
        </p:nvSpPr>
        <p:spPr>
          <a:xfrm>
            <a:off x="201168" y="2167128"/>
            <a:ext cx="43891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8"/>
          <p:cNvSpPr/>
          <p:nvPr/>
        </p:nvSpPr>
        <p:spPr>
          <a:xfrm>
            <a:off x="749808" y="2194560"/>
            <a:ext cx="8229600" cy="502920"/>
          </a:xfrm>
          <a:prstGeom prst="rect">
            <a:avLst/>
          </a:prstGeom>
          <a:noFill/>
          <a:ln/>
        </p:spPr>
        <p:txBody>
          <a:bodyPr wrap="square" lIns="0" tIns="0" rIns="0" bIns="0" rtlCol="0" anchor="ctr"/>
          <a:lstStyle/>
          <a:p>
            <a:pPr indent="0" marL="0">
              <a:buNone/>
            </a:pPr>
            <a:r>
              <a:rPr lang="en-US" sz="1400" dirty="0">
                <a:solidFill>
                  <a:srgbClr val="1A202C"/>
                </a:solidFill>
                <a:latin typeface="Calibri" pitchFamily="34" charset="0"/>
                <a:ea typeface="Calibri" pitchFamily="34" charset="-122"/>
                <a:cs typeface="Calibri" pitchFamily="34" charset="-120"/>
              </a:rPr>
              <a:t>Un reforzador sí aumenta la probabilidad de repetir la misma respuesta (ley del efecto ✓).</a:t>
            </a:r>
            <a:endParaRPr lang="en-US" sz="1400" dirty="0"/>
          </a:p>
        </p:txBody>
      </p:sp>
      <p:sp>
        <p:nvSpPr>
          <p:cNvPr id="11" name="Shape 9"/>
          <p:cNvSpPr/>
          <p:nvPr/>
        </p:nvSpPr>
        <p:spPr>
          <a:xfrm>
            <a:off x="201168" y="2898648"/>
            <a:ext cx="438912" cy="438912"/>
          </a:xfrm>
          <a:prstGeom prst="ellipse">
            <a:avLst/>
          </a:prstGeom>
          <a:solidFill>
            <a:srgbClr val="2C5282"/>
          </a:solidFill>
          <a:ln w="12700">
            <a:solidFill>
              <a:srgbClr val="2C5282"/>
            </a:solidFill>
            <a:prstDash val="solid"/>
          </a:ln>
        </p:spPr>
      </p:sp>
      <p:sp>
        <p:nvSpPr>
          <p:cNvPr id="12" name="Text 10"/>
          <p:cNvSpPr/>
          <p:nvPr/>
        </p:nvSpPr>
        <p:spPr>
          <a:xfrm>
            <a:off x="201168" y="2916936"/>
            <a:ext cx="43891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749808" y="2944368"/>
            <a:ext cx="8229600" cy="502920"/>
          </a:xfrm>
          <a:prstGeom prst="rect">
            <a:avLst/>
          </a:prstGeom>
          <a:noFill/>
          <a:ln/>
        </p:spPr>
        <p:txBody>
          <a:bodyPr wrap="square" lIns="0" tIns="0" rIns="0" bIns="0" rtlCol="0" anchor="ctr"/>
          <a:lstStyle/>
          <a:p>
            <a:pPr indent="0" marL="0">
              <a:buNone/>
            </a:pPr>
            <a:r>
              <a:rPr lang="en-US" sz="1400" dirty="0">
                <a:solidFill>
                  <a:srgbClr val="1A202C"/>
                </a:solidFill>
                <a:latin typeface="Calibri" pitchFamily="34" charset="0"/>
                <a:ea typeface="Calibri" pitchFamily="34" charset="-122"/>
                <a:cs typeface="Calibri" pitchFamily="34" charset="-120"/>
              </a:rPr>
              <a:t>Perseverancia: los organismos repiten una elección con mayor probabilidad por haberla emitido recientemente, con independencia del reforzamiento.</a:t>
            </a:r>
            <a:endParaRPr lang="en-US" sz="1400" dirty="0"/>
          </a:p>
        </p:txBody>
      </p:sp>
      <p:sp>
        <p:nvSpPr>
          <p:cNvPr id="14" name="Shape 12"/>
          <p:cNvSpPr/>
          <p:nvPr/>
        </p:nvSpPr>
        <p:spPr>
          <a:xfrm>
            <a:off x="201168" y="3648456"/>
            <a:ext cx="438912" cy="438912"/>
          </a:xfrm>
          <a:prstGeom prst="ellipse">
            <a:avLst/>
          </a:prstGeom>
          <a:solidFill>
            <a:srgbClr val="2C5282"/>
          </a:solidFill>
          <a:ln w="12700">
            <a:solidFill>
              <a:srgbClr val="2C5282"/>
            </a:solidFill>
            <a:prstDash val="solid"/>
          </a:ln>
        </p:spPr>
      </p:sp>
      <p:sp>
        <p:nvSpPr>
          <p:cNvPr id="15" name="Text 13"/>
          <p:cNvSpPr/>
          <p:nvPr/>
        </p:nvSpPr>
        <p:spPr>
          <a:xfrm>
            <a:off x="201168" y="3666744"/>
            <a:ext cx="43891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749808" y="3694176"/>
            <a:ext cx="8229600" cy="502920"/>
          </a:xfrm>
          <a:prstGeom prst="rect">
            <a:avLst/>
          </a:prstGeom>
          <a:noFill/>
          <a:ln/>
        </p:spPr>
        <p:txBody>
          <a:bodyPr wrap="square" lIns="0" tIns="0" rIns="0" bIns="0" rtlCol="0" anchor="ctr"/>
          <a:lstStyle/>
          <a:p>
            <a:pPr indent="0" marL="0">
              <a:buNone/>
            </a:pPr>
            <a:r>
              <a:rPr lang="en-US" sz="1400" dirty="0">
                <a:solidFill>
                  <a:srgbClr val="1A202C"/>
                </a:solidFill>
                <a:latin typeface="Calibri" pitchFamily="34" charset="0"/>
                <a:ea typeface="Calibri" pitchFamily="34" charset="-122"/>
                <a:cs typeface="Calibri" pitchFamily="34" charset="-120"/>
              </a:rPr>
              <a:t>La sensibilidad a la secuencia puede verse afectada por el intervalo entre ensayos y por la memoria sobre respuestas recientes.</a:t>
            </a:r>
            <a:endParaRPr lang="en-US" sz="1400" dirty="0"/>
          </a:p>
        </p:txBody>
      </p:sp>
      <p:sp>
        <p:nvSpPr>
          <p:cNvPr id="17" name="Shape 15"/>
          <p:cNvSpPr/>
          <p:nvPr/>
        </p:nvSpPr>
        <p:spPr>
          <a:xfrm>
            <a:off x="201168" y="4663440"/>
            <a:ext cx="8741664" cy="347472"/>
          </a:xfrm>
          <a:prstGeom prst="rect">
            <a:avLst/>
          </a:prstGeom>
          <a:solidFill>
            <a:srgbClr val="FFF3E8"/>
          </a:solidFill>
          <a:ln w="15240">
            <a:solidFill>
              <a:srgbClr val="C05621"/>
            </a:solidFill>
            <a:prstDash val="solid"/>
          </a:ln>
          <a:effectLst>
            <a:outerShdw sx="100000" sy="100000" kx="0" ky="0" algn="bl" rotWithShape="0" blurRad="76200" dist="38100" dir="8100000">
              <a:srgbClr val="000000">
                <a:alpha val="10000"/>
              </a:srgbClr>
            </a:outerShdw>
          </a:effectLst>
        </p:spPr>
      </p:sp>
      <p:sp>
        <p:nvSpPr>
          <p:cNvPr id="18" name="Text 16"/>
          <p:cNvSpPr/>
          <p:nvPr/>
        </p:nvSpPr>
        <p:spPr>
          <a:xfrm>
            <a:off x="320040" y="4718304"/>
            <a:ext cx="8503920" cy="256032"/>
          </a:xfrm>
          <a:prstGeom prst="rect">
            <a:avLst/>
          </a:prstGeom>
          <a:noFill/>
          <a:ln/>
        </p:spPr>
        <p:txBody>
          <a:bodyPr wrap="square" lIns="0" tIns="0" rIns="0" bIns="0" rtlCol="0" anchor="ctr"/>
          <a:lstStyle/>
          <a:p>
            <a:pPr indent="0" marL="0">
              <a:buNone/>
            </a:pPr>
            <a:r>
              <a:rPr lang="en-US" sz="1200" b="1" dirty="0">
                <a:solidFill>
                  <a:srgbClr val="C05621"/>
                </a:solidFill>
                <a:latin typeface="Calibri" pitchFamily="34" charset="0"/>
                <a:ea typeface="Calibri" pitchFamily="34" charset="-122"/>
                <a:cs typeface="Calibri" pitchFamily="34" charset="-120"/>
              </a:rPr>
              <a:t>Implicación conceptual clave: igualación puede ocurrir sin que el organismo maximice p_i en cada decisión individual.</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3457"/>
        </a:solidFill>
      </p:bgPr>
    </p:bg>
    <p:spTree>
      <p:nvGrpSpPr>
        <p:cNvPr id="1" name=""/>
        <p:cNvGrpSpPr/>
        <p:nvPr/>
      </p:nvGrpSpPr>
      <p:grpSpPr>
        <a:xfrm>
          <a:off x="0" y="0"/>
          <a:ext cx="0" cy="0"/>
          <a:chOff x="0" y="0"/>
          <a:chExt cx="0" cy="0"/>
        </a:xfrm>
      </p:grpSpPr>
      <p:sp>
        <p:nvSpPr>
          <p:cNvPr id="2" name="Shape 0"/>
          <p:cNvSpPr/>
          <p:nvPr/>
        </p:nvSpPr>
        <p:spPr>
          <a:xfrm>
            <a:off x="0" y="4297680"/>
            <a:ext cx="9144000" cy="845820"/>
          </a:xfrm>
          <a:prstGeom prst="rect">
            <a:avLst/>
          </a:prstGeom>
          <a:solidFill>
            <a:srgbClr val="2C5282"/>
          </a:solidFill>
          <a:ln w="12700">
            <a:solidFill>
              <a:srgbClr val="2C5282"/>
            </a:solidFill>
            <a:prstDash val="solid"/>
          </a:ln>
        </p:spPr>
      </p:sp>
      <p:sp>
        <p:nvSpPr>
          <p:cNvPr id="3" name="Shape 1"/>
          <p:cNvSpPr/>
          <p:nvPr/>
        </p:nvSpPr>
        <p:spPr>
          <a:xfrm>
            <a:off x="7863840" y="0"/>
            <a:ext cx="1280160" cy="4297680"/>
          </a:xfrm>
          <a:prstGeom prst="rect">
            <a:avLst/>
          </a:prstGeom>
          <a:solidFill>
            <a:srgbClr val="2C5282">
              <a:alpha val="30000"/>
            </a:srgbClr>
          </a:solidFill>
          <a:ln w="12700">
            <a:solidFill>
              <a:srgbClr val="2C5282">
                <a:alpha val="30000"/>
              </a:srgbClr>
            </a:solidFill>
            <a:prstDash val="solid"/>
          </a:ln>
        </p:spPr>
      </p:sp>
      <p:sp>
        <p:nvSpPr>
          <p:cNvPr id="4" name="Text 2"/>
          <p:cNvSpPr/>
          <p:nvPr/>
        </p:nvSpPr>
        <p:spPr>
          <a:xfrm>
            <a:off x="457200" y="1097280"/>
            <a:ext cx="7315200" cy="457200"/>
          </a:xfrm>
          <a:prstGeom prst="rect">
            <a:avLst/>
          </a:prstGeom>
          <a:noFill/>
          <a:ln/>
        </p:spPr>
        <p:txBody>
          <a:bodyPr wrap="square" rtlCol="0" anchor="ctr"/>
          <a:lstStyle/>
          <a:p>
            <a:pPr indent="0" marL="0">
              <a:buNone/>
            </a:pPr>
            <a:r>
              <a:rPr lang="en-US" sz="1300" b="1" spc="400" kern="0" dirty="0">
                <a:solidFill>
                  <a:srgbClr val="AECDE8"/>
                </a:solidFill>
                <a:latin typeface="Calibri" pitchFamily="34" charset="0"/>
                <a:ea typeface="Calibri" pitchFamily="34" charset="-122"/>
                <a:cs typeface="Calibri" pitchFamily="34" charset="-120"/>
              </a:rPr>
              <a:t>SECCIÓN II</a:t>
            </a:r>
            <a:endParaRPr lang="en-US" sz="1300" dirty="0"/>
          </a:p>
        </p:txBody>
      </p:sp>
      <p:sp>
        <p:nvSpPr>
          <p:cNvPr id="5" name="Text 3"/>
          <p:cNvSpPr/>
          <p:nvPr/>
        </p:nvSpPr>
        <p:spPr>
          <a:xfrm>
            <a:off x="457200" y="1645920"/>
            <a:ext cx="7772400" cy="1645920"/>
          </a:xfrm>
          <a:prstGeom prst="rect">
            <a:avLst/>
          </a:prstGeom>
          <a:noFill/>
          <a:ln/>
        </p:spPr>
        <p:txBody>
          <a:bodyPr wrap="square"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Modelo de Mejoramiento</a:t>
            </a:r>
            <a:endParaRPr lang="en-US" sz="3400" dirty="0"/>
          </a:p>
        </p:txBody>
      </p:sp>
      <p:sp>
        <p:nvSpPr>
          <p:cNvPr id="6" name="Text 4"/>
          <p:cNvSpPr/>
          <p:nvPr/>
        </p:nvSpPr>
        <p:spPr>
          <a:xfrm>
            <a:off x="457200" y="3383280"/>
            <a:ext cx="7772400" cy="640080"/>
          </a:xfrm>
          <a:prstGeom prst="rect">
            <a:avLst/>
          </a:prstGeom>
          <a:noFill/>
          <a:ln/>
        </p:spPr>
        <p:txBody>
          <a:bodyPr wrap="square" rtlCol="0" anchor="ctr"/>
          <a:lstStyle/>
          <a:p>
            <a:pPr indent="0" marL="0">
              <a:buNone/>
            </a:pPr>
            <a:r>
              <a:rPr lang="en-US" sz="1600" i="1" dirty="0">
                <a:solidFill>
                  <a:srgbClr val="AECDE8"/>
                </a:solidFill>
                <a:latin typeface="Calibri" pitchFamily="34" charset="0"/>
                <a:ea typeface="Calibri" pitchFamily="34" charset="-122"/>
                <a:cs typeface="Calibri" pitchFamily="34" charset="-120"/>
              </a:rPr>
              <a:t>Herrnstein &amp; Vaughan (1980) — melioration</a:t>
            </a:r>
            <a:endParaRPr lang="en-US" sz="1600" dirty="0"/>
          </a:p>
        </p:txBody>
      </p:sp>
      <p:sp>
        <p:nvSpPr>
          <p:cNvPr id="7" name="Text 5"/>
          <p:cNvSpPr/>
          <p:nvPr/>
        </p:nvSpPr>
        <p:spPr>
          <a:xfrm>
            <a:off x="457200" y="4663440"/>
            <a:ext cx="8229600" cy="320040"/>
          </a:xfrm>
          <a:prstGeom prst="rect">
            <a:avLst/>
          </a:prstGeom>
          <a:noFill/>
          <a:ln/>
        </p:spPr>
        <p:txBody>
          <a:bodyPr wrap="square" rtlCol="0" anchor="ctr"/>
          <a:lstStyle/>
          <a:p>
            <a:pPr indent="0" marL="0">
              <a:buNone/>
            </a:pPr>
            <a:r>
              <a:rPr lang="en-US" sz="1100" dirty="0">
                <a:solidFill>
                  <a:srgbClr val="AECDE8"/>
                </a:solidFill>
                <a:latin typeface="Calibri" pitchFamily="34" charset="0"/>
                <a:ea typeface="Calibri" pitchFamily="34" charset="-122"/>
                <a:cs typeface="Calibri" pitchFamily="34" charset="-120"/>
              </a:rPr>
              <a:t>Capítulo 15 · Aprendizaje y Comportamiento Adaptable</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C5282"/>
          </a:solidFill>
          <a:ln/>
        </p:spPr>
      </p:sp>
      <p:sp>
        <p:nvSpPr>
          <p:cNvPr id="3" name="Text 1"/>
          <p:cNvSpPr/>
          <p:nvPr/>
        </p:nvSpPr>
        <p:spPr>
          <a:xfrm>
            <a:off x="201168" y="164592"/>
            <a:ext cx="8778240" cy="566928"/>
          </a:xfrm>
          <a:prstGeom prst="rect">
            <a:avLst/>
          </a:prstGeom>
          <a:noFill/>
          <a:ln/>
        </p:spPr>
        <p:txBody>
          <a:bodyPr wrap="square" lIns="0" tIns="0" rIns="0" bIns="0" rtlCol="0" anchor="ctr"/>
          <a:lstStyle/>
          <a:p>
            <a:pPr indent="0" marL="0">
              <a:buNone/>
            </a:pPr>
            <a:r>
              <a:rPr lang="en-US" sz="2600" b="1" dirty="0">
                <a:solidFill>
                  <a:srgbClr val="2C5282"/>
                </a:solidFill>
                <a:latin typeface="Calibri" pitchFamily="34" charset="0"/>
                <a:ea typeface="Calibri" pitchFamily="34" charset="-122"/>
                <a:cs typeface="Calibri" pitchFamily="34" charset="-120"/>
              </a:rPr>
              <a:t>El mejoramiento: cambio en la variable de decisión</a:t>
            </a:r>
            <a:endParaRPr lang="en-US" sz="2600" dirty="0"/>
          </a:p>
        </p:txBody>
      </p:sp>
      <p:sp>
        <p:nvSpPr>
          <p:cNvPr id="4" name="Shape 2"/>
          <p:cNvSpPr/>
          <p:nvPr/>
        </p:nvSpPr>
        <p:spPr>
          <a:xfrm>
            <a:off x="201168" y="777240"/>
            <a:ext cx="8741664" cy="0"/>
          </a:xfrm>
          <a:prstGeom prst="line">
            <a:avLst/>
          </a:prstGeom>
          <a:noFill/>
          <a:ln w="19050">
            <a:solidFill>
              <a:srgbClr val="2C5282"/>
            </a:solidFill>
            <a:prstDash val="solid"/>
          </a:ln>
        </p:spPr>
      </p:sp>
      <p:sp>
        <p:nvSpPr>
          <p:cNvPr id="5" name="Text 3"/>
          <p:cNvSpPr/>
          <p:nvPr/>
        </p:nvSpPr>
        <p:spPr>
          <a:xfrm>
            <a:off x="201168" y="914400"/>
            <a:ext cx="8741664" cy="384048"/>
          </a:xfrm>
          <a:prstGeom prst="rect">
            <a:avLst/>
          </a:prstGeom>
          <a:noFill/>
          <a:ln/>
        </p:spPr>
        <p:txBody>
          <a:bodyPr wrap="square" rtlCol="0" anchor="ctr"/>
          <a:lstStyle/>
          <a:p>
            <a:pPr indent="0" marL="0">
              <a:buNone/>
            </a:pPr>
            <a:r>
              <a:rPr lang="en-US" sz="1500" dirty="0">
                <a:solidFill>
                  <a:srgbClr val="1A202C"/>
                </a:solidFill>
                <a:latin typeface="Calibri" pitchFamily="34" charset="0"/>
                <a:ea typeface="Calibri" pitchFamily="34" charset="-122"/>
                <a:cs typeface="Calibri" pitchFamily="34" charset="-120"/>
              </a:rPr>
              <a:t>El mejoramiento conserva la idea de una regla local, pero cambia lo que el organismo compara.</a:t>
            </a:r>
            <a:endParaRPr lang="en-US" sz="1500" dirty="0"/>
          </a:p>
        </p:txBody>
      </p:sp>
      <p:sp>
        <p:nvSpPr>
          <p:cNvPr id="6" name="Text 4"/>
          <p:cNvSpPr/>
          <p:nvPr/>
        </p:nvSpPr>
        <p:spPr>
          <a:xfrm>
            <a:off x="201168" y="1417320"/>
            <a:ext cx="8741664" cy="384048"/>
          </a:xfrm>
          <a:prstGeom prst="rect">
            <a:avLst/>
          </a:prstGeom>
          <a:noFill/>
          <a:ln/>
        </p:spPr>
        <p:txBody>
          <a:bodyPr wrap="square" rtlCol="0" anchor="ctr"/>
          <a:lstStyle/>
          <a:p>
            <a:pPr indent="0" marL="0">
              <a:buNone/>
            </a:pPr>
            <a:r>
              <a:rPr lang="en-US" sz="1500" b="1" dirty="0">
                <a:solidFill>
                  <a:srgbClr val="718096"/>
                </a:solidFill>
                <a:latin typeface="Calibri" pitchFamily="34" charset="0"/>
                <a:ea typeface="Calibri" pitchFamily="34" charset="-122"/>
                <a:cs typeface="Calibri" pitchFamily="34" charset="-120"/>
              </a:rPr>
              <a:t>De:  </a:t>
            </a:r>
            <a:pPr indent="0" marL="0">
              <a:buNone/>
            </a:pPr>
            <a:r>
              <a:rPr lang="en-US" sz="1500" dirty="0">
                <a:solidFill>
                  <a:srgbClr val="718096"/>
                </a:solidFill>
                <a:latin typeface="Calibri" pitchFamily="34" charset="0"/>
                <a:ea typeface="Calibri" pitchFamily="34" charset="-122"/>
                <a:cs typeface="Calibri" pitchFamily="34" charset="-120"/>
              </a:rPr>
              <a:t>p_i — probabilidad instantánea de reforzador disponible  (Max. Momentánea)</a:t>
            </a:r>
            <a:endParaRPr lang="en-US" sz="1500" dirty="0"/>
          </a:p>
        </p:txBody>
      </p:sp>
      <p:sp>
        <p:nvSpPr>
          <p:cNvPr id="7" name="Shape 5"/>
          <p:cNvSpPr/>
          <p:nvPr/>
        </p:nvSpPr>
        <p:spPr>
          <a:xfrm>
            <a:off x="1371600" y="1920240"/>
            <a:ext cx="6858000" cy="0"/>
          </a:xfrm>
          <a:prstGeom prst="line">
            <a:avLst/>
          </a:prstGeom>
          <a:noFill/>
          <a:ln w="25400">
            <a:solidFill>
              <a:srgbClr val="2C5282"/>
            </a:solidFill>
            <a:prstDash val="dash"/>
          </a:ln>
        </p:spPr>
      </p:sp>
      <p:sp>
        <p:nvSpPr>
          <p:cNvPr id="8" name="Text 6"/>
          <p:cNvSpPr/>
          <p:nvPr/>
        </p:nvSpPr>
        <p:spPr>
          <a:xfrm>
            <a:off x="4114800" y="1938528"/>
            <a:ext cx="914400" cy="411480"/>
          </a:xfrm>
          <a:prstGeom prst="rect">
            <a:avLst/>
          </a:prstGeom>
          <a:noFill/>
          <a:ln/>
        </p:spPr>
        <p:txBody>
          <a:bodyPr wrap="square" rtlCol="0" anchor="ctr"/>
          <a:lstStyle/>
          <a:p>
            <a:pPr algn="ctr" indent="0" marL="0">
              <a:buNone/>
            </a:pPr>
            <a:r>
              <a:rPr lang="en-US" sz="2200" dirty="0">
                <a:solidFill>
                  <a:srgbClr val="2C5282"/>
                </a:solidFill>
                <a:latin typeface="Calibri" pitchFamily="34" charset="0"/>
                <a:ea typeface="Calibri" pitchFamily="34" charset="-122"/>
                <a:cs typeface="Calibri" pitchFamily="34" charset="-120"/>
              </a:rPr>
              <a:t>↓</a:t>
            </a:r>
            <a:endParaRPr lang="en-US" sz="2200" dirty="0"/>
          </a:p>
        </p:txBody>
      </p:sp>
      <p:sp>
        <p:nvSpPr>
          <p:cNvPr id="9" name="Text 7"/>
          <p:cNvSpPr/>
          <p:nvPr/>
        </p:nvSpPr>
        <p:spPr>
          <a:xfrm>
            <a:off x="201168" y="2377440"/>
            <a:ext cx="8741664" cy="457200"/>
          </a:xfrm>
          <a:prstGeom prst="rect">
            <a:avLst/>
          </a:prstGeom>
          <a:noFill/>
          <a:ln/>
        </p:spPr>
        <p:txBody>
          <a:bodyPr wrap="square" rtlCol="0" anchor="ctr"/>
          <a:lstStyle/>
          <a:p>
            <a:pPr indent="0" marL="0">
              <a:buNone/>
            </a:pPr>
            <a:r>
              <a:rPr lang="en-US" sz="1700" b="1" dirty="0">
                <a:solidFill>
                  <a:srgbClr val="2C5282"/>
                </a:solidFill>
                <a:latin typeface="Calibri" pitchFamily="34" charset="0"/>
                <a:ea typeface="Calibri" pitchFamily="34" charset="-122"/>
                <a:cs typeface="Calibri" pitchFamily="34" charset="-120"/>
              </a:rPr>
              <a:t>A:  </a:t>
            </a:r>
            <a:pPr indent="0" marL="0">
              <a:buNone/>
            </a:pPr>
            <a:r>
              <a:rPr lang="en-US" sz="1700" b="1" dirty="0">
                <a:solidFill>
                  <a:srgbClr val="2C5282"/>
                </a:solidFill>
                <a:latin typeface="Calibri" pitchFamily="34" charset="0"/>
                <a:ea typeface="Calibri" pitchFamily="34" charset="-122"/>
                <a:cs typeface="Calibri" pitchFamily="34" charset="-120"/>
              </a:rPr>
              <a:t>ρ_i — tasa local de refuerzo  r_i / T_i  (Mejoramiento)</a:t>
            </a:r>
            <a:endParaRPr lang="en-US" sz="1700" dirty="0"/>
          </a:p>
        </p:txBody>
      </p:sp>
      <p:sp>
        <p:nvSpPr>
          <p:cNvPr id="10" name="Shape 8"/>
          <p:cNvSpPr/>
          <p:nvPr/>
        </p:nvSpPr>
        <p:spPr>
          <a:xfrm>
            <a:off x="201168" y="2971800"/>
            <a:ext cx="8741664" cy="1463040"/>
          </a:xfrm>
          <a:prstGeom prst="rect">
            <a:avLst/>
          </a:prstGeom>
          <a:solidFill>
            <a:srgbClr val="EBF4FF"/>
          </a:solidFill>
          <a:ln w="15240">
            <a:solidFill>
              <a:srgbClr val="2C5282"/>
            </a:solidFill>
            <a:prstDash val="solid"/>
          </a:ln>
          <a:effectLst>
            <a:outerShdw sx="100000" sy="100000" kx="0" ky="0" algn="bl" rotWithShape="0" blurRad="76200" dist="38100" dir="8100000">
              <a:srgbClr val="000000">
                <a:alpha val="10000"/>
              </a:srgbClr>
            </a:outerShdw>
          </a:effectLst>
        </p:spPr>
      </p:sp>
      <p:sp>
        <p:nvSpPr>
          <p:cNvPr id="11" name="Text 9"/>
          <p:cNvSpPr/>
          <p:nvPr/>
        </p:nvSpPr>
        <p:spPr>
          <a:xfrm>
            <a:off x="320040" y="3044952"/>
            <a:ext cx="8503920" cy="301752"/>
          </a:xfrm>
          <a:prstGeom prst="rect">
            <a:avLst/>
          </a:prstGeom>
          <a:noFill/>
          <a:ln/>
        </p:spPr>
        <p:txBody>
          <a:bodyPr wrap="square" lIns="0" tIns="0" rIns="0" bIns="0" rtlCol="0" anchor="ctr"/>
          <a:lstStyle/>
          <a:p>
            <a:pPr indent="0" marL="0">
              <a:buNone/>
            </a:pPr>
            <a:r>
              <a:rPr lang="en-US" sz="1400" b="1" dirty="0">
                <a:solidFill>
                  <a:srgbClr val="2C5282"/>
                </a:solidFill>
                <a:latin typeface="Calibri" pitchFamily="34" charset="0"/>
                <a:ea typeface="Calibri" pitchFamily="34" charset="-122"/>
                <a:cs typeface="Calibri" pitchFamily="34" charset="-120"/>
              </a:rPr>
              <a:t>Tasa local de refuerzo:</a:t>
            </a:r>
            <a:endParaRPr lang="en-US" sz="1400" dirty="0"/>
          </a:p>
        </p:txBody>
      </p:sp>
      <p:sp>
        <p:nvSpPr>
          <p:cNvPr id="12" name="Text 10"/>
          <p:cNvSpPr/>
          <p:nvPr/>
        </p:nvSpPr>
        <p:spPr>
          <a:xfrm>
            <a:off x="320040" y="3383280"/>
            <a:ext cx="8503920" cy="914400"/>
          </a:xfrm>
          <a:prstGeom prst="rect">
            <a:avLst/>
          </a:prstGeom>
          <a:noFill/>
          <a:ln/>
        </p:spPr>
        <p:txBody>
          <a:bodyPr wrap="square" lIns="0" tIns="0" rIns="0" bIns="0" rtlCol="0" anchor="ctr"/>
          <a:lstStyle/>
          <a:p>
            <a:pPr indent="0" marL="0">
              <a:buNone/>
            </a:pPr>
            <a:r>
              <a:rPr lang="en-US" sz="2000" b="1" dirty="0">
                <a:solidFill>
                  <a:srgbClr val="1A3457"/>
                </a:solidFill>
                <a:latin typeface="Calibri" pitchFamily="34" charset="0"/>
                <a:ea typeface="Calibri" pitchFamily="34" charset="-122"/>
                <a:cs typeface="Calibri" pitchFamily="34" charset="-120"/>
              </a:rPr>
              <a:t>ρ_i  =  r_i / T_i</a:t>
            </a:r>
            <a:pPr indent="0" marL="0">
              <a:buNone/>
            </a:pPr>
            <a:r>
              <a:rPr lang="en-US" sz="1400" dirty="0">
                <a:solidFill>
                  <a:srgbClr val="000000"/>
                </a:solidFill>
                <a:latin typeface="Calibri" pitchFamily="34" charset="0"/>
                <a:ea typeface="Calibri" pitchFamily="34" charset="-122"/>
                <a:cs typeface="Calibri" pitchFamily="34" charset="-120"/>
              </a:rPr>
              <a:t>
</a:t>
            </a:r>
            <a:pPr indent="0" marL="0">
              <a:buNone/>
            </a:pPr>
            <a:r>
              <a:rPr lang="en-US" sz="1400" dirty="0">
                <a:solidFill>
                  <a:srgbClr val="1A202C"/>
                </a:solidFill>
                <a:latin typeface="Calibri" pitchFamily="34" charset="0"/>
                <a:ea typeface="Calibri" pitchFamily="34" charset="-122"/>
                <a:cs typeface="Calibri" pitchFamily="34" charset="-120"/>
              </a:rPr>
              <a:t>donde  r_i = reforzadores obtenibles en la sesión   y   T_i = proporción de tiempo dedicada a esa opción.</a:t>
            </a:r>
            <a:endParaRPr lang="en-US" sz="1400" dirty="0"/>
          </a:p>
        </p:txBody>
      </p:sp>
      <p:sp>
        <p:nvSpPr>
          <p:cNvPr id="13" name="Text 11"/>
          <p:cNvSpPr/>
          <p:nvPr/>
        </p:nvSpPr>
        <p:spPr>
          <a:xfrm>
            <a:off x="201168" y="4572000"/>
            <a:ext cx="8741664" cy="411480"/>
          </a:xfrm>
          <a:prstGeom prst="rect">
            <a:avLst/>
          </a:prstGeom>
          <a:noFill/>
          <a:ln/>
        </p:spPr>
        <p:txBody>
          <a:bodyPr wrap="square" rtlCol="0" anchor="ctr"/>
          <a:lstStyle/>
          <a:p>
            <a:pPr indent="0" marL="0">
              <a:buNone/>
            </a:pPr>
            <a:r>
              <a:rPr lang="en-US" sz="1400" b="1" i="1" dirty="0">
                <a:solidFill>
                  <a:srgbClr val="C05621"/>
                </a:solidFill>
                <a:latin typeface="Calibri" pitchFamily="34" charset="0"/>
                <a:ea typeface="Calibri" pitchFamily="34" charset="-122"/>
                <a:cs typeface="Calibri" pitchFamily="34" charset="-120"/>
              </a:rPr>
              <a:t>Diferencia clave: la tasa local divide entre el tiempo asignado específicamente a esa opción, no entre el tiempo total de la sesión.</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C5282"/>
          </a:solidFill>
          <a:ln/>
        </p:spPr>
      </p:sp>
      <p:sp>
        <p:nvSpPr>
          <p:cNvPr id="3" name="Text 1"/>
          <p:cNvSpPr/>
          <p:nvPr/>
        </p:nvSpPr>
        <p:spPr>
          <a:xfrm>
            <a:off x="201168" y="164592"/>
            <a:ext cx="8778240" cy="566928"/>
          </a:xfrm>
          <a:prstGeom prst="rect">
            <a:avLst/>
          </a:prstGeom>
          <a:noFill/>
          <a:ln/>
        </p:spPr>
        <p:txBody>
          <a:bodyPr wrap="square" lIns="0" tIns="0" rIns="0" bIns="0" rtlCol="0" anchor="ctr"/>
          <a:lstStyle/>
          <a:p>
            <a:pPr indent="0" marL="0">
              <a:buNone/>
            </a:pPr>
            <a:r>
              <a:rPr lang="en-US" sz="2600" b="1" dirty="0">
                <a:solidFill>
                  <a:srgbClr val="2C5282"/>
                </a:solidFill>
                <a:latin typeface="Calibri" pitchFamily="34" charset="0"/>
                <a:ea typeface="Calibri" pitchFamily="34" charset="-122"/>
                <a:cs typeface="Calibri" pitchFamily="34" charset="-120"/>
              </a:rPr>
              <a:t>Distinción fundamental: tasa local vs. tasa global</a:t>
            </a:r>
            <a:endParaRPr lang="en-US" sz="2600" dirty="0"/>
          </a:p>
        </p:txBody>
      </p:sp>
      <p:sp>
        <p:nvSpPr>
          <p:cNvPr id="4" name="Shape 2"/>
          <p:cNvSpPr/>
          <p:nvPr/>
        </p:nvSpPr>
        <p:spPr>
          <a:xfrm>
            <a:off x="201168" y="777240"/>
            <a:ext cx="8741664" cy="0"/>
          </a:xfrm>
          <a:prstGeom prst="line">
            <a:avLst/>
          </a:prstGeom>
          <a:noFill/>
          <a:ln w="19050">
            <a:solidFill>
              <a:srgbClr val="2C5282"/>
            </a:solidFill>
            <a:prstDash val="solid"/>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201168" y="960120"/>
          <a:ext cx="8741664" cy="1508760"/>
        </p:xfrm>
        <a:graphic>
          <a:graphicData uri="http://schemas.openxmlformats.org/drawingml/2006/table">
            <a:tbl>
              <a:tblPr/>
              <a:tblGrid>
                <a:gridCol w="1920240"/>
                <a:gridCol w="2560320"/>
                <a:gridCol w="2560320"/>
                <a:gridCol w="1700784"/>
              </a:tblGrid>
              <a:tr h="365760">
                <a:tc>
                  <a:txBody>
                    <a:bodyPr/>
                    <a:lstStyle/>
                    <a:p>
                      <a:pPr indent="0" marL="0">
                        <a:buNone/>
                      </a:pPr>
                      <a:endParaRPr lang="en-US" sz="13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solidFill>
                      <a:srgbClr val="2C5282"/>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Numerador</a:t>
                      </a:r>
                      <a:endParaRPr lang="en-US" sz="13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solidFill>
                      <a:srgbClr val="2C5282"/>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Denominador</a:t>
                      </a:r>
                      <a:endParaRPr lang="en-US" sz="13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solidFill>
                      <a:srgbClr val="2C5282"/>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Qué mide</a:t>
                      </a:r>
                      <a:endParaRPr lang="en-US" sz="13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solidFill>
                      <a:srgbClr val="2C5282"/>
                    </a:solidFill>
                  </a:tcPr>
                </a:tc>
              </a:tr>
              <a:tr h="365760">
                <a:tc>
                  <a:txBody>
                    <a:bodyPr/>
                    <a:lstStyle/>
                    <a:p>
                      <a:pPr indent="0" marL="0">
                        <a:buNone/>
                      </a:pPr>
                      <a:r>
                        <a:rPr lang="en-US" sz="1300" b="1" dirty="0">
                          <a:solidFill>
                            <a:srgbClr val="1A202C"/>
                          </a:solidFill>
                          <a:latin typeface="Calibri" pitchFamily="34" charset="0"/>
                          <a:ea typeface="Calibri" pitchFamily="34" charset="-122"/>
                          <a:cs typeface="Calibri" pitchFamily="34" charset="-120"/>
                        </a:rPr>
                        <a:t>Tasa global</a:t>
                      </a:r>
                      <a:endParaRPr lang="en-US" sz="13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c>
                  <a:txBody>
                    <a:bodyPr/>
                    <a:lstStyle/>
                    <a:p>
                      <a:pPr indent="0" marL="0">
                        <a:buNone/>
                      </a:pPr>
                      <a:r>
                        <a:rPr lang="en-US" sz="1300" dirty="0">
                          <a:solidFill>
                            <a:srgbClr val="1A202C"/>
                          </a:solidFill>
                          <a:latin typeface="Calibri" pitchFamily="34" charset="0"/>
                          <a:ea typeface="Calibri" pitchFamily="34" charset="-122"/>
                          <a:cs typeface="Calibri" pitchFamily="34" charset="-120"/>
                        </a:rPr>
                        <a:t>Total de reforzadores de la sesión</a:t>
                      </a:r>
                      <a:endParaRPr lang="en-US" sz="13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c>
                  <a:txBody>
                    <a:bodyPr/>
                    <a:lstStyle/>
                    <a:p>
                      <a:pPr indent="0" marL="0">
                        <a:buNone/>
                      </a:pPr>
                      <a:r>
                        <a:rPr lang="en-US" sz="1300" dirty="0">
                          <a:solidFill>
                            <a:srgbClr val="1A202C"/>
                          </a:solidFill>
                          <a:latin typeface="Calibri" pitchFamily="34" charset="0"/>
                          <a:ea typeface="Calibri" pitchFamily="34" charset="-122"/>
                          <a:cs typeface="Calibri" pitchFamily="34" charset="-120"/>
                        </a:rPr>
                        <a:t>Tiempo total de la sesión</a:t>
                      </a:r>
                      <a:endParaRPr lang="en-US" sz="13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c>
                  <a:txBody>
                    <a:bodyPr/>
                    <a:lstStyle/>
                    <a:p>
                      <a:pPr indent="0" marL="0">
                        <a:buNone/>
                      </a:pPr>
                      <a:r>
                        <a:rPr lang="en-US" sz="1300" dirty="0">
                          <a:solidFill>
                            <a:srgbClr val="1A202C"/>
                          </a:solidFill>
                          <a:latin typeface="Calibri" pitchFamily="34" charset="0"/>
                          <a:ea typeface="Calibri" pitchFamily="34" charset="-122"/>
                          <a:cs typeface="Calibri" pitchFamily="34" charset="-120"/>
                        </a:rPr>
                        <a:t>Densidad de refuerzo en la sesión entera</a:t>
                      </a:r>
                      <a:endParaRPr lang="en-US" sz="13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r>
              <a:tr h="365760">
                <a:tc>
                  <a:txBody>
                    <a:bodyPr/>
                    <a:lstStyle/>
                    <a:p>
                      <a:pPr indent="0" marL="0">
                        <a:buNone/>
                      </a:pPr>
                      <a:r>
                        <a:rPr lang="en-US" sz="1300" b="1" dirty="0">
                          <a:solidFill>
                            <a:srgbClr val="2C5282"/>
                          </a:solidFill>
                          <a:latin typeface="Calibri" pitchFamily="34" charset="0"/>
                          <a:ea typeface="Calibri" pitchFamily="34" charset="-122"/>
                          <a:cs typeface="Calibri" pitchFamily="34" charset="-120"/>
                        </a:rPr>
                        <a:t>Tasa local ρ_i</a:t>
                      </a:r>
                      <a:endParaRPr lang="en-US" sz="13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c>
                  <a:txBody>
                    <a:bodyPr/>
                    <a:lstStyle/>
                    <a:p>
                      <a:pPr indent="0" marL="0">
                        <a:buNone/>
                      </a:pPr>
                      <a:r>
                        <a:rPr lang="en-US" sz="1300" dirty="0">
                          <a:solidFill>
                            <a:srgbClr val="1A202C"/>
                          </a:solidFill>
                          <a:latin typeface="Calibri" pitchFamily="34" charset="0"/>
                          <a:ea typeface="Calibri" pitchFamily="34" charset="-122"/>
                          <a:cs typeface="Calibri" pitchFamily="34" charset="-120"/>
                        </a:rPr>
                        <a:t>Reforzadores obtenidos en opción i</a:t>
                      </a:r>
                      <a:endParaRPr lang="en-US" sz="13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c>
                  <a:txBody>
                    <a:bodyPr/>
                    <a:lstStyle/>
                    <a:p>
                      <a:pPr indent="0" marL="0">
                        <a:buNone/>
                      </a:pPr>
                      <a:r>
                        <a:rPr lang="en-US" sz="1300" dirty="0">
                          <a:solidFill>
                            <a:srgbClr val="1A202C"/>
                          </a:solidFill>
                          <a:latin typeface="Calibri" pitchFamily="34" charset="0"/>
                          <a:ea typeface="Calibri" pitchFamily="34" charset="-122"/>
                          <a:cs typeface="Calibri" pitchFamily="34" charset="-120"/>
                        </a:rPr>
                        <a:t>Tiempo dedicado a la opción i</a:t>
                      </a:r>
                      <a:endParaRPr lang="en-US" sz="13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c>
                  <a:txBody>
                    <a:bodyPr/>
                    <a:lstStyle/>
                    <a:p>
                      <a:pPr indent="0" marL="0">
                        <a:buNone/>
                      </a:pPr>
                      <a:r>
                        <a:rPr lang="en-US" sz="1300" dirty="0">
                          <a:solidFill>
                            <a:srgbClr val="1A202C"/>
                          </a:solidFill>
                          <a:latin typeface="Calibri" pitchFamily="34" charset="0"/>
                          <a:ea typeface="Calibri" pitchFamily="34" charset="-122"/>
                          <a:cs typeface="Calibri" pitchFamily="34" charset="-120"/>
                        </a:rPr>
                        <a:t>Rentabilidad por tiempo de visita a esa opción</a:t>
                      </a:r>
                      <a:endParaRPr lang="en-US" sz="13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r>
            </a:tbl>
          </a:graphicData>
        </a:graphic>
      </p:graphicFrame>
      <p:sp>
        <p:nvSpPr>
          <p:cNvPr id="6" name="Shape 3"/>
          <p:cNvSpPr/>
          <p:nvPr/>
        </p:nvSpPr>
        <p:spPr>
          <a:xfrm>
            <a:off x="201168" y="2651760"/>
            <a:ext cx="8741664" cy="1188720"/>
          </a:xfrm>
          <a:prstGeom prst="rect">
            <a:avLst/>
          </a:prstGeom>
          <a:solidFill>
            <a:srgbClr val="E6F4ED"/>
          </a:solidFill>
          <a:ln w="15240">
            <a:solidFill>
              <a:srgbClr val="276749"/>
            </a:solidFill>
            <a:prstDash val="solid"/>
          </a:ln>
          <a:effectLst>
            <a:outerShdw sx="100000" sy="100000" kx="0" ky="0" algn="bl" rotWithShape="0" blurRad="76200" dist="38100" dir="8100000">
              <a:srgbClr val="000000">
                <a:alpha val="10000"/>
              </a:srgbClr>
            </a:outerShdw>
          </a:effectLst>
        </p:spPr>
      </p:sp>
      <p:sp>
        <p:nvSpPr>
          <p:cNvPr id="7" name="Text 4"/>
          <p:cNvSpPr/>
          <p:nvPr/>
        </p:nvSpPr>
        <p:spPr>
          <a:xfrm>
            <a:off x="320040" y="2724912"/>
            <a:ext cx="8503920" cy="292608"/>
          </a:xfrm>
          <a:prstGeom prst="rect">
            <a:avLst/>
          </a:prstGeom>
          <a:noFill/>
          <a:ln/>
        </p:spPr>
        <p:txBody>
          <a:bodyPr wrap="square" lIns="0" tIns="0" rIns="0" bIns="0" rtlCol="0" anchor="ctr"/>
          <a:lstStyle/>
          <a:p>
            <a:pPr indent="0" marL="0">
              <a:buNone/>
            </a:pPr>
            <a:r>
              <a:rPr lang="en-US" sz="1300" b="1" dirty="0">
                <a:solidFill>
                  <a:srgbClr val="276749"/>
                </a:solidFill>
                <a:latin typeface="Calibri" pitchFamily="34" charset="0"/>
                <a:ea typeface="Calibri" pitchFamily="34" charset="-122"/>
                <a:cs typeface="Calibri" pitchFamily="34" charset="-120"/>
              </a:rPr>
              <a:t>Por qué la tasa local es la variable relevante:</a:t>
            </a:r>
            <a:endParaRPr lang="en-US" sz="1300" dirty="0"/>
          </a:p>
        </p:txBody>
      </p:sp>
      <p:sp>
        <p:nvSpPr>
          <p:cNvPr id="8" name="Text 5"/>
          <p:cNvSpPr/>
          <p:nvPr/>
        </p:nvSpPr>
        <p:spPr>
          <a:xfrm>
            <a:off x="320040" y="3044952"/>
            <a:ext cx="8503920" cy="685800"/>
          </a:xfrm>
          <a:prstGeom prst="rect">
            <a:avLst/>
          </a:prstGeom>
          <a:noFill/>
          <a:ln/>
        </p:spPr>
        <p:txBody>
          <a:bodyPr wrap="square" lIns="0" tIns="0" rIns="0" bIns="0" rtlCol="0" anchor="ctr"/>
          <a:lstStyle/>
          <a:p>
            <a:pPr indent="0" marL="0">
              <a:buNone/>
            </a:pPr>
            <a:r>
              <a:rPr lang="en-US" sz="1400" dirty="0">
                <a:solidFill>
                  <a:srgbClr val="1A202C"/>
                </a:solidFill>
                <a:latin typeface="Calibri" pitchFamily="34" charset="0"/>
                <a:ea typeface="Calibri" pitchFamily="34" charset="-122"/>
                <a:cs typeface="Calibri" pitchFamily="34" charset="-120"/>
              </a:rPr>
              <a:t>Si el organismo dedica solo el 10% de la sesión a una opción que produce 30 reforzadores, su tasa local es 300 ref/hr aunque la tasa programada por hora de sesión siga siendo 30. El organismo «siente» la rentabilidad por tiempo de visita.</a:t>
            </a:r>
            <a:endParaRPr lang="en-US" sz="1400" dirty="0"/>
          </a:p>
        </p:txBody>
      </p:sp>
      <p:sp>
        <p:nvSpPr>
          <p:cNvPr id="9" name="Text 6"/>
          <p:cNvSpPr/>
          <p:nvPr/>
        </p:nvSpPr>
        <p:spPr>
          <a:xfrm>
            <a:off x="201168" y="3977640"/>
            <a:ext cx="8741664" cy="502920"/>
          </a:xfrm>
          <a:prstGeom prst="rect">
            <a:avLst/>
          </a:prstGeom>
          <a:noFill/>
          <a:ln/>
        </p:spPr>
        <p:txBody>
          <a:bodyPr wrap="square" rtlCol="0" anchor="ctr"/>
          <a:lstStyle/>
          <a:p>
            <a:pPr indent="0" marL="0">
              <a:buNone/>
            </a:pPr>
            <a:r>
              <a:rPr lang="en-US" sz="1400" i="1" dirty="0">
                <a:solidFill>
                  <a:srgbClr val="C05621"/>
                </a:solidFill>
                <a:latin typeface="Calibri" pitchFamily="34" charset="0"/>
                <a:ea typeface="Calibri" pitchFamily="34" charset="-122"/>
                <a:cs typeface="Calibri" pitchFamily="34" charset="-120"/>
              </a:rPr>
              <a:t>Implicación: al aumentar el tiempo dedicado a una opción, su tasa local disminuye (denominador crece); al reducirlo, su tasa local aumenta (denominador decrece). La conducta altera la señal que recibe.</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C5282"/>
          </a:solidFill>
          <a:ln/>
        </p:spPr>
      </p:sp>
      <p:sp>
        <p:nvSpPr>
          <p:cNvPr id="3" name="Text 1"/>
          <p:cNvSpPr/>
          <p:nvPr/>
        </p:nvSpPr>
        <p:spPr>
          <a:xfrm>
            <a:off x="201168" y="164592"/>
            <a:ext cx="8778240" cy="566928"/>
          </a:xfrm>
          <a:prstGeom prst="rect">
            <a:avLst/>
          </a:prstGeom>
          <a:noFill/>
          <a:ln/>
        </p:spPr>
        <p:txBody>
          <a:bodyPr wrap="square" lIns="0" tIns="0" rIns="0" bIns="0" rtlCol="0" anchor="ctr"/>
          <a:lstStyle/>
          <a:p>
            <a:pPr indent="0" marL="0">
              <a:buNone/>
            </a:pPr>
            <a:r>
              <a:rPr lang="en-US" sz="2600" b="1" dirty="0">
                <a:solidFill>
                  <a:srgbClr val="2C5282"/>
                </a:solidFill>
                <a:latin typeface="Calibri" pitchFamily="34" charset="0"/>
                <a:ea typeface="Calibri" pitchFamily="34" charset="-122"/>
                <a:cs typeface="Calibri" pitchFamily="34" charset="-120"/>
              </a:rPr>
              <a:t>La regla de respuesta: ascenso de colina sobre tasas locales</a:t>
            </a:r>
            <a:endParaRPr lang="en-US" sz="2600" dirty="0"/>
          </a:p>
        </p:txBody>
      </p:sp>
      <p:sp>
        <p:nvSpPr>
          <p:cNvPr id="4" name="Shape 2"/>
          <p:cNvSpPr/>
          <p:nvPr/>
        </p:nvSpPr>
        <p:spPr>
          <a:xfrm>
            <a:off x="201168" y="777240"/>
            <a:ext cx="8741664" cy="0"/>
          </a:xfrm>
          <a:prstGeom prst="line">
            <a:avLst/>
          </a:prstGeom>
          <a:noFill/>
          <a:ln w="19050">
            <a:solidFill>
              <a:srgbClr val="2C5282"/>
            </a:solidFill>
            <a:prstDash val="solid"/>
          </a:ln>
        </p:spPr>
      </p:sp>
      <p:sp>
        <p:nvSpPr>
          <p:cNvPr id="5" name="Text 3"/>
          <p:cNvSpPr/>
          <p:nvPr/>
        </p:nvSpPr>
        <p:spPr>
          <a:xfrm>
            <a:off x="201168" y="914400"/>
            <a:ext cx="8741664" cy="384048"/>
          </a:xfrm>
          <a:prstGeom prst="rect">
            <a:avLst/>
          </a:prstGeom>
          <a:noFill/>
          <a:ln/>
        </p:spPr>
        <p:txBody>
          <a:bodyPr wrap="square" rtlCol="0" anchor="ctr"/>
          <a:lstStyle/>
          <a:p>
            <a:pPr indent="0" marL="0">
              <a:buNone/>
            </a:pPr>
            <a:r>
              <a:rPr lang="en-US" sz="1400" i="1" dirty="0">
                <a:solidFill>
                  <a:srgbClr val="1A202C"/>
                </a:solidFill>
                <a:latin typeface="Calibri" pitchFamily="34" charset="0"/>
                <a:ea typeface="Calibri" pitchFamily="34" charset="-122"/>
                <a:cs typeface="Calibri" pitchFamily="34" charset="-120"/>
              </a:rPr>
              <a:t>El mejoramiento es el mismo algoritmo de ascenso de colina que ya conocemos, aplicado a un nuevo dominio.</a:t>
            </a:r>
            <a:endParaRPr lang="en-US" sz="1400" dirty="0"/>
          </a:p>
        </p:txBody>
      </p:sp>
      <p:sp>
        <p:nvSpPr>
          <p:cNvPr id="6" name="Shape 4"/>
          <p:cNvSpPr/>
          <p:nvPr/>
        </p:nvSpPr>
        <p:spPr>
          <a:xfrm>
            <a:off x="201168" y="1417320"/>
            <a:ext cx="2788920" cy="1737360"/>
          </a:xfrm>
          <a:prstGeom prst="rect">
            <a:avLst/>
          </a:prstGeom>
          <a:solidFill>
            <a:srgbClr val="F4F4F4"/>
          </a:solidFill>
          <a:ln w="15240">
            <a:solidFill>
              <a:srgbClr val="718096"/>
            </a:solidFill>
            <a:prstDash val="solid"/>
          </a:ln>
          <a:effectLst>
            <a:outerShdw sx="100000" sy="100000" kx="0" ky="0" algn="bl" rotWithShape="0" blurRad="76200" dist="38100" dir="8100000">
              <a:srgbClr val="000000">
                <a:alpha val="10000"/>
              </a:srgbClr>
            </a:outerShdw>
          </a:effectLst>
        </p:spPr>
      </p:sp>
      <p:sp>
        <p:nvSpPr>
          <p:cNvPr id="7" name="Text 5"/>
          <p:cNvSpPr/>
          <p:nvPr/>
        </p:nvSpPr>
        <p:spPr>
          <a:xfrm>
            <a:off x="292608" y="1508760"/>
            <a:ext cx="2606040" cy="411480"/>
          </a:xfrm>
          <a:prstGeom prst="rect">
            <a:avLst/>
          </a:prstGeom>
          <a:noFill/>
          <a:ln/>
        </p:spPr>
        <p:txBody>
          <a:bodyPr wrap="square" lIns="0" tIns="0" rIns="0" bIns="0" rtlCol="0" anchor="ctr"/>
          <a:lstStyle/>
          <a:p>
            <a:pPr indent="0" marL="0">
              <a:buNone/>
            </a:pPr>
            <a:r>
              <a:rPr lang="en-US" sz="1200" b="1" dirty="0">
                <a:solidFill>
                  <a:srgbClr val="718096"/>
                </a:solidFill>
                <a:latin typeface="Calibri" pitchFamily="34" charset="0"/>
                <a:ea typeface="Calibri" pitchFamily="34" charset="-122"/>
                <a:cs typeface="Calibri" pitchFamily="34" charset="-120"/>
              </a:rPr>
              <a:t>Kinesis bacteriana (Cap. 4)</a:t>
            </a:r>
            <a:endParaRPr lang="en-US" sz="1200" dirty="0"/>
          </a:p>
        </p:txBody>
      </p:sp>
      <p:sp>
        <p:nvSpPr>
          <p:cNvPr id="8" name="Text 6"/>
          <p:cNvSpPr/>
          <p:nvPr/>
        </p:nvSpPr>
        <p:spPr>
          <a:xfrm>
            <a:off x="292608" y="1965960"/>
            <a:ext cx="2606040" cy="1051560"/>
          </a:xfrm>
          <a:prstGeom prst="rect">
            <a:avLst/>
          </a:prstGeom>
          <a:noFill/>
          <a:ln/>
        </p:spPr>
        <p:txBody>
          <a:bodyPr wrap="square" lIns="0" tIns="0" rIns="0" bIns="0" rtlCol="0" anchor="ctr"/>
          <a:lstStyle/>
          <a:p>
            <a:pPr indent="0" marL="0">
              <a:buNone/>
            </a:pPr>
            <a:r>
              <a:rPr lang="en-US" sz="1200" dirty="0">
                <a:solidFill>
                  <a:srgbClr val="1A202C"/>
                </a:solidFill>
                <a:latin typeface="Calibri" pitchFamily="34" charset="0"/>
                <a:ea typeface="Calibri" pitchFamily="34" charset="-122"/>
                <a:cs typeface="Calibri" pitchFamily="34" charset="-120"/>
              </a:rPr>
              <a:t>Variable: concentración de glucosa actual − anterior</a:t>
            </a:r>
            <a:endParaRPr lang="en-US" sz="1200" dirty="0"/>
          </a:p>
          <a:p>
            <a:pPr indent="0" marL="0">
              <a:buNone/>
            </a:pPr>
            <a:r>
              <a:rPr lang="en-US" sz="1200" dirty="0">
                <a:solidFill>
                  <a:srgbClr val="1A202C"/>
                </a:solidFill>
                <a:latin typeface="Calibri" pitchFamily="34" charset="0"/>
                <a:ea typeface="Calibri" pitchFamily="34" charset="-122"/>
                <a:cs typeface="Calibri" pitchFamily="34" charset="-120"/>
              </a:rPr>
              <a:t>Regla: nado recto si diferencia &gt; 0</a:t>
            </a:r>
            <a:endParaRPr lang="en-US" sz="1200" dirty="0"/>
          </a:p>
        </p:txBody>
      </p:sp>
      <p:sp>
        <p:nvSpPr>
          <p:cNvPr id="9" name="Shape 7"/>
          <p:cNvSpPr/>
          <p:nvPr/>
        </p:nvSpPr>
        <p:spPr>
          <a:xfrm>
            <a:off x="3163824" y="1417320"/>
            <a:ext cx="2788920" cy="1737360"/>
          </a:xfrm>
          <a:prstGeom prst="rect">
            <a:avLst/>
          </a:prstGeom>
          <a:solidFill>
            <a:srgbClr val="F4F4F4"/>
          </a:solidFill>
          <a:ln w="15240">
            <a:solidFill>
              <a:srgbClr val="718096"/>
            </a:solidFill>
            <a:prstDash val="solid"/>
          </a:ln>
          <a:effectLst>
            <a:outerShdw sx="100000" sy="100000" kx="0" ky="0" algn="bl" rotWithShape="0" blurRad="76200" dist="38100" dir="8100000">
              <a:srgbClr val="000000">
                <a:alpha val="10000"/>
              </a:srgbClr>
            </a:outerShdw>
          </a:effectLst>
        </p:spPr>
      </p:sp>
      <p:sp>
        <p:nvSpPr>
          <p:cNvPr id="10" name="Text 8"/>
          <p:cNvSpPr/>
          <p:nvPr/>
        </p:nvSpPr>
        <p:spPr>
          <a:xfrm>
            <a:off x="3255264" y="1508760"/>
            <a:ext cx="2606040" cy="411480"/>
          </a:xfrm>
          <a:prstGeom prst="rect">
            <a:avLst/>
          </a:prstGeom>
          <a:noFill/>
          <a:ln/>
        </p:spPr>
        <p:txBody>
          <a:bodyPr wrap="square" lIns="0" tIns="0" rIns="0" bIns="0" rtlCol="0" anchor="ctr"/>
          <a:lstStyle/>
          <a:p>
            <a:pPr indent="0" marL="0">
              <a:buNone/>
            </a:pPr>
            <a:r>
              <a:rPr lang="en-US" sz="1200" b="1" dirty="0">
                <a:solidFill>
                  <a:srgbClr val="718096"/>
                </a:solidFill>
                <a:latin typeface="Calibri" pitchFamily="34" charset="0"/>
                <a:ea typeface="Calibri" pitchFamily="34" charset="-122"/>
                <a:cs typeface="Calibri" pitchFamily="34" charset="-120"/>
              </a:rPr>
              <a:t>Retroalimentación negativa (Cap. 5)</a:t>
            </a:r>
            <a:endParaRPr lang="en-US" sz="1200" dirty="0"/>
          </a:p>
        </p:txBody>
      </p:sp>
      <p:sp>
        <p:nvSpPr>
          <p:cNvPr id="11" name="Text 9"/>
          <p:cNvSpPr/>
          <p:nvPr/>
        </p:nvSpPr>
        <p:spPr>
          <a:xfrm>
            <a:off x="3255264" y="1965960"/>
            <a:ext cx="2606040" cy="1051560"/>
          </a:xfrm>
          <a:prstGeom prst="rect">
            <a:avLst/>
          </a:prstGeom>
          <a:noFill/>
          <a:ln/>
        </p:spPr>
        <p:txBody>
          <a:bodyPr wrap="square" lIns="0" tIns="0" rIns="0" bIns="0" rtlCol="0" anchor="ctr"/>
          <a:lstStyle/>
          <a:p>
            <a:pPr indent="0" marL="0">
              <a:buNone/>
            </a:pPr>
            <a:r>
              <a:rPr lang="en-US" sz="1200" dirty="0">
                <a:solidFill>
                  <a:srgbClr val="1A202C"/>
                </a:solidFill>
                <a:latin typeface="Calibri" pitchFamily="34" charset="0"/>
                <a:ea typeface="Calibri" pitchFamily="34" charset="-122"/>
                <a:cs typeface="Calibri" pitchFamily="34" charset="-120"/>
              </a:rPr>
              <a:t>Variable: diferencia entre estado actual y valor de referencia</a:t>
            </a:r>
            <a:endParaRPr lang="en-US" sz="1200" dirty="0"/>
          </a:p>
          <a:p>
            <a:pPr indent="0" marL="0">
              <a:buNone/>
            </a:pPr>
            <a:r>
              <a:rPr lang="en-US" sz="1200" dirty="0">
                <a:solidFill>
                  <a:srgbClr val="1A202C"/>
                </a:solidFill>
                <a:latin typeface="Calibri" pitchFamily="34" charset="0"/>
                <a:ea typeface="Calibri" pitchFamily="34" charset="-122"/>
                <a:cs typeface="Calibri" pitchFamily="34" charset="-120"/>
              </a:rPr>
              <a:t>Regla: ajustar output para reducir discrepancia</a:t>
            </a:r>
            <a:endParaRPr lang="en-US" sz="1200" dirty="0"/>
          </a:p>
        </p:txBody>
      </p:sp>
      <p:sp>
        <p:nvSpPr>
          <p:cNvPr id="12" name="Shape 10"/>
          <p:cNvSpPr/>
          <p:nvPr/>
        </p:nvSpPr>
        <p:spPr>
          <a:xfrm>
            <a:off x="6126480" y="1417320"/>
            <a:ext cx="2788920" cy="1737360"/>
          </a:xfrm>
          <a:prstGeom prst="rect">
            <a:avLst/>
          </a:prstGeom>
          <a:solidFill>
            <a:srgbClr val="EBF4FF"/>
          </a:solidFill>
          <a:ln w="15240">
            <a:solidFill>
              <a:srgbClr val="2C5282"/>
            </a:solidFill>
            <a:prstDash val="solid"/>
          </a:ln>
          <a:effectLst>
            <a:outerShdw sx="100000" sy="100000" kx="0" ky="0" algn="bl" rotWithShape="0" blurRad="76200" dist="38100" dir="8100000">
              <a:srgbClr val="000000">
                <a:alpha val="10000"/>
              </a:srgbClr>
            </a:outerShdw>
          </a:effectLst>
        </p:spPr>
      </p:sp>
      <p:sp>
        <p:nvSpPr>
          <p:cNvPr id="13" name="Text 11"/>
          <p:cNvSpPr/>
          <p:nvPr/>
        </p:nvSpPr>
        <p:spPr>
          <a:xfrm>
            <a:off x="6217920" y="1508760"/>
            <a:ext cx="2606040" cy="411480"/>
          </a:xfrm>
          <a:prstGeom prst="rect">
            <a:avLst/>
          </a:prstGeom>
          <a:noFill/>
          <a:ln/>
        </p:spPr>
        <p:txBody>
          <a:bodyPr wrap="square" lIns="0" tIns="0" rIns="0" bIns="0" rtlCol="0" anchor="ctr"/>
          <a:lstStyle/>
          <a:p>
            <a:pPr indent="0" marL="0">
              <a:buNone/>
            </a:pPr>
            <a:r>
              <a:rPr lang="en-US" sz="1200" b="1" dirty="0">
                <a:solidFill>
                  <a:srgbClr val="2C5282"/>
                </a:solidFill>
                <a:latin typeface="Calibri" pitchFamily="34" charset="0"/>
                <a:ea typeface="Calibri" pitchFamily="34" charset="-122"/>
                <a:cs typeface="Calibri" pitchFamily="34" charset="-120"/>
              </a:rPr>
              <a:t>Mejoramiento (Cap. 15)</a:t>
            </a:r>
            <a:endParaRPr lang="en-US" sz="1200" dirty="0"/>
          </a:p>
        </p:txBody>
      </p:sp>
      <p:sp>
        <p:nvSpPr>
          <p:cNvPr id="14" name="Text 12"/>
          <p:cNvSpPr/>
          <p:nvPr/>
        </p:nvSpPr>
        <p:spPr>
          <a:xfrm>
            <a:off x="6217920" y="1965960"/>
            <a:ext cx="2606040" cy="1051560"/>
          </a:xfrm>
          <a:prstGeom prst="rect">
            <a:avLst/>
          </a:prstGeom>
          <a:noFill/>
          <a:ln/>
        </p:spPr>
        <p:txBody>
          <a:bodyPr wrap="square" lIns="0" tIns="0" rIns="0" bIns="0" rtlCol="0" anchor="ctr"/>
          <a:lstStyle/>
          <a:p>
            <a:pPr indent="0" marL="0">
              <a:buNone/>
            </a:pPr>
            <a:r>
              <a:rPr lang="en-US" sz="1200" dirty="0">
                <a:solidFill>
                  <a:srgbClr val="1A202C"/>
                </a:solidFill>
                <a:latin typeface="Calibri" pitchFamily="34" charset="0"/>
                <a:ea typeface="Calibri" pitchFamily="34" charset="-122"/>
                <a:cs typeface="Calibri" pitchFamily="34" charset="-120"/>
              </a:rPr>
              <a:t>Variable: ρ₁ − ρ₂ (diferencia en tasas locales)</a:t>
            </a:r>
            <a:endParaRPr lang="en-US" sz="1200" dirty="0"/>
          </a:p>
          <a:p>
            <a:pPr indent="0" marL="0">
              <a:buNone/>
            </a:pPr>
            <a:r>
              <a:rPr lang="en-US" sz="1200" dirty="0">
                <a:solidFill>
                  <a:srgbClr val="1A202C"/>
                </a:solidFill>
                <a:latin typeface="Calibri" pitchFamily="34" charset="0"/>
                <a:ea typeface="Calibri" pitchFamily="34" charset="-122"/>
                <a:cs typeface="Calibri" pitchFamily="34" charset="-120"/>
              </a:rPr>
              <a:t>Regla: aumentar T_i para la opción con mayor ρ_i</a:t>
            </a:r>
            <a:endParaRPr lang="en-US" sz="1200" dirty="0"/>
          </a:p>
        </p:txBody>
      </p:sp>
      <p:sp>
        <p:nvSpPr>
          <p:cNvPr id="15" name="Shape 13"/>
          <p:cNvSpPr/>
          <p:nvPr/>
        </p:nvSpPr>
        <p:spPr>
          <a:xfrm>
            <a:off x="201168" y="3291840"/>
            <a:ext cx="8741664" cy="914400"/>
          </a:xfrm>
          <a:prstGeom prst="rect">
            <a:avLst/>
          </a:prstGeom>
          <a:solidFill>
            <a:srgbClr val="FFF3E8"/>
          </a:solidFill>
          <a:ln w="15240">
            <a:solidFill>
              <a:srgbClr val="C05621"/>
            </a:solidFill>
            <a:prstDash val="solid"/>
          </a:ln>
          <a:effectLst>
            <a:outerShdw sx="100000" sy="100000" kx="0" ky="0" algn="bl" rotWithShape="0" blurRad="76200" dist="38100" dir="8100000">
              <a:srgbClr val="000000">
                <a:alpha val="10000"/>
              </a:srgbClr>
            </a:outerShdw>
          </a:effectLst>
        </p:spPr>
      </p:sp>
      <p:sp>
        <p:nvSpPr>
          <p:cNvPr id="16" name="Text 14"/>
          <p:cNvSpPr/>
          <p:nvPr/>
        </p:nvSpPr>
        <p:spPr>
          <a:xfrm>
            <a:off x="320040" y="3364992"/>
            <a:ext cx="8503920" cy="274320"/>
          </a:xfrm>
          <a:prstGeom prst="rect">
            <a:avLst/>
          </a:prstGeom>
          <a:noFill/>
          <a:ln/>
        </p:spPr>
        <p:txBody>
          <a:bodyPr wrap="square" lIns="0" tIns="0" rIns="0" bIns="0" rtlCol="0" anchor="ctr"/>
          <a:lstStyle/>
          <a:p>
            <a:pPr indent="0" marL="0">
              <a:buNone/>
            </a:pPr>
            <a:r>
              <a:rPr lang="en-US" sz="1300" b="1" dirty="0">
                <a:solidFill>
                  <a:srgbClr val="C05621"/>
                </a:solidFill>
                <a:latin typeface="Calibri" pitchFamily="34" charset="0"/>
                <a:ea typeface="Calibri" pitchFamily="34" charset="-122"/>
                <a:cs typeface="Calibri" pitchFamily="34" charset="-120"/>
              </a:rPr>
              <a:t>La novedad del mejoramiento:</a:t>
            </a:r>
            <a:endParaRPr lang="en-US" sz="1300" dirty="0"/>
          </a:p>
        </p:txBody>
      </p:sp>
      <p:sp>
        <p:nvSpPr>
          <p:cNvPr id="17" name="Text 15"/>
          <p:cNvSpPr/>
          <p:nvPr/>
        </p:nvSpPr>
        <p:spPr>
          <a:xfrm>
            <a:off x="320040" y="3657600"/>
            <a:ext cx="8503920" cy="438912"/>
          </a:xfrm>
          <a:prstGeom prst="rect">
            <a:avLst/>
          </a:prstGeom>
          <a:noFill/>
          <a:ln/>
        </p:spPr>
        <p:txBody>
          <a:bodyPr wrap="square" lIns="0" tIns="0" rIns="0" bIns="0" rtlCol="0" anchor="ctr"/>
          <a:lstStyle/>
          <a:p>
            <a:pPr indent="0" marL="0">
              <a:buNone/>
            </a:pPr>
            <a:r>
              <a:rPr lang="en-US" sz="1300" dirty="0">
                <a:solidFill>
                  <a:srgbClr val="1A202C"/>
                </a:solidFill>
                <a:latin typeface="Calibri" pitchFamily="34" charset="0"/>
                <a:ea typeface="Calibri" pitchFamily="34" charset="-122"/>
                <a:cs typeface="Calibri" pitchFamily="34" charset="-120"/>
              </a:rPr>
              <a:t>La variable sobre la que opera el ascenso de colina no es una propiedad del entorno físico, sino una tasa de reforzamiento que el propio comportamiento del organismo contribuye a determinar. La salida del organismo altera la señal de entrada del comparador.</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C5282"/>
          </a:solidFill>
          <a:ln/>
        </p:spPr>
      </p:sp>
      <p:sp>
        <p:nvSpPr>
          <p:cNvPr id="3" name="Text 1"/>
          <p:cNvSpPr/>
          <p:nvPr/>
        </p:nvSpPr>
        <p:spPr>
          <a:xfrm>
            <a:off x="201168" y="164592"/>
            <a:ext cx="8778240" cy="566928"/>
          </a:xfrm>
          <a:prstGeom prst="rect">
            <a:avLst/>
          </a:prstGeom>
          <a:noFill/>
          <a:ln/>
        </p:spPr>
        <p:txBody>
          <a:bodyPr wrap="square" lIns="0" tIns="0" rIns="0" bIns="0" rtlCol="0" anchor="ctr"/>
          <a:lstStyle/>
          <a:p>
            <a:pPr indent="0" marL="0">
              <a:buNone/>
            </a:pPr>
            <a:r>
              <a:rPr lang="en-US" sz="2600" b="1" dirty="0">
                <a:solidFill>
                  <a:srgbClr val="2C5282"/>
                </a:solidFill>
                <a:latin typeface="Calibri" pitchFamily="34" charset="0"/>
                <a:ea typeface="Calibri" pitchFamily="34" charset="-122"/>
                <a:cs typeface="Calibri" pitchFamily="34" charset="-120"/>
              </a:rPr>
              <a:t>Ejemplo numérico: IV 1 min – IV 2 min, sesión de una hora</a:t>
            </a:r>
            <a:endParaRPr lang="en-US" sz="2600" dirty="0"/>
          </a:p>
        </p:txBody>
      </p:sp>
      <p:sp>
        <p:nvSpPr>
          <p:cNvPr id="4" name="Shape 2"/>
          <p:cNvSpPr/>
          <p:nvPr/>
        </p:nvSpPr>
        <p:spPr>
          <a:xfrm>
            <a:off x="201168" y="777240"/>
            <a:ext cx="8741664" cy="0"/>
          </a:xfrm>
          <a:prstGeom prst="line">
            <a:avLst/>
          </a:prstGeom>
          <a:noFill/>
          <a:ln w="19050">
            <a:solidFill>
              <a:srgbClr val="2C5282"/>
            </a:solidFill>
            <a:prstDash val="solid"/>
          </a:ln>
        </p:spPr>
      </p:sp>
      <p:sp>
        <p:nvSpPr>
          <p:cNvPr id="5" name="Shape 3"/>
          <p:cNvSpPr/>
          <p:nvPr/>
        </p:nvSpPr>
        <p:spPr>
          <a:xfrm>
            <a:off x="201168" y="960120"/>
            <a:ext cx="8741664" cy="914400"/>
          </a:xfrm>
          <a:prstGeom prst="rect">
            <a:avLst/>
          </a:prstGeom>
          <a:solidFill>
            <a:srgbClr val="EBF4FF"/>
          </a:solidFill>
          <a:ln w="15240">
            <a:solidFill>
              <a:srgbClr val="2C5282"/>
            </a:solidFill>
            <a:prstDash val="solid"/>
          </a:ln>
          <a:effectLst>
            <a:outerShdw sx="100000" sy="100000" kx="0" ky="0" algn="bl" rotWithShape="0" blurRad="76200" dist="38100" dir="8100000">
              <a:srgbClr val="000000">
                <a:alpha val="10000"/>
              </a:srgbClr>
            </a:outerShdw>
          </a:effectLst>
        </p:spPr>
      </p:sp>
      <p:sp>
        <p:nvSpPr>
          <p:cNvPr id="6" name="Text 4"/>
          <p:cNvSpPr/>
          <p:nvPr/>
        </p:nvSpPr>
        <p:spPr>
          <a:xfrm>
            <a:off x="320040" y="1033272"/>
            <a:ext cx="8503920" cy="274320"/>
          </a:xfrm>
          <a:prstGeom prst="rect">
            <a:avLst/>
          </a:prstGeom>
          <a:noFill/>
          <a:ln/>
        </p:spPr>
        <p:txBody>
          <a:bodyPr wrap="square" lIns="0" tIns="0" rIns="0" bIns="0" rtlCol="0" anchor="ctr"/>
          <a:lstStyle/>
          <a:p>
            <a:pPr indent="0" marL="0">
              <a:buNone/>
            </a:pPr>
            <a:r>
              <a:rPr lang="en-US" sz="1300" b="1" dirty="0">
                <a:solidFill>
                  <a:srgbClr val="2C5282"/>
                </a:solidFill>
                <a:latin typeface="Calibri" pitchFamily="34" charset="0"/>
                <a:ea typeface="Calibri" pitchFamily="34" charset="-122"/>
                <a:cs typeface="Calibri" pitchFamily="34" charset="-120"/>
              </a:rPr>
              <a:t>Configuración del programa</a:t>
            </a:r>
            <a:endParaRPr lang="en-US" sz="1300" dirty="0"/>
          </a:p>
        </p:txBody>
      </p:sp>
      <p:sp>
        <p:nvSpPr>
          <p:cNvPr id="7" name="Text 5"/>
          <p:cNvSpPr/>
          <p:nvPr/>
        </p:nvSpPr>
        <p:spPr>
          <a:xfrm>
            <a:off x="320040" y="1344168"/>
            <a:ext cx="8503920" cy="457200"/>
          </a:xfrm>
          <a:prstGeom prst="rect">
            <a:avLst/>
          </a:prstGeom>
          <a:noFill/>
          <a:ln/>
        </p:spPr>
        <p:txBody>
          <a:bodyPr wrap="square" lIns="0" tIns="0" rIns="0" bIns="0" rtlCol="0" anchor="ctr"/>
          <a:lstStyle/>
          <a:p>
            <a:pPr indent="0" marL="0">
              <a:buNone/>
            </a:pPr>
            <a:r>
              <a:rPr lang="en-US" sz="1400" dirty="0">
                <a:solidFill>
                  <a:srgbClr val="1A202C"/>
                </a:solidFill>
                <a:latin typeface="Calibri" pitchFamily="34" charset="0"/>
                <a:ea typeface="Calibri" pitchFamily="34" charset="-122"/>
                <a:cs typeface="Calibri" pitchFamily="34" charset="-120"/>
              </a:rPr>
              <a:t>IV 1':  λ₁ = 1/1 min → 60 reforzadores disponibles por hora de sesión  (r₁ = 60)</a:t>
            </a:r>
            <a:endParaRPr lang="en-US" sz="1400" dirty="0"/>
          </a:p>
          <a:p>
            <a:pPr indent="0" marL="0">
              <a:buNone/>
            </a:pPr>
            <a:r>
              <a:rPr lang="en-US" sz="1400" dirty="0">
                <a:solidFill>
                  <a:srgbClr val="1A202C"/>
                </a:solidFill>
                <a:latin typeface="Calibri" pitchFamily="34" charset="0"/>
                <a:ea typeface="Calibri" pitchFamily="34" charset="-122"/>
                <a:cs typeface="Calibri" pitchFamily="34" charset="-120"/>
              </a:rPr>
              <a:t>IV 2':  λ₂ = 1/2 min → 30 reforzadores disponibles por hora de sesión  (r₂ = 30)</a:t>
            </a:r>
            <a:endParaRPr lang="en-US" sz="1400" dirty="0"/>
          </a:p>
        </p:txBody>
      </p:sp>
      <p:sp>
        <p:nvSpPr>
          <p:cNvPr id="8" name="Shape 6"/>
          <p:cNvSpPr/>
          <p:nvPr/>
        </p:nvSpPr>
        <p:spPr>
          <a:xfrm>
            <a:off x="201168" y="2011680"/>
            <a:ext cx="8741664" cy="914400"/>
          </a:xfrm>
          <a:prstGeom prst="rect">
            <a:avLst/>
          </a:prstGeom>
          <a:solidFill>
            <a:srgbClr val="E6F4ED"/>
          </a:solidFill>
          <a:ln w="15240">
            <a:solidFill>
              <a:srgbClr val="276749"/>
            </a:solidFill>
            <a:prstDash val="solid"/>
          </a:ln>
          <a:effectLst>
            <a:outerShdw sx="100000" sy="100000" kx="0" ky="0" algn="bl" rotWithShape="0" blurRad="76200" dist="38100" dir="8100000">
              <a:srgbClr val="000000">
                <a:alpha val="10000"/>
              </a:srgbClr>
            </a:outerShdw>
          </a:effectLst>
        </p:spPr>
      </p:sp>
      <p:sp>
        <p:nvSpPr>
          <p:cNvPr id="9" name="Text 7"/>
          <p:cNvSpPr/>
          <p:nvPr/>
        </p:nvSpPr>
        <p:spPr>
          <a:xfrm>
            <a:off x="320040" y="2084832"/>
            <a:ext cx="8503920" cy="274320"/>
          </a:xfrm>
          <a:prstGeom prst="rect">
            <a:avLst/>
          </a:prstGeom>
          <a:noFill/>
          <a:ln/>
        </p:spPr>
        <p:txBody>
          <a:bodyPr wrap="square" lIns="0" tIns="0" rIns="0" bIns="0" rtlCol="0" anchor="ctr"/>
          <a:lstStyle/>
          <a:p>
            <a:pPr indent="0" marL="0">
              <a:buNone/>
            </a:pPr>
            <a:r>
              <a:rPr lang="en-US" sz="1300" b="1" dirty="0">
                <a:solidFill>
                  <a:srgbClr val="276749"/>
                </a:solidFill>
                <a:latin typeface="Calibri" pitchFamily="34" charset="0"/>
                <a:ea typeface="Calibri" pitchFamily="34" charset="-122"/>
                <a:cs typeface="Calibri" pitchFamily="34" charset="-120"/>
              </a:rPr>
              <a:t>Supuesto clave:</a:t>
            </a:r>
            <a:endParaRPr lang="en-US" sz="1300" dirty="0"/>
          </a:p>
        </p:txBody>
      </p:sp>
      <p:sp>
        <p:nvSpPr>
          <p:cNvPr id="10" name="Text 8"/>
          <p:cNvSpPr/>
          <p:nvPr/>
        </p:nvSpPr>
        <p:spPr>
          <a:xfrm>
            <a:off x="320040" y="2395728"/>
            <a:ext cx="8503920" cy="457200"/>
          </a:xfrm>
          <a:prstGeom prst="rect">
            <a:avLst/>
          </a:prstGeom>
          <a:noFill/>
          <a:ln/>
        </p:spPr>
        <p:txBody>
          <a:bodyPr wrap="square" lIns="0" tIns="0" rIns="0" bIns="0" rtlCol="0" anchor="ctr"/>
          <a:lstStyle/>
          <a:p>
            <a:pPr indent="0" marL="0">
              <a:buNone/>
            </a:pPr>
            <a:r>
              <a:rPr lang="en-US" sz="1400" dirty="0">
                <a:solidFill>
                  <a:srgbClr val="1A202C"/>
                </a:solidFill>
                <a:latin typeface="Calibri" pitchFamily="34" charset="0"/>
                <a:ea typeface="Calibri" pitchFamily="34" charset="-122"/>
                <a:cs typeface="Calibri" pitchFamily="34" charset="-120"/>
              </a:rPr>
              <a:t>El organismo visita cada opción con suficiente frecuencia para recolectar los reforzadores disponibles en cada visita. El número de reforzadores obtenidos depende del ritmo del programa, no de cuánto tiempo se le dedica activamente.</a:t>
            </a:r>
            <a:endParaRPr lang="en-US" sz="1400" dirty="0"/>
          </a:p>
        </p:txBody>
      </p:sp>
      <p:sp>
        <p:nvSpPr>
          <p:cNvPr id="11" name="Text 9"/>
          <p:cNvSpPr/>
          <p:nvPr/>
        </p:nvSpPr>
        <p:spPr>
          <a:xfrm>
            <a:off x="201168" y="3063240"/>
            <a:ext cx="8741664" cy="384048"/>
          </a:xfrm>
          <a:prstGeom prst="rect">
            <a:avLst/>
          </a:prstGeom>
          <a:noFill/>
          <a:ln/>
        </p:spPr>
        <p:txBody>
          <a:bodyPr wrap="square" rtlCol="0" anchor="ctr"/>
          <a:lstStyle/>
          <a:p>
            <a:pPr indent="0" marL="0">
              <a:buNone/>
            </a:pPr>
            <a:r>
              <a:rPr lang="en-US" sz="1500" b="1" dirty="0">
                <a:solidFill>
                  <a:srgbClr val="2C5282"/>
                </a:solidFill>
                <a:latin typeface="Calibri" pitchFamily="34" charset="0"/>
                <a:ea typeface="Calibri" pitchFamily="34" charset="-122"/>
                <a:cs typeface="Calibri" pitchFamily="34" charset="-120"/>
              </a:rPr>
              <a:t>Notación:  </a:t>
            </a:r>
            <a:pPr indent="0" marL="0">
              <a:buNone/>
            </a:pPr>
            <a:r>
              <a:rPr lang="en-US" sz="1500" dirty="0">
                <a:solidFill>
                  <a:srgbClr val="1A202C"/>
                </a:solidFill>
                <a:latin typeface="Calibri" pitchFamily="34" charset="0"/>
                <a:ea typeface="Calibri" pitchFamily="34" charset="-122"/>
                <a:cs typeface="Calibri" pitchFamily="34" charset="-120"/>
              </a:rPr>
              <a:t>T₁ + T₂ = 1    (proporciones de tiempo asignadas a cada opción)</a:t>
            </a:r>
            <a:endParaRPr lang="en-US" sz="1500" dirty="0"/>
          </a:p>
        </p:txBody>
      </p:sp>
      <p:sp>
        <p:nvSpPr>
          <p:cNvPr id="12" name="Text 10"/>
          <p:cNvSpPr/>
          <p:nvPr/>
        </p:nvSpPr>
        <p:spPr>
          <a:xfrm>
            <a:off x="201168" y="3547872"/>
            <a:ext cx="8741664" cy="292608"/>
          </a:xfrm>
          <a:prstGeom prst="rect">
            <a:avLst/>
          </a:prstGeom>
          <a:noFill/>
          <a:ln/>
        </p:spPr>
        <p:txBody>
          <a:bodyPr wrap="square" rtlCol="0" anchor="ctr"/>
          <a:lstStyle/>
          <a:p>
            <a:pPr indent="0" marL="0">
              <a:buNone/>
            </a:pPr>
            <a:r>
              <a:rPr lang="en-US" sz="1400" dirty="0">
                <a:solidFill>
                  <a:srgbClr val="1A202C"/>
                </a:solidFill>
                <a:latin typeface="Calibri" pitchFamily="34" charset="0"/>
                <a:ea typeface="Calibri" pitchFamily="34" charset="-122"/>
                <a:cs typeface="Calibri" pitchFamily="34" charset="-120"/>
              </a:rPr>
              <a:t>Por tanto:</a:t>
            </a:r>
            <a:endParaRPr lang="en-US" sz="1400" dirty="0"/>
          </a:p>
        </p:txBody>
      </p:sp>
      <p:sp>
        <p:nvSpPr>
          <p:cNvPr id="13" name="Shape 11"/>
          <p:cNvSpPr/>
          <p:nvPr/>
        </p:nvSpPr>
        <p:spPr>
          <a:xfrm>
            <a:off x="201168" y="3913632"/>
            <a:ext cx="8741664" cy="960120"/>
          </a:xfrm>
          <a:prstGeom prst="rect">
            <a:avLst/>
          </a:prstGeom>
          <a:solidFill>
            <a:srgbClr val="EBF4FF"/>
          </a:solidFill>
          <a:ln w="15240">
            <a:solidFill>
              <a:srgbClr val="2C5282"/>
            </a:solidFill>
            <a:prstDash val="solid"/>
          </a:ln>
          <a:effectLst>
            <a:outerShdw sx="100000" sy="100000" kx="0" ky="0" algn="bl" rotWithShape="0" blurRad="76200" dist="38100" dir="8100000">
              <a:srgbClr val="000000">
                <a:alpha val="10000"/>
              </a:srgbClr>
            </a:outerShdw>
          </a:effectLst>
        </p:spPr>
      </p:sp>
      <p:sp>
        <p:nvSpPr>
          <p:cNvPr id="14" name="Text 12"/>
          <p:cNvSpPr/>
          <p:nvPr/>
        </p:nvSpPr>
        <p:spPr>
          <a:xfrm>
            <a:off x="457200" y="4005072"/>
            <a:ext cx="8412480" cy="365760"/>
          </a:xfrm>
          <a:prstGeom prst="rect">
            <a:avLst/>
          </a:prstGeom>
          <a:noFill/>
          <a:ln/>
        </p:spPr>
        <p:txBody>
          <a:bodyPr wrap="square" lIns="0" tIns="0" rIns="0" bIns="0" rtlCol="0" anchor="ctr"/>
          <a:lstStyle/>
          <a:p>
            <a:pPr algn="ctr" indent="0" marL="0">
              <a:buNone/>
            </a:pPr>
            <a:r>
              <a:rPr lang="en-US" sz="1600" b="1" dirty="0">
                <a:solidFill>
                  <a:srgbClr val="1A3457"/>
                </a:solidFill>
                <a:latin typeface="Calibri" pitchFamily="34" charset="0"/>
                <a:ea typeface="Calibri" pitchFamily="34" charset="-122"/>
                <a:cs typeface="Calibri" pitchFamily="34" charset="-120"/>
              </a:rPr>
              <a:t>ρ₁ = r₁ / T₁  =  60 / T₁    (tasa local, opción 1)</a:t>
            </a:r>
            <a:endParaRPr lang="en-US" sz="1600" dirty="0"/>
          </a:p>
        </p:txBody>
      </p:sp>
      <p:sp>
        <p:nvSpPr>
          <p:cNvPr id="15" name="Text 13"/>
          <p:cNvSpPr/>
          <p:nvPr/>
        </p:nvSpPr>
        <p:spPr>
          <a:xfrm>
            <a:off x="457200" y="4389120"/>
            <a:ext cx="8412480" cy="365760"/>
          </a:xfrm>
          <a:prstGeom prst="rect">
            <a:avLst/>
          </a:prstGeom>
          <a:noFill/>
          <a:ln/>
        </p:spPr>
        <p:txBody>
          <a:bodyPr wrap="square" lIns="0" tIns="0" rIns="0" bIns="0" rtlCol="0" anchor="ctr"/>
          <a:lstStyle/>
          <a:p>
            <a:pPr algn="ctr" indent="0" marL="0">
              <a:buNone/>
            </a:pPr>
            <a:r>
              <a:rPr lang="en-US" sz="1600" b="1" dirty="0">
                <a:solidFill>
                  <a:srgbClr val="1A3457"/>
                </a:solidFill>
                <a:latin typeface="Calibri" pitchFamily="34" charset="0"/>
                <a:ea typeface="Calibri" pitchFamily="34" charset="-122"/>
                <a:cs typeface="Calibri" pitchFamily="34" charset="-120"/>
              </a:rPr>
              <a:t>ρ₂ = r₂ / T₂  =  30 / T₂    (tasa local, opción 2)</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C5282"/>
          </a:solidFill>
          <a:ln/>
        </p:spPr>
      </p:sp>
      <p:sp>
        <p:nvSpPr>
          <p:cNvPr id="3" name="Text 1"/>
          <p:cNvSpPr/>
          <p:nvPr/>
        </p:nvSpPr>
        <p:spPr>
          <a:xfrm>
            <a:off x="201168" y="164592"/>
            <a:ext cx="8778240" cy="566928"/>
          </a:xfrm>
          <a:prstGeom prst="rect">
            <a:avLst/>
          </a:prstGeom>
          <a:noFill/>
          <a:ln/>
        </p:spPr>
        <p:txBody>
          <a:bodyPr wrap="square" lIns="0" tIns="0" rIns="0" bIns="0" rtlCol="0" anchor="ctr"/>
          <a:lstStyle/>
          <a:p>
            <a:pPr indent="0" marL="0">
              <a:buNone/>
            </a:pPr>
            <a:r>
              <a:rPr lang="en-US" sz="2600" b="1" dirty="0">
                <a:solidFill>
                  <a:srgbClr val="2C5282"/>
                </a:solidFill>
                <a:latin typeface="Calibri" pitchFamily="34" charset="0"/>
                <a:ea typeface="Calibri" pitchFamily="34" charset="-122"/>
                <a:cs typeface="Calibri" pitchFamily="34" charset="-120"/>
              </a:rPr>
              <a:t>Ejemplo numérico: caso T₁ = 0.5 (tiempo igual para ambas opciones)</a:t>
            </a:r>
            <a:endParaRPr lang="en-US" sz="2600" dirty="0"/>
          </a:p>
        </p:txBody>
      </p:sp>
      <p:sp>
        <p:nvSpPr>
          <p:cNvPr id="4" name="Shape 2"/>
          <p:cNvSpPr/>
          <p:nvPr/>
        </p:nvSpPr>
        <p:spPr>
          <a:xfrm>
            <a:off x="201168" y="777240"/>
            <a:ext cx="8741664" cy="0"/>
          </a:xfrm>
          <a:prstGeom prst="line">
            <a:avLst/>
          </a:prstGeom>
          <a:noFill/>
          <a:ln w="19050">
            <a:solidFill>
              <a:srgbClr val="2C5282"/>
            </a:solidFill>
            <a:prstDash val="solid"/>
          </a:ln>
        </p:spPr>
      </p:sp>
      <p:sp>
        <p:nvSpPr>
          <p:cNvPr id="5" name="Shape 3"/>
          <p:cNvSpPr/>
          <p:nvPr/>
        </p:nvSpPr>
        <p:spPr>
          <a:xfrm>
            <a:off x="201168" y="1005840"/>
            <a:ext cx="4206240" cy="2103120"/>
          </a:xfrm>
          <a:prstGeom prst="rect">
            <a:avLst/>
          </a:prstGeom>
          <a:solidFill>
            <a:srgbClr val="EBF4FF"/>
          </a:solidFill>
          <a:ln w="15240">
            <a:solidFill>
              <a:srgbClr val="2C5282"/>
            </a:solidFill>
            <a:prstDash val="solid"/>
          </a:ln>
          <a:effectLst>
            <a:outerShdw sx="100000" sy="100000" kx="0" ky="0" algn="bl" rotWithShape="0" blurRad="76200" dist="38100" dir="8100000">
              <a:srgbClr val="000000">
                <a:alpha val="10000"/>
              </a:srgbClr>
            </a:outerShdw>
          </a:effectLst>
        </p:spPr>
      </p:sp>
      <p:sp>
        <p:nvSpPr>
          <p:cNvPr id="6" name="Text 4"/>
          <p:cNvSpPr/>
          <p:nvPr/>
        </p:nvSpPr>
        <p:spPr>
          <a:xfrm>
            <a:off x="338328" y="1115568"/>
            <a:ext cx="3931920" cy="320040"/>
          </a:xfrm>
          <a:prstGeom prst="rect">
            <a:avLst/>
          </a:prstGeom>
          <a:noFill/>
          <a:ln/>
        </p:spPr>
        <p:txBody>
          <a:bodyPr wrap="square" lIns="0" tIns="0" rIns="0" bIns="0" rtlCol="0" anchor="ctr"/>
          <a:lstStyle/>
          <a:p>
            <a:pPr indent="0" marL="0">
              <a:buNone/>
            </a:pPr>
            <a:r>
              <a:rPr lang="en-US" sz="1500" b="1" dirty="0">
                <a:solidFill>
                  <a:srgbClr val="2C5282"/>
                </a:solidFill>
                <a:latin typeface="Calibri" pitchFamily="34" charset="0"/>
                <a:ea typeface="Calibri" pitchFamily="34" charset="-122"/>
                <a:cs typeface="Calibri" pitchFamily="34" charset="-120"/>
              </a:rPr>
              <a:t>IV 1 min</a:t>
            </a:r>
            <a:endParaRPr lang="en-US" sz="1500" dirty="0"/>
          </a:p>
        </p:txBody>
      </p:sp>
      <p:sp>
        <p:nvSpPr>
          <p:cNvPr id="7" name="Text 5"/>
          <p:cNvSpPr/>
          <p:nvPr/>
        </p:nvSpPr>
        <p:spPr>
          <a:xfrm>
            <a:off x="338328" y="1481328"/>
            <a:ext cx="3931920" cy="347472"/>
          </a:xfrm>
          <a:prstGeom prst="rect">
            <a:avLst/>
          </a:prstGeom>
          <a:noFill/>
          <a:ln/>
        </p:spPr>
        <p:txBody>
          <a:bodyPr wrap="square" lIns="0" tIns="0" rIns="0" bIns="0" rtlCol="0" anchor="ctr"/>
          <a:lstStyle/>
          <a:p>
            <a:pPr indent="0" marL="0">
              <a:buNone/>
            </a:pPr>
            <a:r>
              <a:rPr lang="en-US" sz="1400" dirty="0">
                <a:solidFill>
                  <a:srgbClr val="1A202C"/>
                </a:solidFill>
                <a:latin typeface="Calibri" pitchFamily="34" charset="0"/>
                <a:ea typeface="Calibri" pitchFamily="34" charset="-122"/>
                <a:cs typeface="Calibri" pitchFamily="34" charset="-120"/>
              </a:rPr>
              <a:t>T₁ = 0.5</a:t>
            </a:r>
            <a:endParaRPr lang="en-US" sz="1400" dirty="0"/>
          </a:p>
        </p:txBody>
      </p:sp>
      <p:sp>
        <p:nvSpPr>
          <p:cNvPr id="8" name="Text 6"/>
          <p:cNvSpPr/>
          <p:nvPr/>
        </p:nvSpPr>
        <p:spPr>
          <a:xfrm>
            <a:off x="338328" y="1847088"/>
            <a:ext cx="3931920" cy="320040"/>
          </a:xfrm>
          <a:prstGeom prst="rect">
            <a:avLst/>
          </a:prstGeom>
          <a:noFill/>
          <a:ln/>
        </p:spPr>
        <p:txBody>
          <a:bodyPr wrap="square" lIns="0" tIns="0" rIns="0" bIns="0" rtlCol="0" anchor="ctr"/>
          <a:lstStyle/>
          <a:p>
            <a:pPr indent="0" marL="0">
              <a:buNone/>
            </a:pPr>
            <a:r>
              <a:rPr lang="en-US" sz="1400" dirty="0">
                <a:solidFill>
                  <a:srgbClr val="1A202C"/>
                </a:solidFill>
                <a:latin typeface="Calibri" pitchFamily="34" charset="0"/>
                <a:ea typeface="Calibri" pitchFamily="34" charset="-122"/>
                <a:cs typeface="Calibri" pitchFamily="34" charset="-120"/>
              </a:rPr>
              <a:t>r = 60 ref/hr</a:t>
            </a:r>
            <a:endParaRPr lang="en-US" sz="1400" dirty="0"/>
          </a:p>
        </p:txBody>
      </p:sp>
      <p:sp>
        <p:nvSpPr>
          <p:cNvPr id="9" name="Text 7"/>
          <p:cNvSpPr/>
          <p:nvPr/>
        </p:nvSpPr>
        <p:spPr>
          <a:xfrm>
            <a:off x="338328" y="2212848"/>
            <a:ext cx="3931920" cy="347472"/>
          </a:xfrm>
          <a:prstGeom prst="rect">
            <a:avLst/>
          </a:prstGeom>
          <a:noFill/>
          <a:ln/>
        </p:spPr>
        <p:txBody>
          <a:bodyPr wrap="square" lIns="0" tIns="0" rIns="0" bIns="0" rtlCol="0" anchor="ctr"/>
          <a:lstStyle/>
          <a:p>
            <a:pPr indent="0" marL="0">
              <a:buNone/>
            </a:pPr>
            <a:r>
              <a:rPr lang="en-US" sz="1700" b="1" dirty="0">
                <a:solidFill>
                  <a:srgbClr val="2C5282"/>
                </a:solidFill>
                <a:latin typeface="Calibri" pitchFamily="34" charset="0"/>
                <a:ea typeface="Calibri" pitchFamily="34" charset="-122"/>
                <a:cs typeface="Calibri" pitchFamily="34" charset="-120"/>
              </a:rPr>
              <a:t>ρ₁ = 60 / 0.5 = 120 ref/hr</a:t>
            </a:r>
            <a:endParaRPr lang="en-US" sz="1700" dirty="0"/>
          </a:p>
        </p:txBody>
      </p:sp>
      <p:sp>
        <p:nvSpPr>
          <p:cNvPr id="10" name="Shape 8"/>
          <p:cNvSpPr/>
          <p:nvPr/>
        </p:nvSpPr>
        <p:spPr>
          <a:xfrm>
            <a:off x="4681728" y="1005840"/>
            <a:ext cx="4206240" cy="2103120"/>
          </a:xfrm>
          <a:prstGeom prst="rect">
            <a:avLst/>
          </a:prstGeom>
          <a:solidFill>
            <a:srgbClr val="E6F4ED"/>
          </a:solidFill>
          <a:ln w="15240">
            <a:solidFill>
              <a:srgbClr val="276749"/>
            </a:solidFill>
            <a:prstDash val="solid"/>
          </a:ln>
          <a:effectLst>
            <a:outerShdw sx="100000" sy="100000" kx="0" ky="0" algn="bl" rotWithShape="0" blurRad="76200" dist="38100" dir="8100000">
              <a:srgbClr val="000000">
                <a:alpha val="10000"/>
              </a:srgbClr>
            </a:outerShdw>
          </a:effectLst>
        </p:spPr>
      </p:sp>
      <p:sp>
        <p:nvSpPr>
          <p:cNvPr id="11" name="Text 9"/>
          <p:cNvSpPr/>
          <p:nvPr/>
        </p:nvSpPr>
        <p:spPr>
          <a:xfrm>
            <a:off x="4818888" y="1115568"/>
            <a:ext cx="3931920" cy="320040"/>
          </a:xfrm>
          <a:prstGeom prst="rect">
            <a:avLst/>
          </a:prstGeom>
          <a:noFill/>
          <a:ln/>
        </p:spPr>
        <p:txBody>
          <a:bodyPr wrap="square" lIns="0" tIns="0" rIns="0" bIns="0" rtlCol="0" anchor="ctr"/>
          <a:lstStyle/>
          <a:p>
            <a:pPr indent="0" marL="0">
              <a:buNone/>
            </a:pPr>
            <a:r>
              <a:rPr lang="en-US" sz="1500" b="1" dirty="0">
                <a:solidFill>
                  <a:srgbClr val="276749"/>
                </a:solidFill>
                <a:latin typeface="Calibri" pitchFamily="34" charset="0"/>
                <a:ea typeface="Calibri" pitchFamily="34" charset="-122"/>
                <a:cs typeface="Calibri" pitchFamily="34" charset="-120"/>
              </a:rPr>
              <a:t>IV 2 min</a:t>
            </a:r>
            <a:endParaRPr lang="en-US" sz="1500" dirty="0"/>
          </a:p>
        </p:txBody>
      </p:sp>
      <p:sp>
        <p:nvSpPr>
          <p:cNvPr id="12" name="Text 10"/>
          <p:cNvSpPr/>
          <p:nvPr/>
        </p:nvSpPr>
        <p:spPr>
          <a:xfrm>
            <a:off x="4818888" y="1481328"/>
            <a:ext cx="3931920" cy="347472"/>
          </a:xfrm>
          <a:prstGeom prst="rect">
            <a:avLst/>
          </a:prstGeom>
          <a:noFill/>
          <a:ln/>
        </p:spPr>
        <p:txBody>
          <a:bodyPr wrap="square" lIns="0" tIns="0" rIns="0" bIns="0" rtlCol="0" anchor="ctr"/>
          <a:lstStyle/>
          <a:p>
            <a:pPr indent="0" marL="0">
              <a:buNone/>
            </a:pPr>
            <a:r>
              <a:rPr lang="en-US" sz="1400" dirty="0">
                <a:solidFill>
                  <a:srgbClr val="1A202C"/>
                </a:solidFill>
                <a:latin typeface="Calibri" pitchFamily="34" charset="0"/>
                <a:ea typeface="Calibri" pitchFamily="34" charset="-122"/>
                <a:cs typeface="Calibri" pitchFamily="34" charset="-120"/>
              </a:rPr>
              <a:t>T₂ = 0.5</a:t>
            </a:r>
            <a:endParaRPr lang="en-US" sz="1400" dirty="0"/>
          </a:p>
        </p:txBody>
      </p:sp>
      <p:sp>
        <p:nvSpPr>
          <p:cNvPr id="13" name="Text 11"/>
          <p:cNvSpPr/>
          <p:nvPr/>
        </p:nvSpPr>
        <p:spPr>
          <a:xfrm>
            <a:off x="4818888" y="1847088"/>
            <a:ext cx="3931920" cy="320040"/>
          </a:xfrm>
          <a:prstGeom prst="rect">
            <a:avLst/>
          </a:prstGeom>
          <a:noFill/>
          <a:ln/>
        </p:spPr>
        <p:txBody>
          <a:bodyPr wrap="square" lIns="0" tIns="0" rIns="0" bIns="0" rtlCol="0" anchor="ctr"/>
          <a:lstStyle/>
          <a:p>
            <a:pPr indent="0" marL="0">
              <a:buNone/>
            </a:pPr>
            <a:r>
              <a:rPr lang="en-US" sz="1400" dirty="0">
                <a:solidFill>
                  <a:srgbClr val="1A202C"/>
                </a:solidFill>
                <a:latin typeface="Calibri" pitchFamily="34" charset="0"/>
                <a:ea typeface="Calibri" pitchFamily="34" charset="-122"/>
                <a:cs typeface="Calibri" pitchFamily="34" charset="-120"/>
              </a:rPr>
              <a:t>r = 30 ref/hr</a:t>
            </a:r>
            <a:endParaRPr lang="en-US" sz="1400" dirty="0"/>
          </a:p>
        </p:txBody>
      </p:sp>
      <p:sp>
        <p:nvSpPr>
          <p:cNvPr id="14" name="Text 12"/>
          <p:cNvSpPr/>
          <p:nvPr/>
        </p:nvSpPr>
        <p:spPr>
          <a:xfrm>
            <a:off x="4818888" y="2212848"/>
            <a:ext cx="3931920" cy="347472"/>
          </a:xfrm>
          <a:prstGeom prst="rect">
            <a:avLst/>
          </a:prstGeom>
          <a:noFill/>
          <a:ln/>
        </p:spPr>
        <p:txBody>
          <a:bodyPr wrap="square" lIns="0" tIns="0" rIns="0" bIns="0" rtlCol="0" anchor="ctr"/>
          <a:lstStyle/>
          <a:p>
            <a:pPr indent="0" marL="0">
              <a:buNone/>
            </a:pPr>
            <a:r>
              <a:rPr lang="en-US" sz="1700" b="1" dirty="0">
                <a:solidFill>
                  <a:srgbClr val="276749"/>
                </a:solidFill>
                <a:latin typeface="Calibri" pitchFamily="34" charset="0"/>
                <a:ea typeface="Calibri" pitchFamily="34" charset="-122"/>
                <a:cs typeface="Calibri" pitchFamily="34" charset="-120"/>
              </a:rPr>
              <a:t>ρ₂ = 30 / 0.5 = 60 ref/hr</a:t>
            </a:r>
            <a:endParaRPr lang="en-US" sz="1700" dirty="0"/>
          </a:p>
        </p:txBody>
      </p:sp>
      <p:sp>
        <p:nvSpPr>
          <p:cNvPr id="15" name="Shape 13"/>
          <p:cNvSpPr/>
          <p:nvPr/>
        </p:nvSpPr>
        <p:spPr>
          <a:xfrm>
            <a:off x="201168" y="3291840"/>
            <a:ext cx="8741664" cy="777240"/>
          </a:xfrm>
          <a:prstGeom prst="rect">
            <a:avLst/>
          </a:prstGeom>
          <a:solidFill>
            <a:srgbClr val="FFF3E8"/>
          </a:solidFill>
          <a:ln w="15240">
            <a:solidFill>
              <a:srgbClr val="C05621"/>
            </a:solidFill>
            <a:prstDash val="solid"/>
          </a:ln>
          <a:effectLst>
            <a:outerShdw sx="100000" sy="100000" kx="0" ky="0" algn="bl" rotWithShape="0" blurRad="76200" dist="38100" dir="8100000">
              <a:srgbClr val="000000">
                <a:alpha val="10000"/>
              </a:srgbClr>
            </a:outerShdw>
          </a:effectLst>
        </p:spPr>
      </p:sp>
      <p:sp>
        <p:nvSpPr>
          <p:cNvPr id="16" name="Text 14"/>
          <p:cNvSpPr/>
          <p:nvPr/>
        </p:nvSpPr>
        <p:spPr>
          <a:xfrm>
            <a:off x="320040" y="3383280"/>
            <a:ext cx="8503920" cy="566928"/>
          </a:xfrm>
          <a:prstGeom prst="rect">
            <a:avLst/>
          </a:prstGeom>
          <a:noFill/>
          <a:ln/>
        </p:spPr>
        <p:txBody>
          <a:bodyPr wrap="square" lIns="0" tIns="0" rIns="0" bIns="0" rtlCol="0" anchor="ctr"/>
          <a:lstStyle/>
          <a:p>
            <a:pPr algn="ctr" indent="0" marL="0">
              <a:buNone/>
            </a:pPr>
            <a:r>
              <a:rPr lang="en-US" sz="1600" b="1" dirty="0">
                <a:solidFill>
                  <a:srgbClr val="C05621"/>
                </a:solidFill>
                <a:latin typeface="Calibri" pitchFamily="34" charset="0"/>
                <a:ea typeface="Calibri" pitchFamily="34" charset="-122"/>
                <a:cs typeface="Calibri" pitchFamily="34" charset="-120"/>
              </a:rPr>
              <a:t>Discrepancia:  Δ = ρ₁ − ρ₂  =  120 − 60  =  +60 ref/hr  →  Opción 1 es MÁS rentable</a:t>
            </a:r>
            <a:endParaRPr lang="en-US" sz="1600" dirty="0"/>
          </a:p>
        </p:txBody>
      </p:sp>
      <p:sp>
        <p:nvSpPr>
          <p:cNvPr id="17" name="Text 15"/>
          <p:cNvSpPr/>
          <p:nvPr/>
        </p:nvSpPr>
        <p:spPr>
          <a:xfrm>
            <a:off x="201168" y="4206240"/>
            <a:ext cx="8741664" cy="384048"/>
          </a:xfrm>
          <a:prstGeom prst="rect">
            <a:avLst/>
          </a:prstGeom>
          <a:noFill/>
          <a:ln/>
        </p:spPr>
        <p:txBody>
          <a:bodyPr wrap="square" rtlCol="0" anchor="ctr"/>
          <a:lstStyle/>
          <a:p>
            <a:pPr indent="0" marL="0">
              <a:buNone/>
            </a:pPr>
            <a:r>
              <a:rPr lang="en-US" sz="1500" b="1" dirty="0">
                <a:solidFill>
                  <a:srgbClr val="2C5282"/>
                </a:solidFill>
                <a:latin typeface="Calibri" pitchFamily="34" charset="0"/>
                <a:ea typeface="Calibri" pitchFamily="34" charset="-122"/>
                <a:cs typeface="Calibri" pitchFamily="34" charset="-120"/>
              </a:rPr>
              <a:t>Decisión del modelo:  </a:t>
            </a:r>
            <a:pPr indent="0" marL="0">
              <a:buNone/>
            </a:pPr>
            <a:r>
              <a:rPr lang="en-US" sz="1500" dirty="0">
                <a:solidFill>
                  <a:srgbClr val="1A202C"/>
                </a:solidFill>
                <a:latin typeface="Calibri" pitchFamily="34" charset="0"/>
                <a:ea typeface="Calibri" pitchFamily="34" charset="-122"/>
                <a:cs typeface="Calibri" pitchFamily="34" charset="-120"/>
              </a:rPr>
              <a:t>Δ &gt; 0   →   aumentar T₁   →   asignar más tiempo a la opción 1.</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C5282"/>
          </a:solidFill>
          <a:ln/>
        </p:spPr>
      </p:sp>
      <p:sp>
        <p:nvSpPr>
          <p:cNvPr id="3" name="Text 1"/>
          <p:cNvSpPr/>
          <p:nvPr/>
        </p:nvSpPr>
        <p:spPr>
          <a:xfrm>
            <a:off x="201168" y="164592"/>
            <a:ext cx="8778240" cy="566928"/>
          </a:xfrm>
          <a:prstGeom prst="rect">
            <a:avLst/>
          </a:prstGeom>
          <a:noFill/>
          <a:ln/>
        </p:spPr>
        <p:txBody>
          <a:bodyPr wrap="square" lIns="0" tIns="0" rIns="0" bIns="0" rtlCol="0" anchor="ctr"/>
          <a:lstStyle/>
          <a:p>
            <a:pPr indent="0" marL="0">
              <a:buNone/>
            </a:pPr>
            <a:r>
              <a:rPr lang="en-US" sz="2600" b="1" dirty="0">
                <a:solidFill>
                  <a:srgbClr val="2C5282"/>
                </a:solidFill>
                <a:latin typeface="Calibri" pitchFamily="34" charset="0"/>
                <a:ea typeface="Calibri" pitchFamily="34" charset="-122"/>
                <a:cs typeface="Calibri" pitchFamily="34" charset="-120"/>
              </a:rPr>
              <a:t>Ejemplo numérico: sobreasignación (T₁ = 0.9) — el sistema se corrige</a:t>
            </a:r>
            <a:endParaRPr lang="en-US" sz="2600" dirty="0"/>
          </a:p>
        </p:txBody>
      </p:sp>
      <p:sp>
        <p:nvSpPr>
          <p:cNvPr id="4" name="Shape 2"/>
          <p:cNvSpPr/>
          <p:nvPr/>
        </p:nvSpPr>
        <p:spPr>
          <a:xfrm>
            <a:off x="201168" y="777240"/>
            <a:ext cx="8741664" cy="0"/>
          </a:xfrm>
          <a:prstGeom prst="line">
            <a:avLst/>
          </a:prstGeom>
          <a:noFill/>
          <a:ln w="19050">
            <a:solidFill>
              <a:srgbClr val="2C5282"/>
            </a:solidFill>
            <a:prstDash val="solid"/>
          </a:ln>
        </p:spPr>
      </p:sp>
      <p:sp>
        <p:nvSpPr>
          <p:cNvPr id="5" name="Shape 3"/>
          <p:cNvSpPr/>
          <p:nvPr/>
        </p:nvSpPr>
        <p:spPr>
          <a:xfrm>
            <a:off x="201168" y="1005840"/>
            <a:ext cx="4206240" cy="2286000"/>
          </a:xfrm>
          <a:prstGeom prst="rect">
            <a:avLst/>
          </a:prstGeom>
          <a:solidFill>
            <a:srgbClr val="EBF4FF"/>
          </a:solidFill>
          <a:ln w="15240">
            <a:solidFill>
              <a:srgbClr val="2C5282"/>
            </a:solidFill>
            <a:prstDash val="solid"/>
          </a:ln>
          <a:effectLst>
            <a:outerShdw sx="100000" sy="100000" kx="0" ky="0" algn="bl" rotWithShape="0" blurRad="76200" dist="38100" dir="8100000">
              <a:srgbClr val="000000">
                <a:alpha val="10000"/>
              </a:srgbClr>
            </a:outerShdw>
          </a:effectLst>
        </p:spPr>
      </p:sp>
      <p:sp>
        <p:nvSpPr>
          <p:cNvPr id="6" name="Text 4"/>
          <p:cNvSpPr/>
          <p:nvPr/>
        </p:nvSpPr>
        <p:spPr>
          <a:xfrm>
            <a:off x="338328" y="1115568"/>
            <a:ext cx="3931920" cy="320040"/>
          </a:xfrm>
          <a:prstGeom prst="rect">
            <a:avLst/>
          </a:prstGeom>
          <a:noFill/>
          <a:ln/>
        </p:spPr>
        <p:txBody>
          <a:bodyPr wrap="square" lIns="0" tIns="0" rIns="0" bIns="0" rtlCol="0" anchor="ctr"/>
          <a:lstStyle/>
          <a:p>
            <a:pPr indent="0" marL="0">
              <a:buNone/>
            </a:pPr>
            <a:r>
              <a:rPr lang="en-US" sz="1500" b="1" dirty="0">
                <a:solidFill>
                  <a:srgbClr val="2C5282"/>
                </a:solidFill>
                <a:latin typeface="Calibri" pitchFamily="34" charset="0"/>
                <a:ea typeface="Calibri" pitchFamily="34" charset="-122"/>
                <a:cs typeface="Calibri" pitchFamily="34" charset="-120"/>
              </a:rPr>
              <a:t>IV 1 min</a:t>
            </a:r>
            <a:endParaRPr lang="en-US" sz="1500" dirty="0"/>
          </a:p>
        </p:txBody>
      </p:sp>
      <p:sp>
        <p:nvSpPr>
          <p:cNvPr id="7" name="Text 5"/>
          <p:cNvSpPr/>
          <p:nvPr/>
        </p:nvSpPr>
        <p:spPr>
          <a:xfrm>
            <a:off x="338328" y="1481328"/>
            <a:ext cx="3931920" cy="320040"/>
          </a:xfrm>
          <a:prstGeom prst="rect">
            <a:avLst/>
          </a:prstGeom>
          <a:noFill/>
          <a:ln/>
        </p:spPr>
        <p:txBody>
          <a:bodyPr wrap="square" lIns="0" tIns="0" rIns="0" bIns="0" rtlCol="0" anchor="ctr"/>
          <a:lstStyle/>
          <a:p>
            <a:pPr indent="0" marL="0">
              <a:buNone/>
            </a:pPr>
            <a:r>
              <a:rPr lang="en-US" sz="1400" dirty="0">
                <a:solidFill>
                  <a:srgbClr val="1A202C"/>
                </a:solidFill>
                <a:latin typeface="Calibri" pitchFamily="34" charset="0"/>
                <a:ea typeface="Calibri" pitchFamily="34" charset="-122"/>
                <a:cs typeface="Calibri" pitchFamily="34" charset="-120"/>
              </a:rPr>
              <a:t>T₁ = 0.9</a:t>
            </a:r>
            <a:endParaRPr lang="en-US" sz="1400" dirty="0"/>
          </a:p>
        </p:txBody>
      </p:sp>
      <p:sp>
        <p:nvSpPr>
          <p:cNvPr id="8" name="Text 6"/>
          <p:cNvSpPr/>
          <p:nvPr/>
        </p:nvSpPr>
        <p:spPr>
          <a:xfrm>
            <a:off x="338328" y="1828800"/>
            <a:ext cx="3931920" cy="347472"/>
          </a:xfrm>
          <a:prstGeom prst="rect">
            <a:avLst/>
          </a:prstGeom>
          <a:noFill/>
          <a:ln/>
        </p:spPr>
        <p:txBody>
          <a:bodyPr wrap="square" lIns="0" tIns="0" rIns="0" bIns="0" rtlCol="0" anchor="ctr"/>
          <a:lstStyle/>
          <a:p>
            <a:pPr indent="0" marL="0">
              <a:buNone/>
            </a:pPr>
            <a:r>
              <a:rPr lang="en-US" sz="1700" b="1" dirty="0">
                <a:solidFill>
                  <a:srgbClr val="2C5282"/>
                </a:solidFill>
                <a:latin typeface="Calibri" pitchFamily="34" charset="0"/>
                <a:ea typeface="Calibri" pitchFamily="34" charset="-122"/>
                <a:cs typeface="Calibri" pitchFamily="34" charset="-120"/>
              </a:rPr>
              <a:t>ρ₁ = 60 / 0.9 = 66.7 ref/hr</a:t>
            </a:r>
            <a:endParaRPr lang="en-US" sz="1700" dirty="0"/>
          </a:p>
        </p:txBody>
      </p:sp>
      <p:sp>
        <p:nvSpPr>
          <p:cNvPr id="9" name="Text 7"/>
          <p:cNvSpPr/>
          <p:nvPr/>
        </p:nvSpPr>
        <p:spPr>
          <a:xfrm>
            <a:off x="338328" y="2240280"/>
            <a:ext cx="3931920" cy="384048"/>
          </a:xfrm>
          <a:prstGeom prst="rect">
            <a:avLst/>
          </a:prstGeom>
          <a:noFill/>
          <a:ln/>
        </p:spPr>
        <p:txBody>
          <a:bodyPr wrap="square" lIns="0" tIns="0" rIns="0" bIns="0" rtlCol="0" anchor="ctr"/>
          <a:lstStyle/>
          <a:p>
            <a:pPr indent="0" marL="0">
              <a:buNone/>
            </a:pPr>
            <a:r>
              <a:rPr lang="en-US" sz="1300" i="1" dirty="0">
                <a:solidFill>
                  <a:srgbClr val="718096"/>
                </a:solidFill>
                <a:latin typeface="Calibri" pitchFamily="34" charset="0"/>
                <a:ea typeface="Calibri" pitchFamily="34" charset="-122"/>
                <a:cs typeface="Calibri" pitchFamily="34" charset="-120"/>
              </a:rPr>
              <a:t>Tasa colapsó — demasiado tiempo</a:t>
            </a:r>
            <a:endParaRPr lang="en-US" sz="1300" dirty="0"/>
          </a:p>
        </p:txBody>
      </p:sp>
      <p:sp>
        <p:nvSpPr>
          <p:cNvPr id="10" name="Shape 8"/>
          <p:cNvSpPr/>
          <p:nvPr/>
        </p:nvSpPr>
        <p:spPr>
          <a:xfrm>
            <a:off x="4681728" y="1005840"/>
            <a:ext cx="4206240" cy="2286000"/>
          </a:xfrm>
          <a:prstGeom prst="rect">
            <a:avLst/>
          </a:prstGeom>
          <a:solidFill>
            <a:srgbClr val="FFF3E8"/>
          </a:solidFill>
          <a:ln w="15240">
            <a:solidFill>
              <a:srgbClr val="C05621"/>
            </a:solidFill>
            <a:prstDash val="solid"/>
          </a:ln>
          <a:effectLst>
            <a:outerShdw sx="100000" sy="100000" kx="0" ky="0" algn="bl" rotWithShape="0" blurRad="76200" dist="38100" dir="8100000">
              <a:srgbClr val="000000">
                <a:alpha val="10000"/>
              </a:srgbClr>
            </a:outerShdw>
          </a:effectLst>
        </p:spPr>
      </p:sp>
      <p:sp>
        <p:nvSpPr>
          <p:cNvPr id="11" name="Text 9"/>
          <p:cNvSpPr/>
          <p:nvPr/>
        </p:nvSpPr>
        <p:spPr>
          <a:xfrm>
            <a:off x="4818888" y="1115568"/>
            <a:ext cx="3931920" cy="320040"/>
          </a:xfrm>
          <a:prstGeom prst="rect">
            <a:avLst/>
          </a:prstGeom>
          <a:noFill/>
          <a:ln/>
        </p:spPr>
        <p:txBody>
          <a:bodyPr wrap="square" lIns="0" tIns="0" rIns="0" bIns="0" rtlCol="0" anchor="ctr"/>
          <a:lstStyle/>
          <a:p>
            <a:pPr indent="0" marL="0">
              <a:buNone/>
            </a:pPr>
            <a:r>
              <a:rPr lang="en-US" sz="1500" b="1" dirty="0">
                <a:solidFill>
                  <a:srgbClr val="C05621"/>
                </a:solidFill>
                <a:latin typeface="Calibri" pitchFamily="34" charset="0"/>
                <a:ea typeface="Calibri" pitchFamily="34" charset="-122"/>
                <a:cs typeface="Calibri" pitchFamily="34" charset="-120"/>
              </a:rPr>
              <a:t>IV 2 min</a:t>
            </a:r>
            <a:endParaRPr lang="en-US" sz="1500" dirty="0"/>
          </a:p>
        </p:txBody>
      </p:sp>
      <p:sp>
        <p:nvSpPr>
          <p:cNvPr id="12" name="Text 10"/>
          <p:cNvSpPr/>
          <p:nvPr/>
        </p:nvSpPr>
        <p:spPr>
          <a:xfrm>
            <a:off x="4818888" y="1481328"/>
            <a:ext cx="3931920" cy="320040"/>
          </a:xfrm>
          <a:prstGeom prst="rect">
            <a:avLst/>
          </a:prstGeom>
          <a:noFill/>
          <a:ln/>
        </p:spPr>
        <p:txBody>
          <a:bodyPr wrap="square" lIns="0" tIns="0" rIns="0" bIns="0" rtlCol="0" anchor="ctr"/>
          <a:lstStyle/>
          <a:p>
            <a:pPr indent="0" marL="0">
              <a:buNone/>
            </a:pPr>
            <a:r>
              <a:rPr lang="en-US" sz="1400" dirty="0">
                <a:solidFill>
                  <a:srgbClr val="1A202C"/>
                </a:solidFill>
                <a:latin typeface="Calibri" pitchFamily="34" charset="0"/>
                <a:ea typeface="Calibri" pitchFamily="34" charset="-122"/>
                <a:cs typeface="Calibri" pitchFamily="34" charset="-120"/>
              </a:rPr>
              <a:t>T₂ = 0.1</a:t>
            </a:r>
            <a:endParaRPr lang="en-US" sz="1400" dirty="0"/>
          </a:p>
        </p:txBody>
      </p:sp>
      <p:sp>
        <p:nvSpPr>
          <p:cNvPr id="13" name="Text 11"/>
          <p:cNvSpPr/>
          <p:nvPr/>
        </p:nvSpPr>
        <p:spPr>
          <a:xfrm>
            <a:off x="4818888" y="1828800"/>
            <a:ext cx="3931920" cy="347472"/>
          </a:xfrm>
          <a:prstGeom prst="rect">
            <a:avLst/>
          </a:prstGeom>
          <a:noFill/>
          <a:ln/>
        </p:spPr>
        <p:txBody>
          <a:bodyPr wrap="square" lIns="0" tIns="0" rIns="0" bIns="0" rtlCol="0" anchor="ctr"/>
          <a:lstStyle/>
          <a:p>
            <a:pPr indent="0" marL="0">
              <a:buNone/>
            </a:pPr>
            <a:r>
              <a:rPr lang="en-US" sz="1700" b="1" dirty="0">
                <a:solidFill>
                  <a:srgbClr val="C05621"/>
                </a:solidFill>
                <a:latin typeface="Calibri" pitchFamily="34" charset="0"/>
                <a:ea typeface="Calibri" pitchFamily="34" charset="-122"/>
                <a:cs typeface="Calibri" pitchFamily="34" charset="-120"/>
              </a:rPr>
              <a:t>ρ₂ = 30 / 0.1 = 300 ref/hr</a:t>
            </a:r>
            <a:endParaRPr lang="en-US" sz="1700" dirty="0"/>
          </a:p>
        </p:txBody>
      </p:sp>
      <p:sp>
        <p:nvSpPr>
          <p:cNvPr id="14" name="Text 12"/>
          <p:cNvSpPr/>
          <p:nvPr/>
        </p:nvSpPr>
        <p:spPr>
          <a:xfrm>
            <a:off x="4818888" y="2240280"/>
            <a:ext cx="3931920" cy="384048"/>
          </a:xfrm>
          <a:prstGeom prst="rect">
            <a:avLst/>
          </a:prstGeom>
          <a:noFill/>
          <a:ln/>
        </p:spPr>
        <p:txBody>
          <a:bodyPr wrap="square" lIns="0" tIns="0" rIns="0" bIns="0" rtlCol="0" anchor="ctr"/>
          <a:lstStyle/>
          <a:p>
            <a:pPr indent="0" marL="0">
              <a:buNone/>
            </a:pPr>
            <a:r>
              <a:rPr lang="en-US" sz="1300" i="1" dirty="0">
                <a:solidFill>
                  <a:srgbClr val="718096"/>
                </a:solidFill>
                <a:latin typeface="Calibri" pitchFamily="34" charset="0"/>
                <a:ea typeface="Calibri" pitchFamily="34" charset="-122"/>
                <a:cs typeface="Calibri" pitchFamily="34" charset="-120"/>
              </a:rPr>
              <a:t>Tasa disparada — poco tiempo</a:t>
            </a:r>
            <a:endParaRPr lang="en-US" sz="1300" dirty="0"/>
          </a:p>
        </p:txBody>
      </p:sp>
      <p:sp>
        <p:nvSpPr>
          <p:cNvPr id="15" name="Shape 13"/>
          <p:cNvSpPr/>
          <p:nvPr/>
        </p:nvSpPr>
        <p:spPr>
          <a:xfrm>
            <a:off x="201168" y="3429000"/>
            <a:ext cx="8741664" cy="777240"/>
          </a:xfrm>
          <a:prstGeom prst="rect">
            <a:avLst/>
          </a:prstGeom>
          <a:solidFill>
            <a:srgbClr val="FDE8E8"/>
          </a:solidFill>
          <a:ln w="15240">
            <a:solidFill>
              <a:srgbClr val="9B2335"/>
            </a:solidFill>
            <a:prstDash val="solid"/>
          </a:ln>
          <a:effectLst>
            <a:outerShdw sx="100000" sy="100000" kx="0" ky="0" algn="bl" rotWithShape="0" blurRad="76200" dist="38100" dir="8100000">
              <a:srgbClr val="000000">
                <a:alpha val="10000"/>
              </a:srgbClr>
            </a:outerShdw>
          </a:effectLst>
        </p:spPr>
      </p:sp>
      <p:sp>
        <p:nvSpPr>
          <p:cNvPr id="16" name="Text 14"/>
          <p:cNvSpPr/>
          <p:nvPr/>
        </p:nvSpPr>
        <p:spPr>
          <a:xfrm>
            <a:off x="320040" y="3520440"/>
            <a:ext cx="8503920" cy="566928"/>
          </a:xfrm>
          <a:prstGeom prst="rect">
            <a:avLst/>
          </a:prstGeom>
          <a:noFill/>
          <a:ln/>
        </p:spPr>
        <p:txBody>
          <a:bodyPr wrap="square" lIns="0" tIns="0" rIns="0" bIns="0" rtlCol="0" anchor="ctr"/>
          <a:lstStyle/>
          <a:p>
            <a:pPr algn="ctr" indent="0" marL="0">
              <a:buNone/>
            </a:pPr>
            <a:r>
              <a:rPr lang="en-US" sz="1600" b="1" dirty="0">
                <a:solidFill>
                  <a:srgbClr val="9B2335"/>
                </a:solidFill>
                <a:latin typeface="Calibri" pitchFamily="34" charset="0"/>
                <a:ea typeface="Calibri" pitchFamily="34" charset="-122"/>
                <a:cs typeface="Calibri" pitchFamily="34" charset="-120"/>
              </a:rPr>
              <a:t>Δ = ρ₁ − ρ₂  =  66.7 − 300  =  −233 ref/hr  →  Opción 2 ahora es MUCHO más rentable</a:t>
            </a:r>
            <a:endParaRPr lang="en-US" sz="1600" dirty="0"/>
          </a:p>
        </p:txBody>
      </p:sp>
      <p:sp>
        <p:nvSpPr>
          <p:cNvPr id="17" name="Text 15"/>
          <p:cNvSpPr/>
          <p:nvPr/>
        </p:nvSpPr>
        <p:spPr>
          <a:xfrm>
            <a:off x="201168" y="4343400"/>
            <a:ext cx="8741664" cy="457200"/>
          </a:xfrm>
          <a:prstGeom prst="rect">
            <a:avLst/>
          </a:prstGeom>
          <a:noFill/>
          <a:ln/>
        </p:spPr>
        <p:txBody>
          <a:bodyPr wrap="square" rtlCol="0" anchor="ctr"/>
          <a:lstStyle/>
          <a:p>
            <a:pPr indent="0" marL="0">
              <a:buNone/>
            </a:pPr>
            <a:r>
              <a:rPr lang="en-US" sz="1500" b="1" dirty="0">
                <a:solidFill>
                  <a:srgbClr val="2C5282"/>
                </a:solidFill>
                <a:latin typeface="Calibri" pitchFamily="34" charset="0"/>
                <a:ea typeface="Calibri" pitchFamily="34" charset="-122"/>
                <a:cs typeface="Calibri" pitchFamily="34" charset="-120"/>
              </a:rPr>
              <a:t>Decisión:  </a:t>
            </a:r>
            <a:pPr indent="0" marL="0">
              <a:buNone/>
            </a:pPr>
            <a:r>
              <a:rPr lang="en-US" sz="1500" dirty="0">
                <a:solidFill>
                  <a:srgbClr val="1A202C"/>
                </a:solidFill>
                <a:latin typeface="Calibri" pitchFamily="34" charset="0"/>
                <a:ea typeface="Calibri" pitchFamily="34" charset="-122"/>
                <a:cs typeface="Calibri" pitchFamily="34" charset="-120"/>
              </a:rPr>
              <a:t>Δ &lt; 0   →   aumentar T₂   →   reasignar tiempo hacia la opción 2.  </a:t>
            </a:r>
            <a:pPr indent="0" marL="0">
              <a:buNone/>
            </a:pPr>
            <a:r>
              <a:rPr lang="en-US" sz="1500" b="1" dirty="0">
                <a:solidFill>
                  <a:srgbClr val="C05621"/>
                </a:solidFill>
                <a:latin typeface="Calibri" pitchFamily="34" charset="0"/>
                <a:ea typeface="Calibri" pitchFamily="34" charset="-122"/>
                <a:cs typeface="Calibri" pitchFamily="34" charset="-120"/>
              </a:rPr>
              <a:t>El sistema oscila alrededor del punto donde Δ = 0.</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C5282"/>
          </a:solidFill>
          <a:ln/>
        </p:spPr>
      </p:sp>
      <p:sp>
        <p:nvSpPr>
          <p:cNvPr id="3" name="Text 1"/>
          <p:cNvSpPr/>
          <p:nvPr/>
        </p:nvSpPr>
        <p:spPr>
          <a:xfrm>
            <a:off x="201168" y="164592"/>
            <a:ext cx="8778240" cy="566928"/>
          </a:xfrm>
          <a:prstGeom prst="rect">
            <a:avLst/>
          </a:prstGeom>
          <a:noFill/>
          <a:ln/>
        </p:spPr>
        <p:txBody>
          <a:bodyPr wrap="square" lIns="0" tIns="0" rIns="0" bIns="0" rtlCol="0" anchor="ctr"/>
          <a:lstStyle/>
          <a:p>
            <a:pPr indent="0" marL="0">
              <a:buNone/>
            </a:pPr>
            <a:r>
              <a:rPr lang="en-US" sz="2600" b="1" dirty="0">
                <a:solidFill>
                  <a:srgbClr val="2C5282"/>
                </a:solidFill>
                <a:latin typeface="Calibri" pitchFamily="34" charset="0"/>
                <a:ea typeface="Calibri" pitchFamily="34" charset="-122"/>
                <a:cs typeface="Calibri" pitchFamily="34" charset="-120"/>
              </a:rPr>
              <a:t>La condición de equilibrio algebraico: Δ = 0</a:t>
            </a:r>
            <a:endParaRPr lang="en-US" sz="2600" dirty="0"/>
          </a:p>
        </p:txBody>
      </p:sp>
      <p:sp>
        <p:nvSpPr>
          <p:cNvPr id="4" name="Shape 2"/>
          <p:cNvSpPr/>
          <p:nvPr/>
        </p:nvSpPr>
        <p:spPr>
          <a:xfrm>
            <a:off x="201168" y="777240"/>
            <a:ext cx="8741664" cy="0"/>
          </a:xfrm>
          <a:prstGeom prst="line">
            <a:avLst/>
          </a:prstGeom>
          <a:noFill/>
          <a:ln w="19050">
            <a:solidFill>
              <a:srgbClr val="2C5282"/>
            </a:solidFill>
            <a:prstDash val="solid"/>
          </a:ln>
        </p:spPr>
      </p:sp>
      <p:sp>
        <p:nvSpPr>
          <p:cNvPr id="5" name="Text 3"/>
          <p:cNvSpPr/>
          <p:nvPr/>
        </p:nvSpPr>
        <p:spPr>
          <a:xfrm>
            <a:off x="201168" y="914400"/>
            <a:ext cx="8741664" cy="384048"/>
          </a:xfrm>
          <a:prstGeom prst="rect">
            <a:avLst/>
          </a:prstGeom>
          <a:noFill/>
          <a:ln/>
        </p:spPr>
        <p:txBody>
          <a:bodyPr wrap="square" rtlCol="0" anchor="ctr"/>
          <a:lstStyle/>
          <a:p>
            <a:pPr indent="0" marL="0">
              <a:buNone/>
            </a:pPr>
            <a:r>
              <a:rPr lang="en-US" sz="1500" dirty="0">
                <a:solidFill>
                  <a:srgbClr val="1A202C"/>
                </a:solidFill>
                <a:latin typeface="Calibri" pitchFamily="34" charset="0"/>
                <a:ea typeface="Calibri" pitchFamily="34" charset="-122"/>
                <a:cs typeface="Calibri" pitchFamily="34" charset="-120"/>
              </a:rPr>
              <a:t>El organismo deja de redistribuir su tiempo cuando las tasas locales son iguales:</a:t>
            </a:r>
            <a:endParaRPr lang="en-US" sz="1500" dirty="0"/>
          </a:p>
        </p:txBody>
      </p:sp>
      <p:sp>
        <p:nvSpPr>
          <p:cNvPr id="6" name="Shape 4"/>
          <p:cNvSpPr/>
          <p:nvPr/>
        </p:nvSpPr>
        <p:spPr>
          <a:xfrm>
            <a:off x="201168" y="1417320"/>
            <a:ext cx="8741664" cy="960120"/>
          </a:xfrm>
          <a:prstGeom prst="rect">
            <a:avLst/>
          </a:prstGeom>
          <a:solidFill>
            <a:srgbClr val="EBF4FF"/>
          </a:solidFill>
          <a:ln w="15240">
            <a:solidFill>
              <a:srgbClr val="2C5282"/>
            </a:solidFill>
            <a:prstDash val="solid"/>
          </a:ln>
          <a:effectLst>
            <a:outerShdw sx="100000" sy="100000" kx="0" ky="0" algn="bl" rotWithShape="0" blurRad="76200" dist="38100" dir="8100000">
              <a:srgbClr val="000000">
                <a:alpha val="10000"/>
              </a:srgbClr>
            </a:outerShdw>
          </a:effectLst>
        </p:spPr>
      </p:sp>
      <p:sp>
        <p:nvSpPr>
          <p:cNvPr id="7" name="Text 5"/>
          <p:cNvSpPr/>
          <p:nvPr/>
        </p:nvSpPr>
        <p:spPr>
          <a:xfrm>
            <a:off x="320040" y="1508760"/>
            <a:ext cx="3200400" cy="347472"/>
          </a:xfrm>
          <a:prstGeom prst="rect">
            <a:avLst/>
          </a:prstGeom>
          <a:noFill/>
          <a:ln/>
        </p:spPr>
        <p:txBody>
          <a:bodyPr wrap="square" lIns="0" tIns="0" rIns="0" bIns="0" rtlCol="0" anchor="ctr"/>
          <a:lstStyle/>
          <a:p>
            <a:pPr indent="0" marL="0">
              <a:buNone/>
            </a:pPr>
            <a:r>
              <a:rPr lang="en-US" sz="1300" b="1" dirty="0">
                <a:solidFill>
                  <a:srgbClr val="2C5282"/>
                </a:solidFill>
                <a:latin typeface="Calibri" pitchFamily="34" charset="0"/>
                <a:ea typeface="Calibri" pitchFamily="34" charset="-122"/>
                <a:cs typeface="Calibri" pitchFamily="34" charset="-120"/>
              </a:rPr>
              <a:t>Condición de equilibrio:</a:t>
            </a:r>
            <a:endParaRPr lang="en-US" sz="1300" dirty="0"/>
          </a:p>
        </p:txBody>
      </p:sp>
      <p:sp>
        <p:nvSpPr>
          <p:cNvPr id="8" name="Text 6"/>
          <p:cNvSpPr/>
          <p:nvPr/>
        </p:nvSpPr>
        <p:spPr>
          <a:xfrm>
            <a:off x="3200400" y="1581912"/>
            <a:ext cx="5212080" cy="502920"/>
          </a:xfrm>
          <a:prstGeom prst="rect">
            <a:avLst/>
          </a:prstGeom>
          <a:noFill/>
          <a:ln/>
        </p:spPr>
        <p:txBody>
          <a:bodyPr wrap="square" lIns="0" tIns="0" rIns="0" bIns="0" rtlCol="0" anchor="ctr"/>
          <a:lstStyle/>
          <a:p>
            <a:pPr algn="ctr" indent="0" marL="0">
              <a:buNone/>
            </a:pPr>
            <a:r>
              <a:rPr lang="en-US" sz="2000" b="1" dirty="0">
                <a:solidFill>
                  <a:srgbClr val="1A3457"/>
                </a:solidFill>
                <a:latin typeface="Calibri" pitchFamily="34" charset="0"/>
                <a:ea typeface="Calibri" pitchFamily="34" charset="-122"/>
                <a:cs typeface="Calibri" pitchFamily="34" charset="-120"/>
              </a:rPr>
              <a:t>ρ₁  =  ρ₂</a:t>
            </a:r>
            <a:endParaRPr lang="en-US" sz="2000" dirty="0"/>
          </a:p>
        </p:txBody>
      </p:sp>
      <p:sp>
        <p:nvSpPr>
          <p:cNvPr id="9" name="Text 7"/>
          <p:cNvSpPr/>
          <p:nvPr/>
        </p:nvSpPr>
        <p:spPr>
          <a:xfrm>
            <a:off x="3200400" y="2075688"/>
            <a:ext cx="5212080" cy="228600"/>
          </a:xfrm>
          <a:prstGeom prst="rect">
            <a:avLst/>
          </a:prstGeom>
          <a:noFill/>
          <a:ln/>
        </p:spPr>
        <p:txBody>
          <a:bodyPr wrap="square" lIns="0" tIns="0" rIns="0" bIns="0" rtlCol="0" anchor="ctr"/>
          <a:lstStyle/>
          <a:p>
            <a:pPr algn="ctr" indent="0" marL="0">
              <a:buNone/>
            </a:pPr>
            <a:r>
              <a:rPr lang="en-US" sz="1100" i="1" dirty="0">
                <a:solidFill>
                  <a:srgbClr val="718096"/>
                </a:solidFill>
                <a:latin typeface="Calibri" pitchFamily="34" charset="0"/>
                <a:ea typeface="Calibri" pitchFamily="34" charset="-122"/>
                <a:cs typeface="Calibri" pitchFamily="34" charset="-120"/>
              </a:rPr>
              <a:t>las tasas locales son idénticas</a:t>
            </a:r>
            <a:endParaRPr lang="en-US" sz="1100" dirty="0"/>
          </a:p>
        </p:txBody>
      </p:sp>
      <p:sp>
        <p:nvSpPr>
          <p:cNvPr id="10" name="Text 8"/>
          <p:cNvSpPr/>
          <p:nvPr/>
        </p:nvSpPr>
        <p:spPr>
          <a:xfrm>
            <a:off x="8595360" y="1801368"/>
            <a:ext cx="320040" cy="320040"/>
          </a:xfrm>
          <a:prstGeom prst="rect">
            <a:avLst/>
          </a:prstGeom>
          <a:noFill/>
          <a:ln/>
        </p:spPr>
        <p:txBody>
          <a:bodyPr wrap="square" lIns="0" tIns="0" rIns="0" bIns="0" rtlCol="0" anchor="ctr"/>
          <a:lstStyle/>
          <a:p>
            <a:pPr algn="ctr" indent="0" marL="0">
              <a:buNone/>
            </a:pPr>
            <a:r>
              <a:rPr lang="en-US" sz="1600" dirty="0">
                <a:solidFill>
                  <a:srgbClr val="2C5282"/>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201168" y="2514600"/>
            <a:ext cx="8741664" cy="960120"/>
          </a:xfrm>
          <a:prstGeom prst="rect">
            <a:avLst/>
          </a:prstGeom>
          <a:solidFill>
            <a:srgbClr val="EBF4FF"/>
          </a:solidFill>
          <a:ln w="15240">
            <a:solidFill>
              <a:srgbClr val="2C5282"/>
            </a:solidFill>
            <a:prstDash val="solid"/>
          </a:ln>
          <a:effectLst>
            <a:outerShdw sx="100000" sy="100000" kx="0" ky="0" algn="bl" rotWithShape="0" blurRad="76200" dist="38100" dir="8100000">
              <a:srgbClr val="000000">
                <a:alpha val="10000"/>
              </a:srgbClr>
            </a:outerShdw>
          </a:effectLst>
        </p:spPr>
      </p:sp>
      <p:sp>
        <p:nvSpPr>
          <p:cNvPr id="12" name="Text 10"/>
          <p:cNvSpPr/>
          <p:nvPr/>
        </p:nvSpPr>
        <p:spPr>
          <a:xfrm>
            <a:off x="320040" y="2606040"/>
            <a:ext cx="3200400" cy="347472"/>
          </a:xfrm>
          <a:prstGeom prst="rect">
            <a:avLst/>
          </a:prstGeom>
          <a:noFill/>
          <a:ln/>
        </p:spPr>
        <p:txBody>
          <a:bodyPr wrap="square" lIns="0" tIns="0" rIns="0" bIns="0" rtlCol="0" anchor="ctr"/>
          <a:lstStyle/>
          <a:p>
            <a:pPr indent="0" marL="0">
              <a:buNone/>
            </a:pPr>
            <a:r>
              <a:rPr lang="en-US" sz="1300" b="1" dirty="0">
                <a:solidFill>
                  <a:srgbClr val="2C5282"/>
                </a:solidFill>
                <a:latin typeface="Calibri" pitchFamily="34" charset="0"/>
                <a:ea typeface="Calibri" pitchFamily="34" charset="-122"/>
                <a:cs typeface="Calibri" pitchFamily="34" charset="-120"/>
              </a:rPr>
              <a:t>Sustituyendo la definición:</a:t>
            </a:r>
            <a:endParaRPr lang="en-US" sz="1300" dirty="0"/>
          </a:p>
        </p:txBody>
      </p:sp>
      <p:sp>
        <p:nvSpPr>
          <p:cNvPr id="13" name="Text 11"/>
          <p:cNvSpPr/>
          <p:nvPr/>
        </p:nvSpPr>
        <p:spPr>
          <a:xfrm>
            <a:off x="3200400" y="2679192"/>
            <a:ext cx="5212080" cy="502920"/>
          </a:xfrm>
          <a:prstGeom prst="rect">
            <a:avLst/>
          </a:prstGeom>
          <a:noFill/>
          <a:ln/>
        </p:spPr>
        <p:txBody>
          <a:bodyPr wrap="square" lIns="0" tIns="0" rIns="0" bIns="0" rtlCol="0" anchor="ctr"/>
          <a:lstStyle/>
          <a:p>
            <a:pPr algn="ctr" indent="0" marL="0">
              <a:buNone/>
            </a:pPr>
            <a:r>
              <a:rPr lang="en-US" sz="2000" b="1" dirty="0">
                <a:solidFill>
                  <a:srgbClr val="1A3457"/>
                </a:solidFill>
                <a:latin typeface="Calibri" pitchFamily="34" charset="0"/>
                <a:ea typeface="Calibri" pitchFamily="34" charset="-122"/>
                <a:cs typeface="Calibri" pitchFamily="34" charset="-120"/>
              </a:rPr>
              <a:t>r₁ / T₁*  =  r₂ / T₂*</a:t>
            </a:r>
            <a:endParaRPr lang="en-US" sz="2000" dirty="0"/>
          </a:p>
        </p:txBody>
      </p:sp>
      <p:sp>
        <p:nvSpPr>
          <p:cNvPr id="14" name="Text 12"/>
          <p:cNvSpPr/>
          <p:nvPr/>
        </p:nvSpPr>
        <p:spPr>
          <a:xfrm>
            <a:off x="8595360" y="2898648"/>
            <a:ext cx="320040" cy="320040"/>
          </a:xfrm>
          <a:prstGeom prst="rect">
            <a:avLst/>
          </a:prstGeom>
          <a:noFill/>
          <a:ln/>
        </p:spPr>
        <p:txBody>
          <a:bodyPr wrap="square" lIns="0" tIns="0" rIns="0" bIns="0" rtlCol="0" anchor="ctr"/>
          <a:lstStyle/>
          <a:p>
            <a:pPr algn="ctr" indent="0" marL="0">
              <a:buNone/>
            </a:pPr>
            <a:r>
              <a:rPr lang="en-US" sz="1600" dirty="0">
                <a:solidFill>
                  <a:srgbClr val="2C5282"/>
                </a:solidFill>
                <a:latin typeface="Calibri" pitchFamily="34" charset="0"/>
                <a:ea typeface="Calibri" pitchFamily="34" charset="-122"/>
                <a:cs typeface="Calibri" pitchFamily="34" charset="-120"/>
              </a:rPr>
              <a:t>⬇</a:t>
            </a:r>
            <a:endParaRPr lang="en-US" sz="1600" dirty="0"/>
          </a:p>
        </p:txBody>
      </p:sp>
      <p:sp>
        <p:nvSpPr>
          <p:cNvPr id="15" name="Shape 13"/>
          <p:cNvSpPr/>
          <p:nvPr/>
        </p:nvSpPr>
        <p:spPr>
          <a:xfrm>
            <a:off x="201168" y="3611880"/>
            <a:ext cx="8741664" cy="960120"/>
          </a:xfrm>
          <a:prstGeom prst="rect">
            <a:avLst/>
          </a:prstGeom>
          <a:solidFill>
            <a:srgbClr val="E6F4ED"/>
          </a:solidFill>
          <a:ln w="15240">
            <a:solidFill>
              <a:srgbClr val="276749"/>
            </a:solidFill>
            <a:prstDash val="solid"/>
          </a:ln>
          <a:effectLst>
            <a:outerShdw sx="100000" sy="100000" kx="0" ky="0" algn="bl" rotWithShape="0" blurRad="76200" dist="38100" dir="8100000">
              <a:srgbClr val="000000">
                <a:alpha val="10000"/>
              </a:srgbClr>
            </a:outerShdw>
          </a:effectLst>
        </p:spPr>
      </p:sp>
      <p:sp>
        <p:nvSpPr>
          <p:cNvPr id="16" name="Text 14"/>
          <p:cNvSpPr/>
          <p:nvPr/>
        </p:nvSpPr>
        <p:spPr>
          <a:xfrm>
            <a:off x="320040" y="3703320"/>
            <a:ext cx="3200400" cy="347472"/>
          </a:xfrm>
          <a:prstGeom prst="rect">
            <a:avLst/>
          </a:prstGeom>
          <a:noFill/>
          <a:ln/>
        </p:spPr>
        <p:txBody>
          <a:bodyPr wrap="square" lIns="0" tIns="0" rIns="0" bIns="0" rtlCol="0" anchor="ctr"/>
          <a:lstStyle/>
          <a:p>
            <a:pPr indent="0" marL="0">
              <a:buNone/>
            </a:pPr>
            <a:r>
              <a:rPr lang="en-US" sz="1300" b="1" dirty="0">
                <a:solidFill>
                  <a:srgbClr val="276749"/>
                </a:solidFill>
                <a:latin typeface="Calibri" pitchFamily="34" charset="0"/>
                <a:ea typeface="Calibri" pitchFamily="34" charset="-122"/>
                <a:cs typeface="Calibri" pitchFamily="34" charset="-120"/>
              </a:rPr>
              <a:t>Reorganizando:</a:t>
            </a:r>
            <a:endParaRPr lang="en-US" sz="1300" dirty="0"/>
          </a:p>
        </p:txBody>
      </p:sp>
      <p:sp>
        <p:nvSpPr>
          <p:cNvPr id="17" name="Text 15"/>
          <p:cNvSpPr/>
          <p:nvPr/>
        </p:nvSpPr>
        <p:spPr>
          <a:xfrm>
            <a:off x="3200400" y="3776472"/>
            <a:ext cx="5212080" cy="502920"/>
          </a:xfrm>
          <a:prstGeom prst="rect">
            <a:avLst/>
          </a:prstGeom>
          <a:noFill/>
          <a:ln/>
        </p:spPr>
        <p:txBody>
          <a:bodyPr wrap="square" lIns="0" tIns="0" rIns="0" bIns="0" rtlCol="0" anchor="ctr"/>
          <a:lstStyle/>
          <a:p>
            <a:pPr algn="ctr" indent="0" marL="0">
              <a:buNone/>
            </a:pPr>
            <a:r>
              <a:rPr lang="en-US" sz="2000" b="1" dirty="0">
                <a:solidFill>
                  <a:srgbClr val="276749"/>
                </a:solidFill>
                <a:latin typeface="Calibri" pitchFamily="34" charset="0"/>
                <a:ea typeface="Calibri" pitchFamily="34" charset="-122"/>
                <a:cs typeface="Calibri" pitchFamily="34" charset="-120"/>
              </a:rPr>
              <a:t>T₁* / T₂*  =  r₁ / r₂</a:t>
            </a:r>
            <a:endParaRPr lang="en-US" sz="2000" dirty="0"/>
          </a:p>
        </p:txBody>
      </p:sp>
      <p:sp>
        <p:nvSpPr>
          <p:cNvPr id="18" name="Shape 16"/>
          <p:cNvSpPr/>
          <p:nvPr/>
        </p:nvSpPr>
        <p:spPr>
          <a:xfrm>
            <a:off x="201168" y="4617720"/>
            <a:ext cx="8741664" cy="365760"/>
          </a:xfrm>
          <a:prstGeom prst="rect">
            <a:avLst/>
          </a:prstGeom>
          <a:solidFill>
            <a:srgbClr val="FFF3E8"/>
          </a:solidFill>
          <a:ln w="15240">
            <a:solidFill>
              <a:srgbClr val="C05621"/>
            </a:solidFill>
            <a:prstDash val="solid"/>
          </a:ln>
          <a:effectLst>
            <a:outerShdw sx="100000" sy="100000" kx="0" ky="0" algn="bl" rotWithShape="0" blurRad="76200" dist="38100" dir="8100000">
              <a:srgbClr val="000000">
                <a:alpha val="10000"/>
              </a:srgbClr>
            </a:outerShdw>
          </a:effectLst>
        </p:spPr>
      </p:sp>
      <p:sp>
        <p:nvSpPr>
          <p:cNvPr id="19" name="Text 17"/>
          <p:cNvSpPr/>
          <p:nvPr/>
        </p:nvSpPr>
        <p:spPr>
          <a:xfrm>
            <a:off x="320040" y="4663440"/>
            <a:ext cx="8503920" cy="274320"/>
          </a:xfrm>
          <a:prstGeom prst="rect">
            <a:avLst/>
          </a:prstGeom>
          <a:noFill/>
          <a:ln/>
        </p:spPr>
        <p:txBody>
          <a:bodyPr wrap="square" lIns="0" tIns="0" rIns="0" bIns="0" rtlCol="0" anchor="ctr"/>
          <a:lstStyle/>
          <a:p>
            <a:pPr algn="ctr" indent="0" marL="0">
              <a:buNone/>
            </a:pPr>
            <a:r>
              <a:rPr lang="en-US" sz="1500" b="1" dirty="0">
                <a:solidFill>
                  <a:srgbClr val="C05621"/>
                </a:solidFill>
                <a:latin typeface="Calibri" pitchFamily="34" charset="0"/>
                <a:ea typeface="Calibri" pitchFamily="34" charset="-122"/>
                <a:cs typeface="Calibri" pitchFamily="34" charset="-120"/>
              </a:rPr>
              <a:t>¡Esta es exactamente la Ley de Igualación de Herrnstein!   T₁*/T₂* = r₁/r₂</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C5282"/>
          </a:solidFill>
          <a:ln/>
        </p:spPr>
      </p:sp>
      <p:sp>
        <p:nvSpPr>
          <p:cNvPr id="3" name="Text 1"/>
          <p:cNvSpPr/>
          <p:nvPr/>
        </p:nvSpPr>
        <p:spPr>
          <a:xfrm>
            <a:off x="201168" y="164592"/>
            <a:ext cx="8778240" cy="566928"/>
          </a:xfrm>
          <a:prstGeom prst="rect">
            <a:avLst/>
          </a:prstGeom>
          <a:noFill/>
          <a:ln/>
        </p:spPr>
        <p:txBody>
          <a:bodyPr wrap="square" lIns="0" tIns="0" rIns="0" bIns="0" rtlCol="0" anchor="ctr"/>
          <a:lstStyle/>
          <a:p>
            <a:pPr indent="0" marL="0">
              <a:buNone/>
            </a:pPr>
            <a:r>
              <a:rPr lang="en-US" sz="2600" b="1" dirty="0">
                <a:solidFill>
                  <a:srgbClr val="2C5282"/>
                </a:solidFill>
                <a:latin typeface="Calibri" pitchFamily="34" charset="0"/>
                <a:ea typeface="Calibri" pitchFamily="34" charset="-122"/>
                <a:cs typeface="Calibri" pitchFamily="34" charset="-120"/>
              </a:rPr>
              <a:t>Verificación numérica del equilibrio: IV 1' – IV 2', 1 hora</a:t>
            </a:r>
            <a:endParaRPr lang="en-US" sz="2600" dirty="0"/>
          </a:p>
        </p:txBody>
      </p:sp>
      <p:sp>
        <p:nvSpPr>
          <p:cNvPr id="4" name="Shape 2"/>
          <p:cNvSpPr/>
          <p:nvPr/>
        </p:nvSpPr>
        <p:spPr>
          <a:xfrm>
            <a:off x="201168" y="777240"/>
            <a:ext cx="8741664" cy="0"/>
          </a:xfrm>
          <a:prstGeom prst="line">
            <a:avLst/>
          </a:prstGeom>
          <a:noFill/>
          <a:ln w="19050">
            <a:solidFill>
              <a:srgbClr val="2C5282"/>
            </a:solidFill>
            <a:prstDash val="solid"/>
          </a:ln>
        </p:spPr>
      </p:sp>
      <p:sp>
        <p:nvSpPr>
          <p:cNvPr id="5" name="Shape 3"/>
          <p:cNvSpPr/>
          <p:nvPr/>
        </p:nvSpPr>
        <p:spPr>
          <a:xfrm>
            <a:off x="201168" y="960120"/>
            <a:ext cx="8741664" cy="713232"/>
          </a:xfrm>
          <a:prstGeom prst="rect">
            <a:avLst/>
          </a:prstGeom>
          <a:solidFill>
            <a:srgbClr val="EBF4FF"/>
          </a:solidFill>
          <a:ln w="15240">
            <a:solidFill>
              <a:srgbClr val="2C5282"/>
            </a:solidFill>
            <a:prstDash val="solid"/>
          </a:ln>
          <a:effectLst>
            <a:outerShdw sx="100000" sy="100000" kx="0" ky="0" algn="bl" rotWithShape="0" blurRad="76200" dist="38100" dir="8100000">
              <a:srgbClr val="000000">
                <a:alpha val="10000"/>
              </a:srgbClr>
            </a:outerShdw>
          </a:effectLst>
        </p:spPr>
      </p:sp>
      <p:sp>
        <p:nvSpPr>
          <p:cNvPr id="6" name="Text 4"/>
          <p:cNvSpPr/>
          <p:nvPr/>
        </p:nvSpPr>
        <p:spPr>
          <a:xfrm>
            <a:off x="320040" y="1033272"/>
            <a:ext cx="8503920" cy="548640"/>
          </a:xfrm>
          <a:prstGeom prst="rect">
            <a:avLst/>
          </a:prstGeom>
          <a:noFill/>
          <a:ln/>
        </p:spPr>
        <p:txBody>
          <a:bodyPr wrap="square" lIns="0" tIns="0" rIns="0" bIns="0" rtlCol="0" anchor="ctr"/>
          <a:lstStyle/>
          <a:p>
            <a:pPr algn="ctr" indent="0" marL="0">
              <a:buNone/>
            </a:pPr>
            <a:r>
              <a:rPr lang="en-US" sz="1500" b="1" dirty="0">
                <a:solidFill>
                  <a:srgbClr val="2C5282"/>
                </a:solidFill>
                <a:latin typeface="Calibri" pitchFamily="34" charset="0"/>
                <a:ea typeface="Calibri" pitchFamily="34" charset="-122"/>
                <a:cs typeface="Calibri" pitchFamily="34" charset="-120"/>
              </a:rPr>
              <a:t>Equilibrio en T₁* = 2/3  (r₁/r₂ = 60/30 = 2   →   T₁/(1-T₁) = 2   →   T₁ = 2/3)</a:t>
            </a:r>
            <a:endParaRPr lang="en-US" sz="1500" dirty="0"/>
          </a:p>
        </p:txBody>
      </p:sp>
      <p:sp>
        <p:nvSpPr>
          <p:cNvPr id="7" name="Shape 5"/>
          <p:cNvSpPr/>
          <p:nvPr/>
        </p:nvSpPr>
        <p:spPr>
          <a:xfrm>
            <a:off x="201168" y="1828800"/>
            <a:ext cx="4206240" cy="914400"/>
          </a:xfrm>
          <a:prstGeom prst="rect">
            <a:avLst/>
          </a:prstGeom>
          <a:solidFill>
            <a:srgbClr val="EBF4FF"/>
          </a:solidFill>
          <a:ln w="15240">
            <a:solidFill>
              <a:srgbClr val="2C5282"/>
            </a:solidFill>
            <a:prstDash val="solid"/>
          </a:ln>
          <a:effectLst>
            <a:outerShdw sx="100000" sy="100000" kx="0" ky="0" algn="bl" rotWithShape="0" blurRad="76200" dist="38100" dir="8100000">
              <a:srgbClr val="000000">
                <a:alpha val="10000"/>
              </a:srgbClr>
            </a:outerShdw>
          </a:effectLst>
        </p:spPr>
      </p:sp>
      <p:sp>
        <p:nvSpPr>
          <p:cNvPr id="8" name="Text 6"/>
          <p:cNvSpPr/>
          <p:nvPr/>
        </p:nvSpPr>
        <p:spPr>
          <a:xfrm>
            <a:off x="338328" y="1920240"/>
            <a:ext cx="3931920" cy="320040"/>
          </a:xfrm>
          <a:prstGeom prst="rect">
            <a:avLst/>
          </a:prstGeom>
          <a:noFill/>
          <a:ln/>
        </p:spPr>
        <p:txBody>
          <a:bodyPr wrap="square" lIns="0" tIns="0" rIns="0" bIns="0" rtlCol="0" anchor="ctr"/>
          <a:lstStyle/>
          <a:p>
            <a:pPr indent="0" marL="0">
              <a:buNone/>
            </a:pPr>
            <a:r>
              <a:rPr lang="en-US" sz="1300" b="1" dirty="0">
                <a:solidFill>
                  <a:srgbClr val="2C5282"/>
                </a:solidFill>
                <a:latin typeface="Calibri" pitchFamily="34" charset="0"/>
                <a:ea typeface="Calibri" pitchFamily="34" charset="-122"/>
                <a:cs typeface="Calibri" pitchFamily="34" charset="-120"/>
              </a:rPr>
              <a:t>Tasa local IV 1':</a:t>
            </a:r>
            <a:endParaRPr lang="en-US" sz="1300" dirty="0"/>
          </a:p>
        </p:txBody>
      </p:sp>
      <p:sp>
        <p:nvSpPr>
          <p:cNvPr id="9" name="Text 7"/>
          <p:cNvSpPr/>
          <p:nvPr/>
        </p:nvSpPr>
        <p:spPr>
          <a:xfrm>
            <a:off x="338328" y="2286000"/>
            <a:ext cx="3931920" cy="347472"/>
          </a:xfrm>
          <a:prstGeom prst="rect">
            <a:avLst/>
          </a:prstGeom>
          <a:noFill/>
          <a:ln/>
        </p:spPr>
        <p:txBody>
          <a:bodyPr wrap="square" lIns="0" tIns="0" rIns="0" bIns="0" rtlCol="0" anchor="ctr"/>
          <a:lstStyle/>
          <a:p>
            <a:pPr indent="0" marL="0">
              <a:buNone/>
            </a:pPr>
            <a:r>
              <a:rPr lang="en-US" sz="1400" b="1" dirty="0">
                <a:solidFill>
                  <a:srgbClr val="2C5282"/>
                </a:solidFill>
                <a:latin typeface="Calibri" pitchFamily="34" charset="0"/>
                <a:ea typeface="Calibri" pitchFamily="34" charset="-122"/>
                <a:cs typeface="Calibri" pitchFamily="34" charset="-120"/>
              </a:rPr>
              <a:t>ρ₁ = 60 / (2/3) = 60 × 3/2 = 90 ref/hr</a:t>
            </a:r>
            <a:endParaRPr lang="en-US" sz="1400" dirty="0"/>
          </a:p>
        </p:txBody>
      </p:sp>
      <p:sp>
        <p:nvSpPr>
          <p:cNvPr id="10" name="Shape 8"/>
          <p:cNvSpPr/>
          <p:nvPr/>
        </p:nvSpPr>
        <p:spPr>
          <a:xfrm>
            <a:off x="4681728" y="1828800"/>
            <a:ext cx="4206240" cy="914400"/>
          </a:xfrm>
          <a:prstGeom prst="rect">
            <a:avLst/>
          </a:prstGeom>
          <a:solidFill>
            <a:srgbClr val="E6F4ED"/>
          </a:solidFill>
          <a:ln w="15240">
            <a:solidFill>
              <a:srgbClr val="276749"/>
            </a:solidFill>
            <a:prstDash val="solid"/>
          </a:ln>
          <a:effectLst>
            <a:outerShdw sx="100000" sy="100000" kx="0" ky="0" algn="bl" rotWithShape="0" blurRad="76200" dist="38100" dir="8100000">
              <a:srgbClr val="000000">
                <a:alpha val="10000"/>
              </a:srgbClr>
            </a:outerShdw>
          </a:effectLst>
        </p:spPr>
      </p:sp>
      <p:sp>
        <p:nvSpPr>
          <p:cNvPr id="11" name="Text 9"/>
          <p:cNvSpPr/>
          <p:nvPr/>
        </p:nvSpPr>
        <p:spPr>
          <a:xfrm>
            <a:off x="4818888" y="1920240"/>
            <a:ext cx="3931920" cy="320040"/>
          </a:xfrm>
          <a:prstGeom prst="rect">
            <a:avLst/>
          </a:prstGeom>
          <a:noFill/>
          <a:ln/>
        </p:spPr>
        <p:txBody>
          <a:bodyPr wrap="square" lIns="0" tIns="0" rIns="0" bIns="0" rtlCol="0" anchor="ctr"/>
          <a:lstStyle/>
          <a:p>
            <a:pPr indent="0" marL="0">
              <a:buNone/>
            </a:pPr>
            <a:r>
              <a:rPr lang="en-US" sz="1300" b="1" dirty="0">
                <a:solidFill>
                  <a:srgbClr val="276749"/>
                </a:solidFill>
                <a:latin typeface="Calibri" pitchFamily="34" charset="0"/>
                <a:ea typeface="Calibri" pitchFamily="34" charset="-122"/>
                <a:cs typeface="Calibri" pitchFamily="34" charset="-120"/>
              </a:rPr>
              <a:t>Tasa local IV 2':</a:t>
            </a:r>
            <a:endParaRPr lang="en-US" sz="1300" dirty="0"/>
          </a:p>
        </p:txBody>
      </p:sp>
      <p:sp>
        <p:nvSpPr>
          <p:cNvPr id="12" name="Text 10"/>
          <p:cNvSpPr/>
          <p:nvPr/>
        </p:nvSpPr>
        <p:spPr>
          <a:xfrm>
            <a:off x="4818888" y="2286000"/>
            <a:ext cx="3931920" cy="347472"/>
          </a:xfrm>
          <a:prstGeom prst="rect">
            <a:avLst/>
          </a:prstGeom>
          <a:noFill/>
          <a:ln/>
        </p:spPr>
        <p:txBody>
          <a:bodyPr wrap="square" lIns="0" tIns="0" rIns="0" bIns="0" rtlCol="0" anchor="ctr"/>
          <a:lstStyle/>
          <a:p>
            <a:pPr indent="0" marL="0">
              <a:buNone/>
            </a:pPr>
            <a:r>
              <a:rPr lang="en-US" sz="1400" b="1" dirty="0">
                <a:solidFill>
                  <a:srgbClr val="276749"/>
                </a:solidFill>
                <a:latin typeface="Calibri" pitchFamily="34" charset="0"/>
                <a:ea typeface="Calibri" pitchFamily="34" charset="-122"/>
                <a:cs typeface="Calibri" pitchFamily="34" charset="-120"/>
              </a:rPr>
              <a:t>ρ₂ = 30 / (1/3) = 30 × 3   = 90 ref/hr</a:t>
            </a:r>
            <a:endParaRPr lang="en-US" sz="1400" dirty="0"/>
          </a:p>
        </p:txBody>
      </p:sp>
      <p:sp>
        <p:nvSpPr>
          <p:cNvPr id="13" name="Shape 11"/>
          <p:cNvSpPr/>
          <p:nvPr/>
        </p:nvSpPr>
        <p:spPr>
          <a:xfrm>
            <a:off x="201168" y="2880360"/>
            <a:ext cx="8741664" cy="640080"/>
          </a:xfrm>
          <a:prstGeom prst="rect">
            <a:avLst/>
          </a:prstGeom>
          <a:solidFill>
            <a:srgbClr val="E6F4ED"/>
          </a:solidFill>
          <a:ln w="15240">
            <a:solidFill>
              <a:srgbClr val="276749"/>
            </a:solidFill>
            <a:prstDash val="solid"/>
          </a:ln>
          <a:effectLst>
            <a:outerShdw sx="100000" sy="100000" kx="0" ky="0" algn="bl" rotWithShape="0" blurRad="76200" dist="38100" dir="8100000">
              <a:srgbClr val="000000">
                <a:alpha val="10000"/>
              </a:srgbClr>
            </a:outerShdw>
          </a:effectLst>
        </p:spPr>
      </p:sp>
      <p:sp>
        <p:nvSpPr>
          <p:cNvPr id="14" name="Text 12"/>
          <p:cNvSpPr/>
          <p:nvPr/>
        </p:nvSpPr>
        <p:spPr>
          <a:xfrm>
            <a:off x="320040" y="2971800"/>
            <a:ext cx="8503920" cy="411480"/>
          </a:xfrm>
          <a:prstGeom prst="rect">
            <a:avLst/>
          </a:prstGeom>
          <a:noFill/>
          <a:ln/>
        </p:spPr>
        <p:txBody>
          <a:bodyPr wrap="square" lIns="0" tIns="0" rIns="0" bIns="0" rtlCol="0" anchor="ctr"/>
          <a:lstStyle/>
          <a:p>
            <a:pPr algn="ctr" indent="0" marL="0">
              <a:buNone/>
            </a:pPr>
            <a:r>
              <a:rPr lang="en-US" sz="1700" b="1" dirty="0">
                <a:solidFill>
                  <a:srgbClr val="276749"/>
                </a:solidFill>
                <a:latin typeface="Calibri" pitchFamily="34" charset="0"/>
                <a:ea typeface="Calibri" pitchFamily="34" charset="-122"/>
                <a:cs typeface="Calibri" pitchFamily="34" charset="-120"/>
              </a:rPr>
              <a:t>✓  ρ₁ = ρ₂ = 90 ref/hr      Δ = 0      Sin incentivo para redistribuir</a:t>
            </a:r>
            <a:endParaRPr lang="en-US" sz="1700" dirty="0"/>
          </a:p>
        </p:txBody>
      </p:sp>
      <p:sp>
        <p:nvSpPr>
          <p:cNvPr id="15" name="Text 13"/>
          <p:cNvSpPr/>
          <p:nvPr/>
        </p:nvSpPr>
        <p:spPr>
          <a:xfrm>
            <a:off x="201168" y="3657600"/>
            <a:ext cx="8741664" cy="347472"/>
          </a:xfrm>
          <a:prstGeom prst="rect">
            <a:avLst/>
          </a:prstGeom>
          <a:noFill/>
          <a:ln/>
        </p:spPr>
        <p:txBody>
          <a:bodyPr wrap="square" rtlCol="0" anchor="ctr"/>
          <a:lstStyle/>
          <a:p>
            <a:pPr indent="0" marL="0">
              <a:buNone/>
            </a:pPr>
            <a:r>
              <a:rPr lang="en-US" sz="1400" b="1" dirty="0">
                <a:solidFill>
                  <a:srgbClr val="1A202C"/>
                </a:solidFill>
                <a:latin typeface="Calibri" pitchFamily="34" charset="0"/>
                <a:ea typeface="Calibri" pitchFamily="34" charset="-122"/>
                <a:cs typeface="Calibri" pitchFamily="34" charset="-120"/>
              </a:rPr>
              <a:t>Verificación de igualación:</a:t>
            </a:r>
            <a:endParaRPr lang="en-US" sz="1400" dirty="0"/>
          </a:p>
        </p:txBody>
      </p:sp>
      <p:sp>
        <p:nvSpPr>
          <p:cNvPr id="16" name="Text 14"/>
          <p:cNvSpPr/>
          <p:nvPr/>
        </p:nvSpPr>
        <p:spPr>
          <a:xfrm>
            <a:off x="201168" y="4069080"/>
            <a:ext cx="8741664" cy="384048"/>
          </a:xfrm>
          <a:prstGeom prst="rect">
            <a:avLst/>
          </a:prstGeom>
          <a:noFill/>
          <a:ln/>
        </p:spPr>
        <p:txBody>
          <a:bodyPr wrap="square" rtlCol="0" anchor="ctr"/>
          <a:lstStyle/>
          <a:p>
            <a:pPr algn="ctr" indent="0" marL="0">
              <a:buNone/>
            </a:pPr>
            <a:r>
              <a:rPr lang="en-US" sz="1500" b="1" dirty="0">
                <a:solidFill>
                  <a:srgbClr val="1A3457"/>
                </a:solidFill>
                <a:latin typeface="Calibri" pitchFamily="34" charset="0"/>
                <a:ea typeface="Calibri" pitchFamily="34" charset="-122"/>
                <a:cs typeface="Calibri" pitchFamily="34" charset="-120"/>
              </a:rPr>
              <a:t>T₁ / (T₁ + T₂)  =  (2/3) / (2/3 + 1/3)  =  2/3  =  60 / (60 + 30)  =  r₁ / (r₁ + r₂)  ✓</a:t>
            </a:r>
            <a:endParaRPr lang="en-US" sz="1500" dirty="0"/>
          </a:p>
        </p:txBody>
      </p:sp>
      <p:sp>
        <p:nvSpPr>
          <p:cNvPr id="17" name="Text 15"/>
          <p:cNvSpPr/>
          <p:nvPr/>
        </p:nvSpPr>
        <p:spPr>
          <a:xfrm>
            <a:off x="201168" y="4599432"/>
            <a:ext cx="8741664" cy="384048"/>
          </a:xfrm>
          <a:prstGeom prst="rect">
            <a:avLst/>
          </a:prstGeom>
          <a:noFill/>
          <a:ln/>
        </p:spPr>
        <p:txBody>
          <a:bodyPr wrap="square" rtlCol="0" anchor="ctr"/>
          <a:lstStyle/>
          <a:p>
            <a:pPr indent="0" marL="0">
              <a:buNone/>
            </a:pPr>
            <a:r>
              <a:rPr lang="en-US" sz="1300" i="1" dirty="0">
                <a:solidFill>
                  <a:srgbClr val="C05621"/>
                </a:solidFill>
                <a:latin typeface="Calibri" pitchFamily="34" charset="0"/>
                <a:ea typeface="Calibri" pitchFamily="34" charset="-122"/>
                <a:cs typeface="Calibri" pitchFamily="34" charset="-120"/>
              </a:rPr>
              <a:t>El organismo no necesita conocer la ley de igualación. Basta con que siga la regla local: la igualación global es el estado de equilibrio de ese proceso.</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C5282"/>
          </a:solidFill>
          <a:ln/>
        </p:spPr>
      </p:sp>
      <p:sp>
        <p:nvSpPr>
          <p:cNvPr id="3" name="Text 1"/>
          <p:cNvSpPr/>
          <p:nvPr/>
        </p:nvSpPr>
        <p:spPr>
          <a:xfrm>
            <a:off x="201168" y="164592"/>
            <a:ext cx="8778240" cy="566928"/>
          </a:xfrm>
          <a:prstGeom prst="rect">
            <a:avLst/>
          </a:prstGeom>
          <a:noFill/>
          <a:ln/>
        </p:spPr>
        <p:txBody>
          <a:bodyPr wrap="square" lIns="0" tIns="0" rIns="0" bIns="0" rtlCol="0" anchor="ctr"/>
          <a:lstStyle/>
          <a:p>
            <a:pPr indent="0" marL="0">
              <a:buNone/>
            </a:pPr>
            <a:r>
              <a:rPr lang="en-US" sz="2600" b="1" dirty="0">
                <a:solidFill>
                  <a:srgbClr val="2C5282"/>
                </a:solidFill>
                <a:latin typeface="Calibri" pitchFamily="34" charset="0"/>
                <a:ea typeface="Calibri" pitchFamily="34" charset="-122"/>
                <a:cs typeface="Calibri" pitchFamily="34" charset="-120"/>
              </a:rPr>
              <a:t>Formalización matemática: la señal de error del sistema</a:t>
            </a:r>
            <a:endParaRPr lang="en-US" sz="2600" dirty="0"/>
          </a:p>
        </p:txBody>
      </p:sp>
      <p:sp>
        <p:nvSpPr>
          <p:cNvPr id="4" name="Shape 2"/>
          <p:cNvSpPr/>
          <p:nvPr/>
        </p:nvSpPr>
        <p:spPr>
          <a:xfrm>
            <a:off x="201168" y="777240"/>
            <a:ext cx="8741664" cy="0"/>
          </a:xfrm>
          <a:prstGeom prst="line">
            <a:avLst/>
          </a:prstGeom>
          <a:noFill/>
          <a:ln w="19050">
            <a:solidFill>
              <a:srgbClr val="2C5282"/>
            </a:solidFill>
            <a:prstDash val="solid"/>
          </a:ln>
        </p:spPr>
      </p:sp>
      <p:sp>
        <p:nvSpPr>
          <p:cNvPr id="5" name="Text 3"/>
          <p:cNvSpPr/>
          <p:nvPr/>
        </p:nvSpPr>
        <p:spPr>
          <a:xfrm>
            <a:off x="201168" y="914400"/>
            <a:ext cx="8741664" cy="347472"/>
          </a:xfrm>
          <a:prstGeom prst="rect">
            <a:avLst/>
          </a:prstGeom>
          <a:noFill/>
          <a:ln/>
        </p:spPr>
        <p:txBody>
          <a:bodyPr wrap="square" rtlCol="0" anchor="ctr"/>
          <a:lstStyle/>
          <a:p>
            <a:pPr indent="0" marL="0">
              <a:buNone/>
            </a:pPr>
            <a:r>
              <a:rPr lang="en-US" sz="1400" i="1" dirty="0">
                <a:solidFill>
                  <a:srgbClr val="1A202C"/>
                </a:solidFill>
                <a:latin typeface="Calibri" pitchFamily="34" charset="0"/>
                <a:ea typeface="Calibri" pitchFamily="34" charset="-122"/>
                <a:cs typeface="Calibri" pitchFamily="34" charset="-120"/>
              </a:rPr>
              <a:t>Para generalizar el argumento necesitamos escribir el proceso en forma dinámica.</a:t>
            </a:r>
            <a:endParaRPr lang="en-US" sz="1400" dirty="0"/>
          </a:p>
        </p:txBody>
      </p:sp>
      <p:sp>
        <p:nvSpPr>
          <p:cNvPr id="6" name="Shape 4"/>
          <p:cNvSpPr/>
          <p:nvPr/>
        </p:nvSpPr>
        <p:spPr>
          <a:xfrm>
            <a:off x="201168" y="1371600"/>
            <a:ext cx="8741664" cy="1371600"/>
          </a:xfrm>
          <a:prstGeom prst="rect">
            <a:avLst/>
          </a:prstGeom>
          <a:solidFill>
            <a:srgbClr val="EBF4FF"/>
          </a:solidFill>
          <a:ln w="15240">
            <a:solidFill>
              <a:srgbClr val="2C5282"/>
            </a:solidFill>
            <a:prstDash val="solid"/>
          </a:ln>
          <a:effectLst>
            <a:outerShdw sx="100000" sy="100000" kx="0" ky="0" algn="bl" rotWithShape="0" blurRad="76200" dist="38100" dir="8100000">
              <a:srgbClr val="000000">
                <a:alpha val="10000"/>
              </a:srgbClr>
            </a:outerShdw>
          </a:effectLst>
        </p:spPr>
      </p:sp>
      <p:sp>
        <p:nvSpPr>
          <p:cNvPr id="7" name="Text 5"/>
          <p:cNvSpPr/>
          <p:nvPr/>
        </p:nvSpPr>
        <p:spPr>
          <a:xfrm>
            <a:off x="320040" y="1444752"/>
            <a:ext cx="8503920" cy="292608"/>
          </a:xfrm>
          <a:prstGeom prst="rect">
            <a:avLst/>
          </a:prstGeom>
          <a:noFill/>
          <a:ln/>
        </p:spPr>
        <p:txBody>
          <a:bodyPr wrap="square" lIns="0" tIns="0" rIns="0" bIns="0" rtlCol="0" anchor="ctr"/>
          <a:lstStyle/>
          <a:p>
            <a:pPr indent="0" marL="0">
              <a:buNone/>
            </a:pPr>
            <a:r>
              <a:rPr lang="en-US" sz="1300" b="1" dirty="0">
                <a:solidFill>
                  <a:srgbClr val="2C5282"/>
                </a:solidFill>
                <a:latin typeface="Calibri" pitchFamily="34" charset="0"/>
                <a:ea typeface="Calibri" pitchFamily="34" charset="-122"/>
                <a:cs typeface="Calibri" pitchFamily="34" charset="-120"/>
              </a:rPr>
              <a:t>Discrepancia (señal de error):</a:t>
            </a:r>
            <a:endParaRPr lang="en-US" sz="1300" dirty="0"/>
          </a:p>
        </p:txBody>
      </p:sp>
      <p:sp>
        <p:nvSpPr>
          <p:cNvPr id="8" name="Text 6"/>
          <p:cNvSpPr/>
          <p:nvPr/>
        </p:nvSpPr>
        <p:spPr>
          <a:xfrm>
            <a:off x="320040" y="1783080"/>
            <a:ext cx="8503920" cy="457200"/>
          </a:xfrm>
          <a:prstGeom prst="rect">
            <a:avLst/>
          </a:prstGeom>
          <a:noFill/>
          <a:ln/>
        </p:spPr>
        <p:txBody>
          <a:bodyPr wrap="square" lIns="0" tIns="0" rIns="0" bIns="0" rtlCol="0" anchor="ctr"/>
          <a:lstStyle/>
          <a:p>
            <a:pPr algn="ctr" indent="0" marL="0">
              <a:buNone/>
            </a:pPr>
            <a:r>
              <a:rPr lang="en-US" sz="2200" b="1" dirty="0">
                <a:solidFill>
                  <a:srgbClr val="1A3457"/>
                </a:solidFill>
                <a:latin typeface="Calibri" pitchFamily="34" charset="0"/>
                <a:ea typeface="Calibri" pitchFamily="34" charset="-122"/>
                <a:cs typeface="Calibri" pitchFamily="34" charset="-120"/>
              </a:rPr>
              <a:t>Δ  =  ρ₁ − ρ₂  =  r₁/T₁  −  r₂/(1 − T₁)</a:t>
            </a:r>
            <a:endParaRPr lang="en-US" sz="2200" dirty="0"/>
          </a:p>
        </p:txBody>
      </p:sp>
      <p:sp>
        <p:nvSpPr>
          <p:cNvPr id="9" name="Text 7"/>
          <p:cNvSpPr/>
          <p:nvPr/>
        </p:nvSpPr>
        <p:spPr>
          <a:xfrm>
            <a:off x="320040" y="2286000"/>
            <a:ext cx="8503920" cy="292608"/>
          </a:xfrm>
          <a:prstGeom prst="rect">
            <a:avLst/>
          </a:prstGeom>
          <a:noFill/>
          <a:ln/>
        </p:spPr>
        <p:txBody>
          <a:bodyPr wrap="square" lIns="0" tIns="0" rIns="0" bIns="0" rtlCol="0" anchor="ctr"/>
          <a:lstStyle/>
          <a:p>
            <a:pPr indent="0" marL="0">
              <a:buNone/>
            </a:pPr>
            <a:r>
              <a:rPr lang="en-US" sz="1200" i="1" dirty="0">
                <a:solidFill>
                  <a:srgbClr val="718096"/>
                </a:solidFill>
                <a:latin typeface="Calibri" pitchFamily="34" charset="0"/>
                <a:ea typeface="Calibri" pitchFamily="34" charset="-122"/>
                <a:cs typeface="Calibri" pitchFamily="34" charset="-120"/>
              </a:rPr>
              <a:t>(se escribe T₂ = 1 − T₁ porque ambas proporciones suman uno)</a:t>
            </a:r>
            <a:endParaRPr lang="en-US" sz="1200" dirty="0"/>
          </a:p>
        </p:txBody>
      </p:sp>
      <p:sp>
        <p:nvSpPr>
          <p:cNvPr id="10" name="Shape 8"/>
          <p:cNvSpPr/>
          <p:nvPr/>
        </p:nvSpPr>
        <p:spPr>
          <a:xfrm>
            <a:off x="201168" y="2926080"/>
            <a:ext cx="2788920" cy="822960"/>
          </a:xfrm>
          <a:prstGeom prst="rect">
            <a:avLst/>
          </a:prstGeom>
          <a:solidFill>
            <a:srgbClr val="EBF4FF"/>
          </a:solidFill>
          <a:ln w="15240">
            <a:solidFill>
              <a:srgbClr val="2C5282"/>
            </a:solidFill>
            <a:prstDash val="solid"/>
          </a:ln>
          <a:effectLst>
            <a:outerShdw sx="100000" sy="100000" kx="0" ky="0" algn="bl" rotWithShape="0" blurRad="76200" dist="38100" dir="8100000">
              <a:srgbClr val="000000">
                <a:alpha val="10000"/>
              </a:srgbClr>
            </a:outerShdw>
          </a:effectLst>
        </p:spPr>
      </p:sp>
      <p:sp>
        <p:nvSpPr>
          <p:cNvPr id="11" name="Text 9"/>
          <p:cNvSpPr/>
          <p:nvPr/>
        </p:nvSpPr>
        <p:spPr>
          <a:xfrm>
            <a:off x="292608" y="2999232"/>
            <a:ext cx="2606040" cy="292608"/>
          </a:xfrm>
          <a:prstGeom prst="rect">
            <a:avLst/>
          </a:prstGeom>
          <a:noFill/>
          <a:ln/>
        </p:spPr>
        <p:txBody>
          <a:bodyPr wrap="square" lIns="0" tIns="0" rIns="0" bIns="0" rtlCol="0" anchor="ctr"/>
          <a:lstStyle/>
          <a:p>
            <a:pPr indent="0" marL="0">
              <a:buNone/>
            </a:pPr>
            <a:r>
              <a:rPr lang="en-US" sz="1500" b="1" dirty="0">
                <a:solidFill>
                  <a:srgbClr val="2C5282"/>
                </a:solidFill>
                <a:latin typeface="Calibri" pitchFamily="34" charset="0"/>
                <a:ea typeface="Calibri" pitchFamily="34" charset="-122"/>
                <a:cs typeface="Calibri" pitchFamily="34" charset="-120"/>
              </a:rPr>
              <a:t>Δ &gt; 0</a:t>
            </a:r>
            <a:endParaRPr lang="en-US" sz="1500" dirty="0"/>
          </a:p>
        </p:txBody>
      </p:sp>
      <p:sp>
        <p:nvSpPr>
          <p:cNvPr id="12" name="Text 10"/>
          <p:cNvSpPr/>
          <p:nvPr/>
        </p:nvSpPr>
        <p:spPr>
          <a:xfrm>
            <a:off x="292608" y="3337560"/>
            <a:ext cx="2606040" cy="320040"/>
          </a:xfrm>
          <a:prstGeom prst="rect">
            <a:avLst/>
          </a:prstGeom>
          <a:noFill/>
          <a:ln/>
        </p:spPr>
        <p:txBody>
          <a:bodyPr wrap="square" lIns="0" tIns="0" rIns="0" bIns="0" rtlCol="0" anchor="ctr"/>
          <a:lstStyle/>
          <a:p>
            <a:pPr indent="0" marL="0">
              <a:buNone/>
            </a:pPr>
            <a:r>
              <a:rPr lang="en-US" sz="1200" dirty="0">
                <a:solidFill>
                  <a:srgbClr val="1A202C"/>
                </a:solidFill>
                <a:latin typeface="Calibri" pitchFamily="34" charset="0"/>
                <a:ea typeface="Calibri" pitchFamily="34" charset="-122"/>
                <a:cs typeface="Calibri" pitchFamily="34" charset="-120"/>
              </a:rPr>
              <a:t>opción 1 más rentable → aumentar T₁</a:t>
            </a:r>
            <a:endParaRPr lang="en-US" sz="1200" dirty="0"/>
          </a:p>
        </p:txBody>
      </p:sp>
      <p:sp>
        <p:nvSpPr>
          <p:cNvPr id="13" name="Shape 11"/>
          <p:cNvSpPr/>
          <p:nvPr/>
        </p:nvSpPr>
        <p:spPr>
          <a:xfrm>
            <a:off x="3163824" y="2926080"/>
            <a:ext cx="2788920" cy="822960"/>
          </a:xfrm>
          <a:prstGeom prst="rect">
            <a:avLst/>
          </a:prstGeom>
          <a:solidFill>
            <a:srgbClr val="E6F4ED"/>
          </a:solidFill>
          <a:ln w="15240">
            <a:solidFill>
              <a:srgbClr val="276749"/>
            </a:solidFill>
            <a:prstDash val="solid"/>
          </a:ln>
          <a:effectLst>
            <a:outerShdw sx="100000" sy="100000" kx="0" ky="0" algn="bl" rotWithShape="0" blurRad="76200" dist="38100" dir="8100000">
              <a:srgbClr val="000000">
                <a:alpha val="10000"/>
              </a:srgbClr>
            </a:outerShdw>
          </a:effectLst>
        </p:spPr>
      </p:sp>
      <p:sp>
        <p:nvSpPr>
          <p:cNvPr id="14" name="Text 12"/>
          <p:cNvSpPr/>
          <p:nvPr/>
        </p:nvSpPr>
        <p:spPr>
          <a:xfrm>
            <a:off x="3255264" y="2999232"/>
            <a:ext cx="2606040" cy="292608"/>
          </a:xfrm>
          <a:prstGeom prst="rect">
            <a:avLst/>
          </a:prstGeom>
          <a:noFill/>
          <a:ln/>
        </p:spPr>
        <p:txBody>
          <a:bodyPr wrap="square" lIns="0" tIns="0" rIns="0" bIns="0" rtlCol="0" anchor="ctr"/>
          <a:lstStyle/>
          <a:p>
            <a:pPr indent="0" marL="0">
              <a:buNone/>
            </a:pPr>
            <a:r>
              <a:rPr lang="en-US" sz="1500" b="1" dirty="0">
                <a:solidFill>
                  <a:srgbClr val="276749"/>
                </a:solidFill>
                <a:latin typeface="Calibri" pitchFamily="34" charset="0"/>
                <a:ea typeface="Calibri" pitchFamily="34" charset="-122"/>
                <a:cs typeface="Calibri" pitchFamily="34" charset="-120"/>
              </a:rPr>
              <a:t>Δ &lt; 0</a:t>
            </a:r>
            <a:endParaRPr lang="en-US" sz="1500" dirty="0"/>
          </a:p>
        </p:txBody>
      </p:sp>
      <p:sp>
        <p:nvSpPr>
          <p:cNvPr id="15" name="Text 13"/>
          <p:cNvSpPr/>
          <p:nvPr/>
        </p:nvSpPr>
        <p:spPr>
          <a:xfrm>
            <a:off x="3255264" y="3337560"/>
            <a:ext cx="2606040" cy="320040"/>
          </a:xfrm>
          <a:prstGeom prst="rect">
            <a:avLst/>
          </a:prstGeom>
          <a:noFill/>
          <a:ln/>
        </p:spPr>
        <p:txBody>
          <a:bodyPr wrap="square" lIns="0" tIns="0" rIns="0" bIns="0" rtlCol="0" anchor="ctr"/>
          <a:lstStyle/>
          <a:p>
            <a:pPr indent="0" marL="0">
              <a:buNone/>
            </a:pPr>
            <a:r>
              <a:rPr lang="en-US" sz="1200" dirty="0">
                <a:solidFill>
                  <a:srgbClr val="1A202C"/>
                </a:solidFill>
                <a:latin typeface="Calibri" pitchFamily="34" charset="0"/>
                <a:ea typeface="Calibri" pitchFamily="34" charset="-122"/>
                <a:cs typeface="Calibri" pitchFamily="34" charset="-120"/>
              </a:rPr>
              <a:t>opción 2 más rentable → aumentar T₂</a:t>
            </a:r>
            <a:endParaRPr lang="en-US" sz="1200" dirty="0"/>
          </a:p>
        </p:txBody>
      </p:sp>
      <p:sp>
        <p:nvSpPr>
          <p:cNvPr id="16" name="Shape 14"/>
          <p:cNvSpPr/>
          <p:nvPr/>
        </p:nvSpPr>
        <p:spPr>
          <a:xfrm>
            <a:off x="6126480" y="2926080"/>
            <a:ext cx="2788920" cy="822960"/>
          </a:xfrm>
          <a:prstGeom prst="rect">
            <a:avLst/>
          </a:prstGeom>
          <a:solidFill>
            <a:srgbClr val="FFF3E8"/>
          </a:solidFill>
          <a:ln w="15240">
            <a:solidFill>
              <a:srgbClr val="C05621"/>
            </a:solidFill>
            <a:prstDash val="solid"/>
          </a:ln>
          <a:effectLst>
            <a:outerShdw sx="100000" sy="100000" kx="0" ky="0" algn="bl" rotWithShape="0" blurRad="76200" dist="38100" dir="8100000">
              <a:srgbClr val="000000">
                <a:alpha val="10000"/>
              </a:srgbClr>
            </a:outerShdw>
          </a:effectLst>
        </p:spPr>
      </p:sp>
      <p:sp>
        <p:nvSpPr>
          <p:cNvPr id="17" name="Text 15"/>
          <p:cNvSpPr/>
          <p:nvPr/>
        </p:nvSpPr>
        <p:spPr>
          <a:xfrm>
            <a:off x="6217920" y="2999232"/>
            <a:ext cx="2606040" cy="292608"/>
          </a:xfrm>
          <a:prstGeom prst="rect">
            <a:avLst/>
          </a:prstGeom>
          <a:noFill/>
          <a:ln/>
        </p:spPr>
        <p:txBody>
          <a:bodyPr wrap="square" lIns="0" tIns="0" rIns="0" bIns="0" rtlCol="0" anchor="ctr"/>
          <a:lstStyle/>
          <a:p>
            <a:pPr indent="0" marL="0">
              <a:buNone/>
            </a:pPr>
            <a:r>
              <a:rPr lang="en-US" sz="1500" b="1" dirty="0">
                <a:solidFill>
                  <a:srgbClr val="C05621"/>
                </a:solidFill>
                <a:latin typeface="Calibri" pitchFamily="34" charset="0"/>
                <a:ea typeface="Calibri" pitchFamily="34" charset="-122"/>
                <a:cs typeface="Calibri" pitchFamily="34" charset="-120"/>
              </a:rPr>
              <a:t>Δ = 0</a:t>
            </a:r>
            <a:endParaRPr lang="en-US" sz="1500" dirty="0"/>
          </a:p>
        </p:txBody>
      </p:sp>
      <p:sp>
        <p:nvSpPr>
          <p:cNvPr id="18" name="Text 16"/>
          <p:cNvSpPr/>
          <p:nvPr/>
        </p:nvSpPr>
        <p:spPr>
          <a:xfrm>
            <a:off x="6217920" y="3337560"/>
            <a:ext cx="2606040" cy="320040"/>
          </a:xfrm>
          <a:prstGeom prst="rect">
            <a:avLst/>
          </a:prstGeom>
          <a:noFill/>
          <a:ln/>
        </p:spPr>
        <p:txBody>
          <a:bodyPr wrap="square" lIns="0" tIns="0" rIns="0" bIns="0" rtlCol="0" anchor="ctr"/>
          <a:lstStyle/>
          <a:p>
            <a:pPr indent="0" marL="0">
              <a:buNone/>
            </a:pPr>
            <a:r>
              <a:rPr lang="en-US" sz="1200" dirty="0">
                <a:solidFill>
                  <a:srgbClr val="1A202C"/>
                </a:solidFill>
                <a:latin typeface="Calibri" pitchFamily="34" charset="0"/>
                <a:ea typeface="Calibri" pitchFamily="34" charset="-122"/>
                <a:cs typeface="Calibri" pitchFamily="34" charset="-120"/>
              </a:rPr>
              <a:t>tasas locales iguales → sin cambio → equilibrio</a:t>
            </a:r>
            <a:endParaRPr lang="en-US" sz="1200" dirty="0"/>
          </a:p>
        </p:txBody>
      </p:sp>
      <p:sp>
        <p:nvSpPr>
          <p:cNvPr id="19" name="Text 17"/>
          <p:cNvSpPr/>
          <p:nvPr/>
        </p:nvSpPr>
        <p:spPr>
          <a:xfrm>
            <a:off x="201168" y="3913632"/>
            <a:ext cx="8741664" cy="502920"/>
          </a:xfrm>
          <a:prstGeom prst="rect">
            <a:avLst/>
          </a:prstGeom>
          <a:noFill/>
          <a:ln/>
        </p:spPr>
        <p:txBody>
          <a:bodyPr wrap="square" rtlCol="0" anchor="ctr"/>
          <a:lstStyle/>
          <a:p>
            <a:pPr indent="0" marL="0">
              <a:buNone/>
            </a:pPr>
            <a:r>
              <a:rPr lang="en-US" sz="1400" i="1" dirty="0">
                <a:solidFill>
                  <a:srgbClr val="C05621"/>
                </a:solidFill>
                <a:latin typeface="Calibri" pitchFamily="34" charset="0"/>
                <a:ea typeface="Calibri" pitchFamily="34" charset="-122"/>
                <a:cs typeface="Calibri" pitchFamily="34" charset="-120"/>
              </a:rPr>
              <a:t>Δ es la señal de error del sistema — análoga al error de predicción en R-W, pero referida a tasas de refuerzo, no a expectativas de recompensa.</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C5282"/>
          </a:solidFill>
          <a:ln/>
        </p:spPr>
      </p:sp>
      <p:sp>
        <p:nvSpPr>
          <p:cNvPr id="3" name="Text 1"/>
          <p:cNvSpPr/>
          <p:nvPr/>
        </p:nvSpPr>
        <p:spPr>
          <a:xfrm>
            <a:off x="201168" y="164592"/>
            <a:ext cx="8778240" cy="566928"/>
          </a:xfrm>
          <a:prstGeom prst="rect">
            <a:avLst/>
          </a:prstGeom>
          <a:noFill/>
          <a:ln/>
        </p:spPr>
        <p:txBody>
          <a:bodyPr wrap="square" lIns="0" tIns="0" rIns="0" bIns="0" rtlCol="0" anchor="ctr"/>
          <a:lstStyle/>
          <a:p>
            <a:pPr indent="0" marL="0">
              <a:buNone/>
            </a:pPr>
            <a:r>
              <a:rPr lang="en-US" sz="2600" b="1" dirty="0">
                <a:solidFill>
                  <a:srgbClr val="2C5282"/>
                </a:solidFill>
                <a:latin typeface="Calibri" pitchFamily="34" charset="0"/>
                <a:ea typeface="Calibri" pitchFamily="34" charset="-122"/>
                <a:cs typeface="Calibri" pitchFamily="34" charset="-120"/>
              </a:rPr>
              <a:t>Regla de actualización: tiempo discreto</a:t>
            </a:r>
            <a:endParaRPr lang="en-US" sz="2600" dirty="0"/>
          </a:p>
        </p:txBody>
      </p:sp>
      <p:sp>
        <p:nvSpPr>
          <p:cNvPr id="4" name="Shape 2"/>
          <p:cNvSpPr/>
          <p:nvPr/>
        </p:nvSpPr>
        <p:spPr>
          <a:xfrm>
            <a:off x="201168" y="777240"/>
            <a:ext cx="8741664" cy="0"/>
          </a:xfrm>
          <a:prstGeom prst="line">
            <a:avLst/>
          </a:prstGeom>
          <a:noFill/>
          <a:ln w="19050">
            <a:solidFill>
              <a:srgbClr val="2C5282"/>
            </a:solidFill>
            <a:prstDash val="solid"/>
          </a:ln>
        </p:spPr>
      </p:sp>
      <p:sp>
        <p:nvSpPr>
          <p:cNvPr id="5" name="Shape 3"/>
          <p:cNvSpPr/>
          <p:nvPr/>
        </p:nvSpPr>
        <p:spPr>
          <a:xfrm>
            <a:off x="201168" y="960120"/>
            <a:ext cx="8741664" cy="1280160"/>
          </a:xfrm>
          <a:prstGeom prst="rect">
            <a:avLst/>
          </a:prstGeom>
          <a:solidFill>
            <a:srgbClr val="EBF4FF"/>
          </a:solidFill>
          <a:ln w="15240">
            <a:solidFill>
              <a:srgbClr val="2C5282"/>
            </a:solidFill>
            <a:prstDash val="solid"/>
          </a:ln>
          <a:effectLst>
            <a:outerShdw sx="100000" sy="100000" kx="0" ky="0" algn="bl" rotWithShape="0" blurRad="76200" dist="38100" dir="8100000">
              <a:srgbClr val="000000">
                <a:alpha val="10000"/>
              </a:srgbClr>
            </a:outerShdw>
          </a:effectLst>
        </p:spPr>
      </p:sp>
      <p:sp>
        <p:nvSpPr>
          <p:cNvPr id="6" name="Text 4"/>
          <p:cNvSpPr/>
          <p:nvPr/>
        </p:nvSpPr>
        <p:spPr>
          <a:xfrm>
            <a:off x="320040" y="1033272"/>
            <a:ext cx="8503920" cy="292608"/>
          </a:xfrm>
          <a:prstGeom prst="rect">
            <a:avLst/>
          </a:prstGeom>
          <a:noFill/>
          <a:ln/>
        </p:spPr>
        <p:txBody>
          <a:bodyPr wrap="square" lIns="0" tIns="0" rIns="0" bIns="0" rtlCol="0" anchor="ctr"/>
          <a:lstStyle/>
          <a:p>
            <a:pPr indent="0" marL="0">
              <a:buNone/>
            </a:pPr>
            <a:r>
              <a:rPr lang="en-US" sz="1300" b="1" dirty="0">
                <a:solidFill>
                  <a:srgbClr val="2C5282"/>
                </a:solidFill>
                <a:latin typeface="Calibri" pitchFamily="34" charset="0"/>
                <a:ea typeface="Calibri" pitchFamily="34" charset="-122"/>
                <a:cs typeface="Calibri" pitchFamily="34" charset="-120"/>
              </a:rPr>
              <a:t>Ecuación de actualización del mejoramiento:</a:t>
            </a:r>
            <a:endParaRPr lang="en-US" sz="1300" dirty="0"/>
          </a:p>
        </p:txBody>
      </p:sp>
      <p:sp>
        <p:nvSpPr>
          <p:cNvPr id="7" name="Text 5"/>
          <p:cNvSpPr/>
          <p:nvPr/>
        </p:nvSpPr>
        <p:spPr>
          <a:xfrm>
            <a:off x="320040" y="1389888"/>
            <a:ext cx="8503920" cy="530352"/>
          </a:xfrm>
          <a:prstGeom prst="rect">
            <a:avLst/>
          </a:prstGeom>
          <a:noFill/>
          <a:ln/>
        </p:spPr>
        <p:txBody>
          <a:bodyPr wrap="square" lIns="0" tIns="0" rIns="0" bIns="0" rtlCol="0" anchor="ctr"/>
          <a:lstStyle/>
          <a:p>
            <a:pPr algn="ctr" indent="0" marL="0">
              <a:buNone/>
            </a:pPr>
            <a:r>
              <a:rPr lang="en-US" sz="2800" b="1" dirty="0">
                <a:solidFill>
                  <a:srgbClr val="1A3457"/>
                </a:solidFill>
                <a:latin typeface="Calibri" pitchFamily="34" charset="0"/>
                <a:ea typeface="Calibri" pitchFamily="34" charset="-122"/>
                <a:cs typeface="Calibri" pitchFamily="34" charset="-120"/>
              </a:rPr>
              <a:t>T₁(n+1)  =  T₁(n)  +  α · Δ(n)</a:t>
            </a:r>
            <a:endParaRPr lang="en-US" sz="2800" dirty="0"/>
          </a:p>
        </p:txBody>
      </p:sp>
      <p:sp>
        <p:nvSpPr>
          <p:cNvPr id="8" name="Text 6"/>
          <p:cNvSpPr/>
          <p:nvPr/>
        </p:nvSpPr>
        <p:spPr>
          <a:xfrm>
            <a:off x="320040" y="1965960"/>
            <a:ext cx="8503920" cy="201168"/>
          </a:xfrm>
          <a:prstGeom prst="rect">
            <a:avLst/>
          </a:prstGeom>
          <a:noFill/>
          <a:ln/>
        </p:spPr>
        <p:txBody>
          <a:bodyPr wrap="square" lIns="0" tIns="0" rIns="0" bIns="0" rtlCol="0" anchor="ctr"/>
          <a:lstStyle/>
          <a:p>
            <a:pPr indent="0" marL="0">
              <a:buNone/>
            </a:pPr>
            <a:r>
              <a:rPr lang="en-US" sz="1200" i="1" dirty="0">
                <a:solidFill>
                  <a:srgbClr val="718096"/>
                </a:solidFill>
                <a:latin typeface="Calibri" pitchFamily="34" charset="0"/>
                <a:ea typeface="Calibri" pitchFamily="34" charset="-122"/>
                <a:cs typeface="Calibri" pitchFamily="34" charset="-120"/>
              </a:rPr>
              <a:t>donde α &gt; 0 es el parámetro de velocidad de ajuste</a:t>
            </a:r>
            <a:endParaRPr lang="en-US" sz="1200" dirty="0"/>
          </a:p>
        </p:txBody>
      </p:sp>
      <p:sp>
        <p:nvSpPr>
          <p:cNvPr id="9" name="Text 7"/>
          <p:cNvSpPr/>
          <p:nvPr/>
        </p:nvSpPr>
        <p:spPr>
          <a:xfrm>
            <a:off x="201168" y="2423160"/>
            <a:ext cx="8741664" cy="347472"/>
          </a:xfrm>
          <a:prstGeom prst="rect">
            <a:avLst/>
          </a:prstGeom>
          <a:noFill/>
          <a:ln/>
        </p:spPr>
        <p:txBody>
          <a:bodyPr wrap="square" rtlCol="0" anchor="ctr"/>
          <a:lstStyle/>
          <a:p>
            <a:pPr indent="0" marL="0">
              <a:buNone/>
            </a:pPr>
            <a:r>
              <a:rPr lang="en-US" sz="1400" b="1" dirty="0">
                <a:solidFill>
                  <a:srgbClr val="1A202C"/>
                </a:solidFill>
                <a:latin typeface="Calibri" pitchFamily="34" charset="0"/>
                <a:ea typeface="Calibri" pitchFamily="34" charset="-122"/>
                <a:cs typeface="Calibri" pitchFamily="34" charset="-120"/>
              </a:rPr>
              <a:t>Conexión con modelos de aprendizaje anteriores:</a:t>
            </a:r>
            <a:endParaRPr lang="en-US" sz="1400" dirty="0"/>
          </a:p>
        </p:txBody>
      </p:sp>
      <p:sp>
        <p:nvSpPr>
          <p:cNvPr id="10" name="Shape 8"/>
          <p:cNvSpPr/>
          <p:nvPr/>
        </p:nvSpPr>
        <p:spPr>
          <a:xfrm>
            <a:off x="201168" y="2880360"/>
            <a:ext cx="8741664" cy="530352"/>
          </a:xfrm>
          <a:prstGeom prst="rect">
            <a:avLst/>
          </a:prstGeom>
          <a:solidFill>
            <a:srgbClr val="F7F9FB"/>
          </a:solidFill>
          <a:ln w="15240">
            <a:solidFill>
              <a:srgbClr val="718096"/>
            </a:solidFill>
            <a:prstDash val="solid"/>
          </a:ln>
          <a:effectLst>
            <a:outerShdw sx="100000" sy="100000" kx="0" ky="0" algn="bl" rotWithShape="0" blurRad="76200" dist="38100" dir="8100000">
              <a:srgbClr val="000000">
                <a:alpha val="10000"/>
              </a:srgbClr>
            </a:outerShdw>
          </a:effectLst>
        </p:spPr>
      </p:sp>
      <p:sp>
        <p:nvSpPr>
          <p:cNvPr id="11" name="Text 9"/>
          <p:cNvSpPr/>
          <p:nvPr/>
        </p:nvSpPr>
        <p:spPr>
          <a:xfrm>
            <a:off x="320040" y="2935224"/>
            <a:ext cx="2560320" cy="365760"/>
          </a:xfrm>
          <a:prstGeom prst="rect">
            <a:avLst/>
          </a:prstGeom>
          <a:noFill/>
          <a:ln/>
        </p:spPr>
        <p:txBody>
          <a:bodyPr wrap="square" lIns="0" tIns="0" rIns="0" bIns="0" rtlCol="0" anchor="ctr"/>
          <a:lstStyle/>
          <a:p>
            <a:pPr indent="0" marL="0">
              <a:buNone/>
            </a:pPr>
            <a:r>
              <a:rPr lang="en-US" sz="1200" b="1" dirty="0">
                <a:solidFill>
                  <a:srgbClr val="718096"/>
                </a:solidFill>
                <a:latin typeface="Calibri" pitchFamily="34" charset="0"/>
                <a:ea typeface="Calibri" pitchFamily="34" charset="-122"/>
                <a:cs typeface="Calibri" pitchFamily="34" charset="-120"/>
              </a:rPr>
              <a:t>Bush &amp; Mosteller (Cap. 8):</a:t>
            </a:r>
            <a:endParaRPr lang="en-US" sz="1200" dirty="0"/>
          </a:p>
        </p:txBody>
      </p:sp>
      <p:sp>
        <p:nvSpPr>
          <p:cNvPr id="12" name="Text 10"/>
          <p:cNvSpPr/>
          <p:nvPr/>
        </p:nvSpPr>
        <p:spPr>
          <a:xfrm>
            <a:off x="2834640" y="2935224"/>
            <a:ext cx="3840480" cy="365760"/>
          </a:xfrm>
          <a:prstGeom prst="rect">
            <a:avLst/>
          </a:prstGeom>
          <a:noFill/>
          <a:ln/>
        </p:spPr>
        <p:txBody>
          <a:bodyPr wrap="square" lIns="0" tIns="0" rIns="0" bIns="0" rtlCol="0" anchor="ctr"/>
          <a:lstStyle/>
          <a:p>
            <a:pPr indent="0" marL="0">
              <a:buNone/>
            </a:pPr>
            <a:r>
              <a:rPr lang="en-US" sz="1300" dirty="0">
                <a:solidFill>
                  <a:srgbClr val="1A3457"/>
                </a:solidFill>
                <a:latin typeface="Calibri" pitchFamily="34" charset="0"/>
                <a:ea typeface="Calibri" pitchFamily="34" charset="-122"/>
                <a:cs typeface="Calibri" pitchFamily="34" charset="-120"/>
              </a:rPr>
              <a:t>V(n+1)  =  V(n)  +  α(λ − V(n))</a:t>
            </a:r>
            <a:endParaRPr lang="en-US" sz="1300" dirty="0"/>
          </a:p>
        </p:txBody>
      </p:sp>
      <p:sp>
        <p:nvSpPr>
          <p:cNvPr id="13" name="Text 11"/>
          <p:cNvSpPr/>
          <p:nvPr/>
        </p:nvSpPr>
        <p:spPr>
          <a:xfrm>
            <a:off x="6675120" y="2971800"/>
            <a:ext cx="2103120" cy="320040"/>
          </a:xfrm>
          <a:prstGeom prst="rect">
            <a:avLst/>
          </a:prstGeom>
          <a:noFill/>
          <a:ln/>
        </p:spPr>
        <p:txBody>
          <a:bodyPr wrap="square" lIns="0" tIns="0" rIns="0" bIns="0" rtlCol="0" anchor="ctr"/>
          <a:lstStyle/>
          <a:p>
            <a:pPr indent="0" marL="0">
              <a:buNone/>
            </a:pPr>
            <a:r>
              <a:rPr lang="en-US" sz="1100" i="1" dirty="0">
                <a:solidFill>
                  <a:srgbClr val="718096"/>
                </a:solidFill>
                <a:latin typeface="Calibri" pitchFamily="34" charset="0"/>
                <a:ea typeface="Calibri" pitchFamily="34" charset="-122"/>
                <a:cs typeface="Calibri" pitchFamily="34" charset="-120"/>
              </a:rPr>
              <a:t>Error: resultado − predicción</a:t>
            </a:r>
            <a:endParaRPr lang="en-US" sz="1100" dirty="0"/>
          </a:p>
        </p:txBody>
      </p:sp>
      <p:sp>
        <p:nvSpPr>
          <p:cNvPr id="14" name="Shape 12"/>
          <p:cNvSpPr/>
          <p:nvPr/>
        </p:nvSpPr>
        <p:spPr>
          <a:xfrm>
            <a:off x="201168" y="3502152"/>
            <a:ext cx="8741664" cy="530352"/>
          </a:xfrm>
          <a:prstGeom prst="rect">
            <a:avLst/>
          </a:prstGeom>
          <a:solidFill>
            <a:srgbClr val="F7F9FB"/>
          </a:solidFill>
          <a:ln w="15240">
            <a:solidFill>
              <a:srgbClr val="718096"/>
            </a:solidFill>
            <a:prstDash val="solid"/>
          </a:ln>
          <a:effectLst>
            <a:outerShdw sx="100000" sy="100000" kx="0" ky="0" algn="bl" rotWithShape="0" blurRad="76200" dist="38100" dir="8100000">
              <a:srgbClr val="000000">
                <a:alpha val="10000"/>
              </a:srgbClr>
            </a:outerShdw>
          </a:effectLst>
        </p:spPr>
      </p:sp>
      <p:sp>
        <p:nvSpPr>
          <p:cNvPr id="15" name="Text 13"/>
          <p:cNvSpPr/>
          <p:nvPr/>
        </p:nvSpPr>
        <p:spPr>
          <a:xfrm>
            <a:off x="320040" y="3557016"/>
            <a:ext cx="2560320" cy="365760"/>
          </a:xfrm>
          <a:prstGeom prst="rect">
            <a:avLst/>
          </a:prstGeom>
          <a:noFill/>
          <a:ln/>
        </p:spPr>
        <p:txBody>
          <a:bodyPr wrap="square" lIns="0" tIns="0" rIns="0" bIns="0" rtlCol="0" anchor="ctr"/>
          <a:lstStyle/>
          <a:p>
            <a:pPr indent="0" marL="0">
              <a:buNone/>
            </a:pPr>
            <a:r>
              <a:rPr lang="en-US" sz="1200" b="1" dirty="0">
                <a:solidFill>
                  <a:srgbClr val="718096"/>
                </a:solidFill>
                <a:latin typeface="Calibri" pitchFamily="34" charset="0"/>
                <a:ea typeface="Calibri" pitchFamily="34" charset="-122"/>
                <a:cs typeface="Calibri" pitchFamily="34" charset="-120"/>
              </a:rPr>
              <a:t>Rescorla-Wagner (Cap. 11):</a:t>
            </a:r>
            <a:endParaRPr lang="en-US" sz="1200" dirty="0"/>
          </a:p>
        </p:txBody>
      </p:sp>
      <p:sp>
        <p:nvSpPr>
          <p:cNvPr id="16" name="Text 14"/>
          <p:cNvSpPr/>
          <p:nvPr/>
        </p:nvSpPr>
        <p:spPr>
          <a:xfrm>
            <a:off x="2834640" y="3557016"/>
            <a:ext cx="3840480" cy="365760"/>
          </a:xfrm>
          <a:prstGeom prst="rect">
            <a:avLst/>
          </a:prstGeom>
          <a:noFill/>
          <a:ln/>
        </p:spPr>
        <p:txBody>
          <a:bodyPr wrap="square" lIns="0" tIns="0" rIns="0" bIns="0" rtlCol="0" anchor="ctr"/>
          <a:lstStyle/>
          <a:p>
            <a:pPr indent="0" marL="0">
              <a:buNone/>
            </a:pPr>
            <a:r>
              <a:rPr lang="en-US" sz="1300" dirty="0">
                <a:solidFill>
                  <a:srgbClr val="1A3457"/>
                </a:solidFill>
                <a:latin typeface="Calibri" pitchFamily="34" charset="0"/>
                <a:ea typeface="Calibri" pitchFamily="34" charset="-122"/>
                <a:cs typeface="Calibri" pitchFamily="34" charset="-120"/>
              </a:rPr>
              <a:t>ΔV_i  =  αβ(λ − ΣV)</a:t>
            </a:r>
            <a:endParaRPr lang="en-US" sz="1300" dirty="0"/>
          </a:p>
        </p:txBody>
      </p:sp>
      <p:sp>
        <p:nvSpPr>
          <p:cNvPr id="17" name="Text 15"/>
          <p:cNvSpPr/>
          <p:nvPr/>
        </p:nvSpPr>
        <p:spPr>
          <a:xfrm>
            <a:off x="6675120" y="3593592"/>
            <a:ext cx="2103120" cy="320040"/>
          </a:xfrm>
          <a:prstGeom prst="rect">
            <a:avLst/>
          </a:prstGeom>
          <a:noFill/>
          <a:ln/>
        </p:spPr>
        <p:txBody>
          <a:bodyPr wrap="square" lIns="0" tIns="0" rIns="0" bIns="0" rtlCol="0" anchor="ctr"/>
          <a:lstStyle/>
          <a:p>
            <a:pPr indent="0" marL="0">
              <a:buNone/>
            </a:pPr>
            <a:r>
              <a:rPr lang="en-US" sz="1100" i="1" dirty="0">
                <a:solidFill>
                  <a:srgbClr val="718096"/>
                </a:solidFill>
                <a:latin typeface="Calibri" pitchFamily="34" charset="0"/>
                <a:ea typeface="Calibri" pitchFamily="34" charset="-122"/>
                <a:cs typeface="Calibri" pitchFamily="34" charset="-120"/>
              </a:rPr>
              <a:t>Error: refuerzo − suma de fuerzas</a:t>
            </a:r>
            <a:endParaRPr lang="en-US" sz="1100" dirty="0"/>
          </a:p>
        </p:txBody>
      </p:sp>
      <p:sp>
        <p:nvSpPr>
          <p:cNvPr id="18" name="Shape 16"/>
          <p:cNvSpPr/>
          <p:nvPr/>
        </p:nvSpPr>
        <p:spPr>
          <a:xfrm>
            <a:off x="201168" y="4123944"/>
            <a:ext cx="8741664" cy="530352"/>
          </a:xfrm>
          <a:prstGeom prst="rect">
            <a:avLst/>
          </a:prstGeom>
          <a:solidFill>
            <a:srgbClr val="FFF3E8"/>
          </a:solidFill>
          <a:ln w="15240">
            <a:solidFill>
              <a:srgbClr val="C05621"/>
            </a:solidFill>
            <a:prstDash val="solid"/>
          </a:ln>
          <a:effectLst>
            <a:outerShdw sx="100000" sy="100000" kx="0" ky="0" algn="bl" rotWithShape="0" blurRad="76200" dist="38100" dir="8100000">
              <a:srgbClr val="000000">
                <a:alpha val="10000"/>
              </a:srgbClr>
            </a:outerShdw>
          </a:effectLst>
        </p:spPr>
      </p:sp>
      <p:sp>
        <p:nvSpPr>
          <p:cNvPr id="19" name="Text 17"/>
          <p:cNvSpPr/>
          <p:nvPr/>
        </p:nvSpPr>
        <p:spPr>
          <a:xfrm>
            <a:off x="320040" y="4178808"/>
            <a:ext cx="2560320" cy="365760"/>
          </a:xfrm>
          <a:prstGeom prst="rect">
            <a:avLst/>
          </a:prstGeom>
          <a:noFill/>
          <a:ln/>
        </p:spPr>
        <p:txBody>
          <a:bodyPr wrap="square" lIns="0" tIns="0" rIns="0" bIns="0" rtlCol="0" anchor="ctr"/>
          <a:lstStyle/>
          <a:p>
            <a:pPr indent="0" marL="0">
              <a:buNone/>
            </a:pPr>
            <a:r>
              <a:rPr lang="en-US" sz="1200" b="1" dirty="0">
                <a:solidFill>
                  <a:srgbClr val="C05621"/>
                </a:solidFill>
                <a:latin typeface="Calibri" pitchFamily="34" charset="0"/>
                <a:ea typeface="Calibri" pitchFamily="34" charset="-122"/>
                <a:cs typeface="Calibri" pitchFamily="34" charset="-120"/>
              </a:rPr>
              <a:t>Mejoramiento (Cap. 15):</a:t>
            </a:r>
            <a:endParaRPr lang="en-US" sz="1200" dirty="0"/>
          </a:p>
        </p:txBody>
      </p:sp>
      <p:sp>
        <p:nvSpPr>
          <p:cNvPr id="20" name="Text 18"/>
          <p:cNvSpPr/>
          <p:nvPr/>
        </p:nvSpPr>
        <p:spPr>
          <a:xfrm>
            <a:off x="2834640" y="4178808"/>
            <a:ext cx="3840480" cy="365760"/>
          </a:xfrm>
          <a:prstGeom prst="rect">
            <a:avLst/>
          </a:prstGeom>
          <a:noFill/>
          <a:ln/>
        </p:spPr>
        <p:txBody>
          <a:bodyPr wrap="square" lIns="0" tIns="0" rIns="0" bIns="0" rtlCol="0" anchor="ctr"/>
          <a:lstStyle/>
          <a:p>
            <a:pPr indent="0" marL="0">
              <a:buNone/>
            </a:pPr>
            <a:r>
              <a:rPr lang="en-US" sz="1300" b="1" dirty="0">
                <a:solidFill>
                  <a:srgbClr val="C05621"/>
                </a:solidFill>
                <a:latin typeface="Calibri" pitchFamily="34" charset="0"/>
                <a:ea typeface="Calibri" pitchFamily="34" charset="-122"/>
                <a:cs typeface="Calibri" pitchFamily="34" charset="-120"/>
              </a:rPr>
              <a:t>T₁(n+1)  =  T₁(n)  +  α · Δ(n)</a:t>
            </a:r>
            <a:endParaRPr lang="en-US" sz="1300" dirty="0"/>
          </a:p>
        </p:txBody>
      </p:sp>
      <p:sp>
        <p:nvSpPr>
          <p:cNvPr id="21" name="Text 19"/>
          <p:cNvSpPr/>
          <p:nvPr/>
        </p:nvSpPr>
        <p:spPr>
          <a:xfrm>
            <a:off x="6675120" y="4215384"/>
            <a:ext cx="2103120" cy="320040"/>
          </a:xfrm>
          <a:prstGeom prst="rect">
            <a:avLst/>
          </a:prstGeom>
          <a:noFill/>
          <a:ln/>
        </p:spPr>
        <p:txBody>
          <a:bodyPr wrap="square" lIns="0" tIns="0" rIns="0" bIns="0" rtlCol="0" anchor="ctr"/>
          <a:lstStyle/>
          <a:p>
            <a:pPr indent="0" marL="0">
              <a:buNone/>
            </a:pPr>
            <a:r>
              <a:rPr lang="en-US" sz="1100" i="1" dirty="0">
                <a:solidFill>
                  <a:srgbClr val="718096"/>
                </a:solidFill>
                <a:latin typeface="Calibri" pitchFamily="34" charset="0"/>
                <a:ea typeface="Calibri" pitchFamily="34" charset="-122"/>
                <a:cs typeface="Calibri" pitchFamily="34" charset="-120"/>
              </a:rPr>
              <a:t>Error: diferencia entre tasas locales</a:t>
            </a:r>
            <a:endParaRPr lang="en-US" sz="1100" dirty="0"/>
          </a:p>
        </p:txBody>
      </p:sp>
      <p:sp>
        <p:nvSpPr>
          <p:cNvPr id="22" name="Text 20"/>
          <p:cNvSpPr/>
          <p:nvPr/>
        </p:nvSpPr>
        <p:spPr>
          <a:xfrm>
            <a:off x="201168" y="4773168"/>
            <a:ext cx="8741664" cy="274320"/>
          </a:xfrm>
          <a:prstGeom prst="rect">
            <a:avLst/>
          </a:prstGeom>
          <a:noFill/>
          <a:ln/>
        </p:spPr>
        <p:txBody>
          <a:bodyPr wrap="square" rtlCol="0" anchor="ctr"/>
          <a:lstStyle/>
          <a:p>
            <a:pPr indent="0" marL="0">
              <a:buNone/>
            </a:pPr>
            <a:r>
              <a:rPr lang="en-US" sz="1300" b="1" i="1" dirty="0">
                <a:solidFill>
                  <a:srgbClr val="2C5282"/>
                </a:solidFill>
                <a:latin typeface="Calibri" pitchFamily="34" charset="0"/>
                <a:ea typeface="Calibri" pitchFamily="34" charset="-122"/>
                <a:cs typeface="Calibri" pitchFamily="34" charset="-120"/>
              </a:rPr>
              <a:t>La arquitectura del comparador es la misma; cambia la naturaleza de las variables comparadas.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C5282"/>
          </a:solidFill>
          <a:ln/>
        </p:spPr>
      </p:sp>
      <p:sp>
        <p:nvSpPr>
          <p:cNvPr id="3" name="Text 1"/>
          <p:cNvSpPr/>
          <p:nvPr/>
        </p:nvSpPr>
        <p:spPr>
          <a:xfrm>
            <a:off x="201168" y="164592"/>
            <a:ext cx="8778240" cy="566928"/>
          </a:xfrm>
          <a:prstGeom prst="rect">
            <a:avLst/>
          </a:prstGeom>
          <a:noFill/>
          <a:ln/>
        </p:spPr>
        <p:txBody>
          <a:bodyPr wrap="square" lIns="0" tIns="0" rIns="0" bIns="0" rtlCol="0" anchor="ctr"/>
          <a:lstStyle/>
          <a:p>
            <a:pPr indent="0" marL="0">
              <a:buNone/>
            </a:pPr>
            <a:r>
              <a:rPr lang="en-US" sz="2600" b="1" dirty="0">
                <a:solidFill>
                  <a:srgbClr val="2C5282"/>
                </a:solidFill>
                <a:latin typeface="Calibri" pitchFamily="34" charset="0"/>
                <a:ea typeface="Calibri" pitchFamily="34" charset="-122"/>
                <a:cs typeface="Calibri" pitchFamily="34" charset="-120"/>
              </a:rPr>
              <a:t>¿Por qué el sistema siempre converge? — Los dos efectos simultáneos</a:t>
            </a:r>
            <a:endParaRPr lang="en-US" sz="2600" dirty="0"/>
          </a:p>
        </p:txBody>
      </p:sp>
      <p:sp>
        <p:nvSpPr>
          <p:cNvPr id="4" name="Shape 2"/>
          <p:cNvSpPr/>
          <p:nvPr/>
        </p:nvSpPr>
        <p:spPr>
          <a:xfrm>
            <a:off x="201168" y="777240"/>
            <a:ext cx="8741664" cy="0"/>
          </a:xfrm>
          <a:prstGeom prst="line">
            <a:avLst/>
          </a:prstGeom>
          <a:noFill/>
          <a:ln w="19050">
            <a:solidFill>
              <a:srgbClr val="2C5282"/>
            </a:solidFill>
            <a:prstDash val="solid"/>
          </a:ln>
        </p:spPr>
      </p:sp>
      <p:sp>
        <p:nvSpPr>
          <p:cNvPr id="5" name="Text 3"/>
          <p:cNvSpPr/>
          <p:nvPr/>
        </p:nvSpPr>
        <p:spPr>
          <a:xfrm>
            <a:off x="201168" y="914400"/>
            <a:ext cx="8741664" cy="384048"/>
          </a:xfrm>
          <a:prstGeom prst="rect">
            <a:avLst/>
          </a:prstGeom>
          <a:noFill/>
          <a:ln/>
        </p:spPr>
        <p:txBody>
          <a:bodyPr wrap="square" rtlCol="0" anchor="ctr"/>
          <a:lstStyle/>
          <a:p>
            <a:pPr indent="0" marL="0">
              <a:buNone/>
            </a:pPr>
            <a:r>
              <a:rPr lang="en-US" sz="1500" b="1" dirty="0">
                <a:solidFill>
                  <a:srgbClr val="2C5282"/>
                </a:solidFill>
                <a:latin typeface="Calibri" pitchFamily="34" charset="0"/>
                <a:ea typeface="Calibri" pitchFamily="34" charset="-122"/>
                <a:cs typeface="Calibri" pitchFamily="34" charset="-120"/>
              </a:rPr>
              <a:t>Caso: Δ &gt; 0  (opción 1 más rentable)  →  el organismo aumenta T₁</a:t>
            </a:r>
            <a:endParaRPr lang="en-US" sz="1500" dirty="0"/>
          </a:p>
        </p:txBody>
      </p:sp>
      <p:sp>
        <p:nvSpPr>
          <p:cNvPr id="6" name="Shape 4"/>
          <p:cNvSpPr/>
          <p:nvPr/>
        </p:nvSpPr>
        <p:spPr>
          <a:xfrm>
            <a:off x="201168" y="1417320"/>
            <a:ext cx="4206240" cy="2560320"/>
          </a:xfrm>
          <a:prstGeom prst="rect">
            <a:avLst/>
          </a:prstGeom>
          <a:solidFill>
            <a:srgbClr val="EBF4FF"/>
          </a:solidFill>
          <a:ln w="15240">
            <a:solidFill>
              <a:srgbClr val="2C5282"/>
            </a:solidFill>
            <a:prstDash val="solid"/>
          </a:ln>
          <a:effectLst>
            <a:outerShdw sx="100000" sy="100000" kx="0" ky="0" algn="bl" rotWithShape="0" blurRad="76200" dist="38100" dir="8100000">
              <a:srgbClr val="000000">
                <a:alpha val="10000"/>
              </a:srgbClr>
            </a:outerShdw>
          </a:effectLst>
        </p:spPr>
      </p:sp>
      <p:sp>
        <p:nvSpPr>
          <p:cNvPr id="7" name="Text 5"/>
          <p:cNvSpPr/>
          <p:nvPr/>
        </p:nvSpPr>
        <p:spPr>
          <a:xfrm>
            <a:off x="338328" y="1508760"/>
            <a:ext cx="3931920" cy="320040"/>
          </a:xfrm>
          <a:prstGeom prst="rect">
            <a:avLst/>
          </a:prstGeom>
          <a:noFill/>
          <a:ln/>
        </p:spPr>
        <p:txBody>
          <a:bodyPr wrap="square" lIns="0" tIns="0" rIns="0" bIns="0" rtlCol="0" anchor="ctr"/>
          <a:lstStyle/>
          <a:p>
            <a:pPr indent="0" marL="0">
              <a:buNone/>
            </a:pPr>
            <a:r>
              <a:rPr lang="en-US" sz="1300" b="1" dirty="0">
                <a:solidFill>
                  <a:srgbClr val="2C5282"/>
                </a:solidFill>
                <a:latin typeface="Calibri" pitchFamily="34" charset="0"/>
                <a:ea typeface="Calibri" pitchFamily="34" charset="-122"/>
                <a:cs typeface="Calibri" pitchFamily="34" charset="-120"/>
              </a:rPr>
              <a:t>Efecto 1</a:t>
            </a:r>
            <a:endParaRPr lang="en-US" sz="1300" dirty="0"/>
          </a:p>
        </p:txBody>
      </p:sp>
      <p:sp>
        <p:nvSpPr>
          <p:cNvPr id="8" name="Text 6"/>
          <p:cNvSpPr/>
          <p:nvPr/>
        </p:nvSpPr>
        <p:spPr>
          <a:xfrm>
            <a:off x="338328" y="1828800"/>
            <a:ext cx="3931920" cy="320040"/>
          </a:xfrm>
          <a:prstGeom prst="rect">
            <a:avLst/>
          </a:prstGeom>
          <a:noFill/>
          <a:ln/>
        </p:spPr>
        <p:txBody>
          <a:bodyPr wrap="square" lIns="0" tIns="0" rIns="0" bIns="0" rtlCol="0" anchor="ctr"/>
          <a:lstStyle/>
          <a:p>
            <a:pPr indent="0" marL="0">
              <a:buNone/>
            </a:pPr>
            <a:r>
              <a:rPr lang="en-US" sz="1500" b="1" dirty="0">
                <a:solidFill>
                  <a:srgbClr val="2C5282"/>
                </a:solidFill>
                <a:latin typeface="Calibri" pitchFamily="34" charset="0"/>
                <a:ea typeface="Calibri" pitchFamily="34" charset="-122"/>
                <a:cs typeface="Calibri" pitchFamily="34" charset="-120"/>
              </a:rPr>
              <a:t>Sobre ρ₁</a:t>
            </a:r>
            <a:endParaRPr lang="en-US" sz="1500" dirty="0"/>
          </a:p>
        </p:txBody>
      </p:sp>
      <p:sp>
        <p:nvSpPr>
          <p:cNvPr id="9" name="Text 7"/>
          <p:cNvSpPr/>
          <p:nvPr/>
        </p:nvSpPr>
        <p:spPr>
          <a:xfrm>
            <a:off x="338328" y="2194560"/>
            <a:ext cx="3931920" cy="1371600"/>
          </a:xfrm>
          <a:prstGeom prst="rect">
            <a:avLst/>
          </a:prstGeom>
          <a:noFill/>
          <a:ln/>
        </p:spPr>
        <p:txBody>
          <a:bodyPr wrap="square" lIns="0" tIns="0" rIns="0" bIns="0" rtlCol="0" anchor="ctr"/>
          <a:lstStyle/>
          <a:p>
            <a:pPr indent="0" marL="0">
              <a:buNone/>
            </a:pPr>
            <a:r>
              <a:rPr lang="en-US" sz="1300" dirty="0">
                <a:solidFill>
                  <a:srgbClr val="1A202C"/>
                </a:solidFill>
                <a:latin typeface="Calibri" pitchFamily="34" charset="0"/>
                <a:ea typeface="Calibri" pitchFamily="34" charset="-122"/>
                <a:cs typeface="Calibri" pitchFamily="34" charset="-120"/>
              </a:rPr>
              <a:t>Al aumentar T₁:</a:t>
            </a:r>
            <a:endParaRPr lang="en-US" sz="1300" dirty="0"/>
          </a:p>
          <a:p>
            <a:pPr indent="0" marL="0">
              <a:buNone/>
            </a:pPr>
            <a:r>
              <a:rPr lang="en-US" sz="1300" dirty="0">
                <a:solidFill>
                  <a:srgbClr val="1A202C"/>
                </a:solidFill>
                <a:latin typeface="Calibri" pitchFamily="34" charset="0"/>
                <a:ea typeface="Calibri" pitchFamily="34" charset="-122"/>
                <a:cs typeface="Calibri" pitchFamily="34" charset="-120"/>
              </a:rPr>
              <a:t>• Denominador de r₁/T₁ crece</a:t>
            </a:r>
            <a:endParaRPr lang="en-US" sz="1300" dirty="0"/>
          </a:p>
          <a:p>
            <a:pPr indent="0" marL="0">
              <a:buNone/>
            </a:pPr>
            <a:r>
              <a:rPr lang="en-US" sz="1300" dirty="0">
                <a:solidFill>
                  <a:srgbClr val="1A202C"/>
                </a:solidFill>
                <a:latin typeface="Calibri" pitchFamily="34" charset="0"/>
                <a:ea typeface="Calibri" pitchFamily="34" charset="-122"/>
                <a:cs typeface="Calibri" pitchFamily="34" charset="-120"/>
              </a:rPr>
              <a:t>• ρ₁  DISMINUYE</a:t>
            </a:r>
            <a:endParaRPr lang="en-US" sz="1300" dirty="0"/>
          </a:p>
          <a:p>
            <a:pPr indent="0" marL="0">
              <a:buNone/>
            </a:pPr>
            <a:endParaRPr lang="en-US" sz="1300" dirty="0"/>
          </a:p>
          <a:p>
            <a:pPr indent="0" marL="0">
              <a:buNone/>
            </a:pPr>
            <a:r>
              <a:rPr lang="en-US" sz="1300" dirty="0">
                <a:solidFill>
                  <a:srgbClr val="1A202C"/>
                </a:solidFill>
                <a:latin typeface="Calibri" pitchFamily="34" charset="0"/>
                <a:ea typeface="Calibri" pitchFamily="34" charset="-122"/>
                <a:cs typeface="Calibri" pitchFamily="34" charset="-120"/>
              </a:rPr>
              <a:t>La opción que recibe más tiempo</a:t>
            </a:r>
            <a:endParaRPr lang="en-US" sz="1300" dirty="0"/>
          </a:p>
          <a:p>
            <a:pPr indent="0" marL="0">
              <a:buNone/>
            </a:pPr>
            <a:r>
              <a:rPr lang="en-US" sz="1300" dirty="0">
                <a:solidFill>
                  <a:srgbClr val="1A202C"/>
                </a:solidFill>
                <a:latin typeface="Calibri" pitchFamily="34" charset="0"/>
                <a:ea typeface="Calibri" pitchFamily="34" charset="-122"/>
                <a:cs typeface="Calibri" pitchFamily="34" charset="-120"/>
              </a:rPr>
              <a:t>se vuelve menos rentable por visita.</a:t>
            </a:r>
            <a:endParaRPr lang="en-US" sz="1300" dirty="0"/>
          </a:p>
        </p:txBody>
      </p:sp>
      <p:sp>
        <p:nvSpPr>
          <p:cNvPr id="10" name="Shape 8"/>
          <p:cNvSpPr/>
          <p:nvPr/>
        </p:nvSpPr>
        <p:spPr>
          <a:xfrm>
            <a:off x="4681728" y="1417320"/>
            <a:ext cx="4206240" cy="2560320"/>
          </a:xfrm>
          <a:prstGeom prst="rect">
            <a:avLst/>
          </a:prstGeom>
          <a:solidFill>
            <a:srgbClr val="E6F4ED"/>
          </a:solidFill>
          <a:ln w="15240">
            <a:solidFill>
              <a:srgbClr val="276749"/>
            </a:solidFill>
            <a:prstDash val="solid"/>
          </a:ln>
          <a:effectLst>
            <a:outerShdw sx="100000" sy="100000" kx="0" ky="0" algn="bl" rotWithShape="0" blurRad="76200" dist="38100" dir="8100000">
              <a:srgbClr val="000000">
                <a:alpha val="10000"/>
              </a:srgbClr>
            </a:outerShdw>
          </a:effectLst>
        </p:spPr>
      </p:sp>
      <p:sp>
        <p:nvSpPr>
          <p:cNvPr id="11" name="Text 9"/>
          <p:cNvSpPr/>
          <p:nvPr/>
        </p:nvSpPr>
        <p:spPr>
          <a:xfrm>
            <a:off x="4818888" y="1508760"/>
            <a:ext cx="3931920" cy="320040"/>
          </a:xfrm>
          <a:prstGeom prst="rect">
            <a:avLst/>
          </a:prstGeom>
          <a:noFill/>
          <a:ln/>
        </p:spPr>
        <p:txBody>
          <a:bodyPr wrap="square" lIns="0" tIns="0" rIns="0" bIns="0" rtlCol="0" anchor="ctr"/>
          <a:lstStyle/>
          <a:p>
            <a:pPr indent="0" marL="0">
              <a:buNone/>
            </a:pPr>
            <a:r>
              <a:rPr lang="en-US" sz="1300" b="1" dirty="0">
                <a:solidFill>
                  <a:srgbClr val="276749"/>
                </a:solidFill>
                <a:latin typeface="Calibri" pitchFamily="34" charset="0"/>
                <a:ea typeface="Calibri" pitchFamily="34" charset="-122"/>
                <a:cs typeface="Calibri" pitchFamily="34" charset="-120"/>
              </a:rPr>
              <a:t>Efecto 2</a:t>
            </a:r>
            <a:endParaRPr lang="en-US" sz="1300" dirty="0"/>
          </a:p>
        </p:txBody>
      </p:sp>
      <p:sp>
        <p:nvSpPr>
          <p:cNvPr id="12" name="Text 10"/>
          <p:cNvSpPr/>
          <p:nvPr/>
        </p:nvSpPr>
        <p:spPr>
          <a:xfrm>
            <a:off x="4818888" y="1828800"/>
            <a:ext cx="3931920" cy="320040"/>
          </a:xfrm>
          <a:prstGeom prst="rect">
            <a:avLst/>
          </a:prstGeom>
          <a:noFill/>
          <a:ln/>
        </p:spPr>
        <p:txBody>
          <a:bodyPr wrap="square" lIns="0" tIns="0" rIns="0" bIns="0" rtlCol="0" anchor="ctr"/>
          <a:lstStyle/>
          <a:p>
            <a:pPr indent="0" marL="0">
              <a:buNone/>
            </a:pPr>
            <a:r>
              <a:rPr lang="en-US" sz="1500" b="1" dirty="0">
                <a:solidFill>
                  <a:srgbClr val="276749"/>
                </a:solidFill>
                <a:latin typeface="Calibri" pitchFamily="34" charset="0"/>
                <a:ea typeface="Calibri" pitchFamily="34" charset="-122"/>
                <a:cs typeface="Calibri" pitchFamily="34" charset="-120"/>
              </a:rPr>
              <a:t>Sobre ρ₂</a:t>
            </a:r>
            <a:endParaRPr lang="en-US" sz="1500" dirty="0"/>
          </a:p>
        </p:txBody>
      </p:sp>
      <p:sp>
        <p:nvSpPr>
          <p:cNvPr id="13" name="Text 11"/>
          <p:cNvSpPr/>
          <p:nvPr/>
        </p:nvSpPr>
        <p:spPr>
          <a:xfrm>
            <a:off x="4818888" y="2194560"/>
            <a:ext cx="3931920" cy="1371600"/>
          </a:xfrm>
          <a:prstGeom prst="rect">
            <a:avLst/>
          </a:prstGeom>
          <a:noFill/>
          <a:ln/>
        </p:spPr>
        <p:txBody>
          <a:bodyPr wrap="square" lIns="0" tIns="0" rIns="0" bIns="0" rtlCol="0" anchor="ctr"/>
          <a:lstStyle/>
          <a:p>
            <a:pPr indent="0" marL="0">
              <a:buNone/>
            </a:pPr>
            <a:r>
              <a:rPr lang="en-US" sz="1300" dirty="0">
                <a:solidFill>
                  <a:srgbClr val="1A202C"/>
                </a:solidFill>
                <a:latin typeface="Calibri" pitchFamily="34" charset="0"/>
                <a:ea typeface="Calibri" pitchFamily="34" charset="-122"/>
                <a:cs typeface="Calibri" pitchFamily="34" charset="-120"/>
              </a:rPr>
              <a:t>Al aumentar T₁, T₂ = 1−T₁ disminuye:</a:t>
            </a:r>
            <a:endParaRPr lang="en-US" sz="1300" dirty="0"/>
          </a:p>
          <a:p>
            <a:pPr indent="0" marL="0">
              <a:buNone/>
            </a:pPr>
            <a:r>
              <a:rPr lang="en-US" sz="1300" dirty="0">
                <a:solidFill>
                  <a:srgbClr val="1A202C"/>
                </a:solidFill>
                <a:latin typeface="Calibri" pitchFamily="34" charset="0"/>
                <a:ea typeface="Calibri" pitchFamily="34" charset="-122"/>
                <a:cs typeface="Calibri" pitchFamily="34" charset="-120"/>
              </a:rPr>
              <a:t>• Denominador de r₂/T₂ se achica</a:t>
            </a:r>
            <a:endParaRPr lang="en-US" sz="1300" dirty="0"/>
          </a:p>
          <a:p>
            <a:pPr indent="0" marL="0">
              <a:buNone/>
            </a:pPr>
            <a:r>
              <a:rPr lang="en-US" sz="1300" dirty="0">
                <a:solidFill>
                  <a:srgbClr val="1A202C"/>
                </a:solidFill>
                <a:latin typeface="Calibri" pitchFamily="34" charset="0"/>
                <a:ea typeface="Calibri" pitchFamily="34" charset="-122"/>
                <a:cs typeface="Calibri" pitchFamily="34" charset="-120"/>
              </a:rPr>
              <a:t>• ρ₂  AUMENTA</a:t>
            </a:r>
            <a:endParaRPr lang="en-US" sz="1300" dirty="0"/>
          </a:p>
          <a:p>
            <a:pPr indent="0" marL="0">
              <a:buNone/>
            </a:pPr>
            <a:endParaRPr lang="en-US" sz="1300" dirty="0"/>
          </a:p>
          <a:p>
            <a:pPr indent="0" marL="0">
              <a:buNone/>
            </a:pPr>
            <a:r>
              <a:rPr lang="en-US" sz="1300" dirty="0">
                <a:solidFill>
                  <a:srgbClr val="1A202C"/>
                </a:solidFill>
                <a:latin typeface="Calibri" pitchFamily="34" charset="0"/>
                <a:ea typeface="Calibri" pitchFamily="34" charset="-122"/>
                <a:cs typeface="Calibri" pitchFamily="34" charset="-120"/>
              </a:rPr>
              <a:t>La opción que recibe menos tiempo</a:t>
            </a:r>
            <a:endParaRPr lang="en-US" sz="1300" dirty="0"/>
          </a:p>
          <a:p>
            <a:pPr indent="0" marL="0">
              <a:buNone/>
            </a:pPr>
            <a:r>
              <a:rPr lang="en-US" sz="1300" dirty="0">
                <a:solidFill>
                  <a:srgbClr val="1A202C"/>
                </a:solidFill>
                <a:latin typeface="Calibri" pitchFamily="34" charset="0"/>
                <a:ea typeface="Calibri" pitchFamily="34" charset="-122"/>
                <a:cs typeface="Calibri" pitchFamily="34" charset="-120"/>
              </a:rPr>
              <a:t>se vuelve más rentable por visita.</a:t>
            </a:r>
            <a:endParaRPr lang="en-US" sz="1300" dirty="0"/>
          </a:p>
        </p:txBody>
      </p:sp>
      <p:sp>
        <p:nvSpPr>
          <p:cNvPr id="14" name="Shape 12"/>
          <p:cNvSpPr/>
          <p:nvPr/>
        </p:nvSpPr>
        <p:spPr>
          <a:xfrm>
            <a:off x="201168" y="4114800"/>
            <a:ext cx="8741664" cy="804672"/>
          </a:xfrm>
          <a:prstGeom prst="rect">
            <a:avLst/>
          </a:prstGeom>
          <a:solidFill>
            <a:srgbClr val="FFF3E8"/>
          </a:solidFill>
          <a:ln w="15240">
            <a:solidFill>
              <a:srgbClr val="C05621"/>
            </a:solidFill>
            <a:prstDash val="solid"/>
          </a:ln>
          <a:effectLst>
            <a:outerShdw sx="100000" sy="100000" kx="0" ky="0" algn="bl" rotWithShape="0" blurRad="76200" dist="38100" dir="8100000">
              <a:srgbClr val="000000">
                <a:alpha val="10000"/>
              </a:srgbClr>
            </a:outerShdw>
          </a:effectLst>
        </p:spPr>
      </p:sp>
      <p:sp>
        <p:nvSpPr>
          <p:cNvPr id="15" name="Text 13"/>
          <p:cNvSpPr/>
          <p:nvPr/>
        </p:nvSpPr>
        <p:spPr>
          <a:xfrm>
            <a:off x="320040" y="4187952"/>
            <a:ext cx="8503920" cy="274320"/>
          </a:xfrm>
          <a:prstGeom prst="rect">
            <a:avLst/>
          </a:prstGeom>
          <a:noFill/>
          <a:ln/>
        </p:spPr>
        <p:txBody>
          <a:bodyPr wrap="square" lIns="0" tIns="0" rIns="0" bIns="0" rtlCol="0" anchor="ctr"/>
          <a:lstStyle/>
          <a:p>
            <a:pPr algn="ctr" indent="0" marL="0">
              <a:buNone/>
            </a:pPr>
            <a:r>
              <a:rPr lang="en-US" sz="1400" b="1" dirty="0">
                <a:solidFill>
                  <a:srgbClr val="C05621"/>
                </a:solidFill>
                <a:latin typeface="Calibri" pitchFamily="34" charset="0"/>
                <a:ea typeface="Calibri" pitchFamily="34" charset="-122"/>
                <a:cs typeface="Calibri" pitchFamily="34" charset="-120"/>
              </a:rPr>
              <a:t>Ambos efectos empujan Δ = ρ₁ − ρ₂ hacia cero:  ρ₁ baja  +  ρ₂ sube.</a:t>
            </a:r>
            <a:endParaRPr lang="en-US" sz="1400" dirty="0"/>
          </a:p>
        </p:txBody>
      </p:sp>
      <p:sp>
        <p:nvSpPr>
          <p:cNvPr id="16" name="Text 14"/>
          <p:cNvSpPr/>
          <p:nvPr/>
        </p:nvSpPr>
        <p:spPr>
          <a:xfrm>
            <a:off x="320040" y="4480560"/>
            <a:ext cx="8503920" cy="347472"/>
          </a:xfrm>
          <a:prstGeom prst="rect">
            <a:avLst/>
          </a:prstGeom>
          <a:noFill/>
          <a:ln/>
        </p:spPr>
        <p:txBody>
          <a:bodyPr wrap="square" lIns="0" tIns="0" rIns="0" bIns="0" rtlCol="0" anchor="ctr"/>
          <a:lstStyle/>
          <a:p>
            <a:pPr indent="0" marL="0">
              <a:buNone/>
            </a:pPr>
            <a:r>
              <a:rPr lang="en-US" sz="1300" dirty="0">
                <a:solidFill>
                  <a:srgbClr val="1A202C"/>
                </a:solidFill>
                <a:latin typeface="Calibri" pitchFamily="34" charset="0"/>
                <a:ea typeface="Calibri" pitchFamily="34" charset="-122"/>
                <a:cs typeface="Calibri" pitchFamily="34" charset="-120"/>
              </a:rPr>
              <a:t>Retroalimentación negativa pura: al moverse hacia la opción más rentable, el organismo erosiona su propia ventaja y eleva la rentabilidad de la opción que está dejando.</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C5282"/>
          </a:solidFill>
          <a:ln/>
        </p:spPr>
      </p:sp>
      <p:sp>
        <p:nvSpPr>
          <p:cNvPr id="3" name="Text 1"/>
          <p:cNvSpPr/>
          <p:nvPr/>
        </p:nvSpPr>
        <p:spPr>
          <a:xfrm>
            <a:off x="201168" y="164592"/>
            <a:ext cx="8778240" cy="566928"/>
          </a:xfrm>
          <a:prstGeom prst="rect">
            <a:avLst/>
          </a:prstGeom>
          <a:noFill/>
          <a:ln/>
        </p:spPr>
        <p:txBody>
          <a:bodyPr wrap="square" lIns="0" tIns="0" rIns="0" bIns="0" rtlCol="0" anchor="ctr"/>
          <a:lstStyle/>
          <a:p>
            <a:pPr indent="0" marL="0">
              <a:buNone/>
            </a:pPr>
            <a:r>
              <a:rPr lang="en-US" sz="2600" b="1" dirty="0">
                <a:solidFill>
                  <a:srgbClr val="2C5282"/>
                </a:solidFill>
                <a:latin typeface="Calibri" pitchFamily="34" charset="0"/>
                <a:ea typeface="Calibri" pitchFamily="34" charset="-122"/>
                <a:cs typeface="Calibri" pitchFamily="34" charset="-120"/>
              </a:rPr>
              <a:t>Unicidad del equilibrio: un único punto de cruce</a:t>
            </a:r>
            <a:endParaRPr lang="en-US" sz="2600" dirty="0"/>
          </a:p>
        </p:txBody>
      </p:sp>
      <p:sp>
        <p:nvSpPr>
          <p:cNvPr id="4" name="Shape 2"/>
          <p:cNvSpPr/>
          <p:nvPr/>
        </p:nvSpPr>
        <p:spPr>
          <a:xfrm>
            <a:off x="201168" y="777240"/>
            <a:ext cx="8741664" cy="0"/>
          </a:xfrm>
          <a:prstGeom prst="line">
            <a:avLst/>
          </a:prstGeom>
          <a:noFill/>
          <a:ln w="19050">
            <a:solidFill>
              <a:srgbClr val="2C5282"/>
            </a:solidFill>
            <a:prstDash val="solid"/>
          </a:ln>
        </p:spPr>
      </p:sp>
      <p:sp>
        <p:nvSpPr>
          <p:cNvPr id="5" name="Text 3"/>
          <p:cNvSpPr/>
          <p:nvPr/>
        </p:nvSpPr>
        <p:spPr>
          <a:xfrm>
            <a:off x="201168" y="914400"/>
            <a:ext cx="8741664" cy="384048"/>
          </a:xfrm>
          <a:prstGeom prst="rect">
            <a:avLst/>
          </a:prstGeom>
          <a:noFill/>
          <a:ln/>
        </p:spPr>
        <p:txBody>
          <a:bodyPr wrap="square" rtlCol="0" anchor="ctr"/>
          <a:lstStyle/>
          <a:p>
            <a:pPr indent="0" marL="0">
              <a:buNone/>
            </a:pPr>
            <a:r>
              <a:rPr lang="en-US" sz="1500" b="1" dirty="0">
                <a:solidFill>
                  <a:srgbClr val="2C5282"/>
                </a:solidFill>
                <a:latin typeface="Calibri" pitchFamily="34" charset="0"/>
                <a:ea typeface="Calibri" pitchFamily="34" charset="-122"/>
                <a:cs typeface="Calibri" pitchFamily="34" charset="-120"/>
              </a:rPr>
              <a:t>¿Cuántos puntos de equilibrio tiene el sistema? Exactamente uno.</a:t>
            </a:r>
            <a:endParaRPr lang="en-US" sz="1500" dirty="0"/>
          </a:p>
        </p:txBody>
      </p:sp>
      <p:sp>
        <p:nvSpPr>
          <p:cNvPr id="6" name="Shape 4"/>
          <p:cNvSpPr/>
          <p:nvPr/>
        </p:nvSpPr>
        <p:spPr>
          <a:xfrm>
            <a:off x="201168" y="1417320"/>
            <a:ext cx="8741664" cy="1417320"/>
          </a:xfrm>
          <a:prstGeom prst="rect">
            <a:avLst/>
          </a:prstGeom>
          <a:solidFill>
            <a:srgbClr val="EBF4FF"/>
          </a:solidFill>
          <a:ln w="15240">
            <a:solidFill>
              <a:srgbClr val="2C5282"/>
            </a:solidFill>
            <a:prstDash val="solid"/>
          </a:ln>
          <a:effectLst>
            <a:outerShdw sx="100000" sy="100000" kx="0" ky="0" algn="bl" rotWithShape="0" blurRad="76200" dist="38100" dir="8100000">
              <a:srgbClr val="000000">
                <a:alpha val="10000"/>
              </a:srgbClr>
            </a:outerShdw>
          </a:effectLst>
        </p:spPr>
      </p:sp>
      <p:sp>
        <p:nvSpPr>
          <p:cNvPr id="7" name="Text 5"/>
          <p:cNvSpPr/>
          <p:nvPr/>
        </p:nvSpPr>
        <p:spPr>
          <a:xfrm>
            <a:off x="320040" y="1490472"/>
            <a:ext cx="8503920" cy="292608"/>
          </a:xfrm>
          <a:prstGeom prst="rect">
            <a:avLst/>
          </a:prstGeom>
          <a:noFill/>
          <a:ln/>
        </p:spPr>
        <p:txBody>
          <a:bodyPr wrap="square" lIns="0" tIns="0" rIns="0" bIns="0" rtlCol="0" anchor="ctr"/>
          <a:lstStyle/>
          <a:p>
            <a:pPr indent="0" marL="0">
              <a:buNone/>
            </a:pPr>
            <a:r>
              <a:rPr lang="en-US" sz="1300" b="1" dirty="0">
                <a:solidFill>
                  <a:srgbClr val="2C5282"/>
                </a:solidFill>
                <a:latin typeface="Calibri" pitchFamily="34" charset="0"/>
                <a:ea typeface="Calibri" pitchFamily="34" charset="-122"/>
                <a:cs typeface="Calibri" pitchFamily="34" charset="-120"/>
              </a:rPr>
              <a:t>Comportamiento de las funciones conforme T₁ varía de 0 a 1:</a:t>
            </a:r>
            <a:endParaRPr lang="en-US" sz="1300" dirty="0"/>
          </a:p>
        </p:txBody>
      </p:sp>
      <p:sp>
        <p:nvSpPr>
          <p:cNvPr id="8" name="Text 6"/>
          <p:cNvSpPr/>
          <p:nvPr/>
        </p:nvSpPr>
        <p:spPr>
          <a:xfrm>
            <a:off x="320040" y="1828800"/>
            <a:ext cx="8503920" cy="914400"/>
          </a:xfrm>
          <a:prstGeom prst="rect">
            <a:avLst/>
          </a:prstGeom>
          <a:noFill/>
          <a:ln/>
        </p:spPr>
        <p:txBody>
          <a:bodyPr wrap="square" lIns="0" tIns="0" rIns="0" bIns="0" rtlCol="0" anchor="ctr"/>
          <a:lstStyle/>
          <a:p>
            <a:pPr indent="0" marL="0">
              <a:buNone/>
            </a:pPr>
            <a:r>
              <a:rPr lang="en-US" sz="1400" b="1" dirty="0">
                <a:solidFill>
                  <a:srgbClr val="2C5282"/>
                </a:solidFill>
                <a:latin typeface="Calibri" pitchFamily="34" charset="0"/>
                <a:ea typeface="Calibri" pitchFamily="34" charset="-122"/>
                <a:cs typeface="Calibri" pitchFamily="34" charset="-120"/>
              </a:rPr>
              <a:t>ρ₁ = r₁/T₁  </a:t>
            </a:r>
            <a:pPr indent="0" marL="0">
              <a:buNone/>
            </a:pPr>
            <a:r>
              <a:rPr lang="en-US" sz="1400" dirty="0">
                <a:solidFill>
                  <a:srgbClr val="1A202C"/>
                </a:solidFill>
                <a:latin typeface="Calibri" pitchFamily="34" charset="0"/>
                <a:ea typeface="Calibri" pitchFamily="34" charset="-122"/>
                <a:cs typeface="Calibri" pitchFamily="34" charset="-120"/>
              </a:rPr>
              <a:t>es estrictamente decreciente: comienza muy alta (T₁ ≈ 0) y llega a r₁ (T₁ = 1)
</a:t>
            </a:r>
            <a:pPr indent="0" marL="0">
              <a:buNone/>
            </a:pPr>
            <a:r>
              <a:rPr lang="en-US" sz="1400" b="1" dirty="0">
                <a:solidFill>
                  <a:srgbClr val="276749"/>
                </a:solidFill>
                <a:latin typeface="Calibri" pitchFamily="34" charset="0"/>
                <a:ea typeface="Calibri" pitchFamily="34" charset="-122"/>
                <a:cs typeface="Calibri" pitchFamily="34" charset="-120"/>
              </a:rPr>
              <a:t>ρ₂ = r₂/T₂  </a:t>
            </a:r>
            <a:pPr indent="0" marL="0">
              <a:buNone/>
            </a:pPr>
            <a:r>
              <a:rPr lang="en-US" sz="1400" dirty="0">
                <a:solidFill>
                  <a:srgbClr val="1A202C"/>
                </a:solidFill>
                <a:latin typeface="Calibri" pitchFamily="34" charset="0"/>
                <a:ea typeface="Calibri" pitchFamily="34" charset="-122"/>
                <a:cs typeface="Calibri" pitchFamily="34" charset="-120"/>
              </a:rPr>
              <a:t>es estrictamente creciente: comienza en r₂ (T₁ ≈ 0) y crece sin límite (T₁ → 1)</a:t>
            </a:r>
            <a:endParaRPr lang="en-US" sz="1400" dirty="0"/>
          </a:p>
        </p:txBody>
      </p:sp>
      <p:sp>
        <p:nvSpPr>
          <p:cNvPr id="9" name="Shape 7"/>
          <p:cNvSpPr/>
          <p:nvPr/>
        </p:nvSpPr>
        <p:spPr>
          <a:xfrm>
            <a:off x="201168" y="2971800"/>
            <a:ext cx="8741664" cy="685800"/>
          </a:xfrm>
          <a:prstGeom prst="rect">
            <a:avLst/>
          </a:prstGeom>
          <a:solidFill>
            <a:srgbClr val="E6F4ED"/>
          </a:solidFill>
          <a:ln w="15240">
            <a:solidFill>
              <a:srgbClr val="276749"/>
            </a:solidFill>
            <a:prstDash val="solid"/>
          </a:ln>
          <a:effectLst>
            <a:outerShdw sx="100000" sy="100000" kx="0" ky="0" algn="bl" rotWithShape="0" blurRad="76200" dist="38100" dir="8100000">
              <a:srgbClr val="000000">
                <a:alpha val="10000"/>
              </a:srgbClr>
            </a:outerShdw>
          </a:effectLst>
        </p:spPr>
      </p:sp>
      <p:sp>
        <p:nvSpPr>
          <p:cNvPr id="10" name="Text 8"/>
          <p:cNvSpPr/>
          <p:nvPr/>
        </p:nvSpPr>
        <p:spPr>
          <a:xfrm>
            <a:off x="320040" y="3044952"/>
            <a:ext cx="8503920" cy="502920"/>
          </a:xfrm>
          <a:prstGeom prst="rect">
            <a:avLst/>
          </a:prstGeom>
          <a:noFill/>
          <a:ln/>
        </p:spPr>
        <p:txBody>
          <a:bodyPr wrap="square" lIns="0" tIns="0" rIns="0" bIns="0" rtlCol="0" anchor="ctr"/>
          <a:lstStyle/>
          <a:p>
            <a:pPr indent="0" marL="0">
              <a:buNone/>
            </a:pPr>
            <a:r>
              <a:rPr lang="en-US" sz="1400" b="1" dirty="0">
                <a:solidFill>
                  <a:srgbClr val="276749"/>
                </a:solidFill>
                <a:latin typeface="Calibri" pitchFamily="34" charset="0"/>
                <a:ea typeface="Calibri" pitchFamily="34" charset="-122"/>
                <a:cs typeface="Calibri" pitchFamily="34" charset="-120"/>
              </a:rPr>
              <a:t>Una función estrictamente decreciente y una estrictamente creciente se cruzan exactamente una vez. Ese cruce es el único equilibrio del sistema.</a:t>
            </a:r>
            <a:endParaRPr lang="en-US" sz="1400" dirty="0"/>
          </a:p>
        </p:txBody>
      </p:sp>
      <p:sp>
        <p:nvSpPr>
          <p:cNvPr id="11" name="Text 9"/>
          <p:cNvSpPr/>
          <p:nvPr/>
        </p:nvSpPr>
        <p:spPr>
          <a:xfrm>
            <a:off x="201168" y="3794760"/>
            <a:ext cx="8741664" cy="411480"/>
          </a:xfrm>
          <a:prstGeom prst="rect">
            <a:avLst/>
          </a:prstGeom>
          <a:noFill/>
          <a:ln/>
        </p:spPr>
        <p:txBody>
          <a:bodyPr wrap="square" rtlCol="0" anchor="ctr"/>
          <a:lstStyle/>
          <a:p>
            <a:pPr algn="ctr" indent="0" marL="0">
              <a:buNone/>
            </a:pPr>
            <a:r>
              <a:rPr lang="en-US" sz="1600" b="1" dirty="0">
                <a:solidFill>
                  <a:srgbClr val="C05621"/>
                </a:solidFill>
                <a:latin typeface="Calibri" pitchFamily="34" charset="0"/>
                <a:ea typeface="Calibri" pitchFamily="34" charset="-122"/>
                <a:cs typeface="Calibri" pitchFamily="34" charset="-120"/>
              </a:rPr>
              <a:t>En ese cruce: ρ₁ = ρ₂  →  r₁/T₁* = r₂/T₂*  →  T₁*/T₂* = r₁/r₂   ( = igualación ✓ )</a:t>
            </a:r>
            <a:endParaRPr lang="en-US" sz="1600" dirty="0"/>
          </a:p>
        </p:txBody>
      </p:sp>
      <p:sp>
        <p:nvSpPr>
          <p:cNvPr id="12" name="Text 10"/>
          <p:cNvSpPr/>
          <p:nvPr/>
        </p:nvSpPr>
        <p:spPr>
          <a:xfrm>
            <a:off x="201168" y="4343400"/>
            <a:ext cx="8741664" cy="457200"/>
          </a:xfrm>
          <a:prstGeom prst="rect">
            <a:avLst/>
          </a:prstGeom>
          <a:noFill/>
          <a:ln/>
        </p:spPr>
        <p:txBody>
          <a:bodyPr wrap="square" rtlCol="0" anchor="ctr"/>
          <a:lstStyle/>
          <a:p>
            <a:pPr indent="0" marL="0">
              <a:buNone/>
            </a:pPr>
            <a:r>
              <a:rPr lang="en-US" sz="1400" i="1" dirty="0">
                <a:solidFill>
                  <a:srgbClr val="1A202C"/>
                </a:solidFill>
                <a:latin typeface="Calibri" pitchFamily="34" charset="0"/>
                <a:ea typeface="Calibri" pitchFamily="34" charset="-122"/>
                <a:cs typeface="Calibri" pitchFamily="34" charset="-120"/>
              </a:rPr>
              <a:t>El único punto donde el sistema deja de moverse es, por construcción aritmética, el punto de igualación.</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C5282"/>
          </a:solidFill>
          <a:ln/>
        </p:spPr>
      </p:sp>
      <p:sp>
        <p:nvSpPr>
          <p:cNvPr id="3" name="Text 1"/>
          <p:cNvSpPr/>
          <p:nvPr/>
        </p:nvSpPr>
        <p:spPr>
          <a:xfrm>
            <a:off x="201168" y="164592"/>
            <a:ext cx="8778240" cy="566928"/>
          </a:xfrm>
          <a:prstGeom prst="rect">
            <a:avLst/>
          </a:prstGeom>
          <a:noFill/>
          <a:ln/>
        </p:spPr>
        <p:txBody>
          <a:bodyPr wrap="square" lIns="0" tIns="0" rIns="0" bIns="0" rtlCol="0" anchor="ctr"/>
          <a:lstStyle/>
          <a:p>
            <a:pPr indent="0" marL="0">
              <a:buNone/>
            </a:pPr>
            <a:r>
              <a:rPr lang="en-US" sz="2600" b="1" dirty="0">
                <a:solidFill>
                  <a:srgbClr val="2C5282"/>
                </a:solidFill>
                <a:latin typeface="Calibri" pitchFamily="34" charset="0"/>
                <a:ea typeface="Calibri" pitchFamily="34" charset="-122"/>
                <a:cs typeface="Calibri" pitchFamily="34" charset="-120"/>
              </a:rPr>
              <a:t>Figura 15.4 — Dinámica del modelo de mejoramiento</a:t>
            </a:r>
            <a:endParaRPr lang="en-US" sz="2600" dirty="0"/>
          </a:p>
        </p:txBody>
      </p:sp>
      <p:sp>
        <p:nvSpPr>
          <p:cNvPr id="4" name="Shape 2"/>
          <p:cNvSpPr/>
          <p:nvPr/>
        </p:nvSpPr>
        <p:spPr>
          <a:xfrm>
            <a:off x="201168" y="777240"/>
            <a:ext cx="8741664" cy="0"/>
          </a:xfrm>
          <a:prstGeom prst="line">
            <a:avLst/>
          </a:prstGeom>
          <a:noFill/>
          <a:ln w="19050">
            <a:solidFill>
              <a:srgbClr val="2C5282"/>
            </a:solidFill>
            <a:prstDash val="solid"/>
          </a:ln>
        </p:spPr>
      </p:sp>
      <p:pic>
        <p:nvPicPr>
          <p:cNvPr id="5" name="Image 0" descr="preencoded.png">    </p:cNvPr>
          <p:cNvPicPr>
            <a:picLocks noChangeAspect="1"/>
          </p:cNvPicPr>
          <p:nvPr/>
        </p:nvPicPr>
        <p:blipFill>
          <a:blip r:embed="rId1"/>
          <a:stretch>
            <a:fillRect/>
          </a:stretch>
        </p:blipFill>
        <p:spPr>
          <a:xfrm>
            <a:off x="201168" y="896112"/>
            <a:ext cx="8741664" cy="406908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C5282"/>
          </a:solidFill>
          <a:ln/>
        </p:spPr>
      </p:sp>
      <p:sp>
        <p:nvSpPr>
          <p:cNvPr id="3" name="Text 1"/>
          <p:cNvSpPr/>
          <p:nvPr/>
        </p:nvSpPr>
        <p:spPr>
          <a:xfrm>
            <a:off x="201168" y="164592"/>
            <a:ext cx="8778240" cy="566928"/>
          </a:xfrm>
          <a:prstGeom prst="rect">
            <a:avLst/>
          </a:prstGeom>
          <a:noFill/>
          <a:ln/>
        </p:spPr>
        <p:txBody>
          <a:bodyPr wrap="square" lIns="0" tIns="0" rIns="0" bIns="0" rtlCol="0" anchor="ctr"/>
          <a:lstStyle/>
          <a:p>
            <a:pPr indent="0" marL="0">
              <a:buNone/>
            </a:pPr>
            <a:r>
              <a:rPr lang="en-US" sz="2600" b="1" dirty="0">
                <a:solidFill>
                  <a:srgbClr val="2C5282"/>
                </a:solidFill>
                <a:latin typeface="Calibri" pitchFamily="34" charset="0"/>
                <a:ea typeface="Calibri" pitchFamily="34" charset="-122"/>
                <a:cs typeface="Calibri" pitchFamily="34" charset="-120"/>
              </a:rPr>
              <a:t>Iteración numérica: convergencia paso a paso  (r₁=60, r₂=30, α=0.002)</a:t>
            </a:r>
            <a:endParaRPr lang="en-US" sz="2600" dirty="0"/>
          </a:p>
        </p:txBody>
      </p:sp>
      <p:sp>
        <p:nvSpPr>
          <p:cNvPr id="4" name="Shape 2"/>
          <p:cNvSpPr/>
          <p:nvPr/>
        </p:nvSpPr>
        <p:spPr>
          <a:xfrm>
            <a:off x="201168" y="777240"/>
            <a:ext cx="8741664" cy="0"/>
          </a:xfrm>
          <a:prstGeom prst="line">
            <a:avLst/>
          </a:prstGeom>
          <a:noFill/>
          <a:ln w="19050">
            <a:solidFill>
              <a:srgbClr val="2C5282"/>
            </a:solidFill>
            <a:prstDash val="solid"/>
          </a:ln>
        </p:spPr>
      </p:sp>
      <p:pic>
        <p:nvPicPr>
          <p:cNvPr id="5" name="Image 0" descr="preencoded.png">    </p:cNvPr>
          <p:cNvPicPr>
            <a:picLocks noChangeAspect="1"/>
          </p:cNvPicPr>
          <p:nvPr/>
        </p:nvPicPr>
        <p:blipFill>
          <a:blip r:embed="rId1"/>
          <a:stretch>
            <a:fillRect/>
          </a:stretch>
        </p:blipFill>
        <p:spPr>
          <a:xfrm>
            <a:off x="201168" y="896112"/>
            <a:ext cx="8741664" cy="2468880"/>
          </a:xfrm>
          <a:prstGeom prst="rect">
            <a:avLst/>
          </a:prstGeom>
        </p:spPr>
      </p:pic>
      <p:sp>
        <p:nvSpPr>
          <p:cNvPr id="6" name="Text 3"/>
          <p:cNvSpPr/>
          <p:nvPr/>
        </p:nvSpPr>
        <p:spPr>
          <a:xfrm>
            <a:off x="201168" y="3520440"/>
            <a:ext cx="8741664" cy="320040"/>
          </a:xfrm>
          <a:prstGeom prst="rect">
            <a:avLst/>
          </a:prstGeom>
          <a:noFill/>
          <a:ln/>
        </p:spPr>
        <p:txBody>
          <a:bodyPr wrap="square" rtlCol="0" anchor="ctr"/>
          <a:lstStyle/>
          <a:p>
            <a:pPr indent="0" marL="0">
              <a:buNone/>
            </a:pPr>
            <a:r>
              <a:rPr lang="en-US" sz="1400" b="1" dirty="0">
                <a:solidFill>
                  <a:srgbClr val="1A202C"/>
                </a:solidFill>
                <a:latin typeface="Calibri" pitchFamily="34" charset="0"/>
                <a:ea typeface="Calibri" pitchFamily="34" charset="-122"/>
                <a:cs typeface="Calibri" pitchFamily="34" charset="-120"/>
              </a:rPr>
              <a:t>Observaciones sobre la tabla:</a:t>
            </a:r>
            <a:endParaRPr lang="en-US" sz="1400" dirty="0"/>
          </a:p>
        </p:txBody>
      </p:sp>
      <p:sp>
        <p:nvSpPr>
          <p:cNvPr id="7" name="Text 4"/>
          <p:cNvSpPr/>
          <p:nvPr/>
        </p:nvSpPr>
        <p:spPr>
          <a:xfrm>
            <a:off x="201168" y="3913632"/>
            <a:ext cx="8741664" cy="1005840"/>
          </a:xfrm>
          <a:prstGeom prst="rect">
            <a:avLst/>
          </a:prstGeom>
          <a:noFill/>
          <a:ln/>
        </p:spPr>
        <p:txBody>
          <a:bodyPr wrap="square" rtlCol="0" anchor="ctr"/>
          <a:lstStyle/>
          <a:p>
            <a:pPr indent="0" marL="0">
              <a:buNone/>
            </a:pPr>
            <a:r>
              <a:rPr lang="en-US" sz="1400" b="1" dirty="0">
                <a:solidFill>
                  <a:srgbClr val="2C5282"/>
                </a:solidFill>
                <a:latin typeface="Calibri" pitchFamily="34" charset="0"/>
                <a:ea typeface="Calibri" pitchFamily="34" charset="-122"/>
                <a:cs typeface="Calibri" pitchFamily="34" charset="-120"/>
              </a:rPr>
              <a:t>▸  ρ₁ </a:t>
            </a:r>
            <a:pPr indent="0" marL="0">
              <a:buNone/>
            </a:pPr>
            <a:r>
              <a:rPr lang="en-US" sz="1400" dirty="0">
                <a:solidFill>
                  <a:srgbClr val="1A202C"/>
                </a:solidFill>
                <a:latin typeface="Calibri" pitchFamily="34" charset="0"/>
                <a:ea typeface="Calibri" pitchFamily="34" charset="-122"/>
                <a:cs typeface="Calibri" pitchFamily="34" charset="-120"/>
              </a:rPr>
              <a:t>cae de 120 → 90  y  </a:t>
            </a:r>
            <a:pPr indent="0" marL="0">
              <a:buNone/>
            </a:pPr>
            <a:r>
              <a:rPr lang="en-US" sz="1400" b="1" dirty="0">
                <a:solidFill>
                  <a:srgbClr val="276749"/>
                </a:solidFill>
                <a:latin typeface="Calibri" pitchFamily="34" charset="0"/>
                <a:ea typeface="Calibri" pitchFamily="34" charset="-122"/>
                <a:cs typeface="Calibri" pitchFamily="34" charset="-120"/>
              </a:rPr>
              <a:t>ρ₂ </a:t>
            </a:r>
            <a:pPr indent="0" marL="0">
              <a:buNone/>
            </a:pPr>
            <a:r>
              <a:rPr lang="en-US" sz="1400" dirty="0">
                <a:solidFill>
                  <a:srgbClr val="1A202C"/>
                </a:solidFill>
                <a:latin typeface="Calibri" pitchFamily="34" charset="0"/>
                <a:ea typeface="Calibri" pitchFamily="34" charset="-122"/>
                <a:cs typeface="Calibri" pitchFamily="34" charset="-120"/>
              </a:rPr>
              <a:t>sube de 60 → 90: los dos efectos simultáneos que reducen Δ
</a:t>
            </a:r>
            <a:pPr indent="0" marL="0">
              <a:buNone/>
            </a:pPr>
            <a:r>
              <a:rPr lang="en-US" sz="1400" b="1" dirty="0">
                <a:solidFill>
                  <a:srgbClr val="C05621"/>
                </a:solidFill>
                <a:latin typeface="Calibri" pitchFamily="34" charset="0"/>
                <a:ea typeface="Calibri" pitchFamily="34" charset="-122"/>
                <a:cs typeface="Calibri" pitchFamily="34" charset="-120"/>
              </a:rPr>
              <a:t>▸  Δ </a:t>
            </a:r>
            <a:pPr indent="0" marL="0">
              <a:buNone/>
            </a:pPr>
            <a:r>
              <a:rPr lang="en-US" sz="1400" dirty="0">
                <a:solidFill>
                  <a:srgbClr val="1A202C"/>
                </a:solidFill>
                <a:latin typeface="Calibri" pitchFamily="34" charset="0"/>
                <a:ea typeface="Calibri" pitchFamily="34" charset="-122"/>
                <a:cs typeface="Calibri" pitchFamily="34" charset="-120"/>
              </a:rPr>
              <a:t>decrece de 60 → ≈ 0 en cinco pasos, cada uno más pequeño: convergencia amortiguada
</a:t>
            </a:r>
            <a:pPr indent="0" marL="0">
              <a:buNone/>
            </a:pPr>
            <a:r>
              <a:rPr lang="en-US" sz="1400" dirty="0">
                <a:solidFill>
                  <a:srgbClr val="000000"/>
                </a:solidFill>
                <a:latin typeface="Calibri" pitchFamily="34" charset="0"/>
                <a:ea typeface="Calibri" pitchFamily="34" charset="-122"/>
                <a:cs typeface="Calibri" pitchFamily="34" charset="-120"/>
              </a:rPr>
              <a:t>▸  </a:t>
            </a:r>
            <a:pPr indent="0" marL="0">
              <a:buNone/>
            </a:pPr>
            <a:r>
              <a:rPr lang="en-US" sz="1400" i="1" dirty="0">
                <a:solidFill>
                  <a:srgbClr val="1A202C"/>
                </a:solidFill>
                <a:latin typeface="Calibri" pitchFamily="34" charset="0"/>
                <a:ea typeface="Calibri" pitchFamily="34" charset="-122"/>
                <a:cs typeface="Calibri" pitchFamily="34" charset="-120"/>
              </a:rPr>
              <a:t>El sistema se detiene en el único punto donde no hay incentivo para seguir moviéndose</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C5282"/>
          </a:solidFill>
          <a:ln/>
        </p:spPr>
      </p:sp>
      <p:sp>
        <p:nvSpPr>
          <p:cNvPr id="3" name="Text 1"/>
          <p:cNvSpPr/>
          <p:nvPr/>
        </p:nvSpPr>
        <p:spPr>
          <a:xfrm>
            <a:off x="201168" y="164592"/>
            <a:ext cx="8778240" cy="566928"/>
          </a:xfrm>
          <a:prstGeom prst="rect">
            <a:avLst/>
          </a:prstGeom>
          <a:noFill/>
          <a:ln/>
        </p:spPr>
        <p:txBody>
          <a:bodyPr wrap="square" lIns="0" tIns="0" rIns="0" bIns="0" rtlCol="0" anchor="ctr"/>
          <a:lstStyle/>
          <a:p>
            <a:pPr indent="0" marL="0">
              <a:buNone/>
            </a:pPr>
            <a:r>
              <a:rPr lang="en-US" sz="2600" b="1" dirty="0">
                <a:solidFill>
                  <a:srgbClr val="2C5282"/>
                </a:solidFill>
                <a:latin typeface="Calibri" pitchFamily="34" charset="0"/>
                <a:ea typeface="Calibri" pitchFamily="34" charset="-122"/>
                <a:cs typeface="Calibri" pitchFamily="34" charset="-120"/>
              </a:rPr>
              <a:t>Convergencia al equilibrio desde distintos puntos de partida</a:t>
            </a:r>
            <a:endParaRPr lang="en-US" sz="2600" dirty="0"/>
          </a:p>
        </p:txBody>
      </p:sp>
      <p:sp>
        <p:nvSpPr>
          <p:cNvPr id="4" name="Shape 2"/>
          <p:cNvSpPr/>
          <p:nvPr/>
        </p:nvSpPr>
        <p:spPr>
          <a:xfrm>
            <a:off x="201168" y="777240"/>
            <a:ext cx="8741664" cy="0"/>
          </a:xfrm>
          <a:prstGeom prst="line">
            <a:avLst/>
          </a:prstGeom>
          <a:noFill/>
          <a:ln w="19050">
            <a:solidFill>
              <a:srgbClr val="2C5282"/>
            </a:solidFill>
            <a:prstDash val="solid"/>
          </a:ln>
        </p:spPr>
      </p:sp>
      <p:pic>
        <p:nvPicPr>
          <p:cNvPr id="5" name="Image 0" descr="preencoded.png">    </p:cNvPr>
          <p:cNvPicPr>
            <a:picLocks noChangeAspect="1"/>
          </p:cNvPicPr>
          <p:nvPr/>
        </p:nvPicPr>
        <p:blipFill>
          <a:blip r:embed="rId1"/>
          <a:stretch>
            <a:fillRect/>
          </a:stretch>
        </p:blipFill>
        <p:spPr>
          <a:xfrm>
            <a:off x="201168" y="896112"/>
            <a:ext cx="8741664" cy="3977640"/>
          </a:xfrm>
          <a:prstGeom prst="rect">
            <a:avLst/>
          </a:prstGeom>
        </p:spPr>
      </p:pic>
      <p:sp>
        <p:nvSpPr>
          <p:cNvPr id="6" name="Text 3"/>
          <p:cNvSpPr/>
          <p:nvPr/>
        </p:nvSpPr>
        <p:spPr>
          <a:xfrm>
            <a:off x="201168" y="4892040"/>
            <a:ext cx="8741664" cy="201168"/>
          </a:xfrm>
          <a:prstGeom prst="rect">
            <a:avLst/>
          </a:prstGeom>
          <a:noFill/>
          <a:ln/>
        </p:spPr>
        <p:txBody>
          <a:bodyPr wrap="square" rtlCol="0" anchor="ctr"/>
          <a:lstStyle/>
          <a:p>
            <a:pPr indent="0" marL="0">
              <a:buNone/>
            </a:pPr>
            <a:r>
              <a:rPr lang="en-US" sz="1200" i="1" dirty="0">
                <a:solidFill>
                  <a:srgbClr val="718096"/>
                </a:solidFill>
                <a:latin typeface="Calibri" pitchFamily="34" charset="0"/>
                <a:ea typeface="Calibri" pitchFamily="34" charset="-122"/>
                <a:cs typeface="Calibri" pitchFamily="34" charset="-120"/>
              </a:rPr>
              <a:t>El sistema converge al mismo equilibrio (T₁*=0.67) desde T₁=0.10, 0.50 y 0.90. El error |Δ| cae exponencialmente.</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C5282"/>
          </a:solidFill>
          <a:ln/>
        </p:spPr>
      </p:sp>
      <p:sp>
        <p:nvSpPr>
          <p:cNvPr id="3" name="Text 1"/>
          <p:cNvSpPr/>
          <p:nvPr/>
        </p:nvSpPr>
        <p:spPr>
          <a:xfrm>
            <a:off x="201168" y="164592"/>
            <a:ext cx="8778240" cy="566928"/>
          </a:xfrm>
          <a:prstGeom prst="rect">
            <a:avLst/>
          </a:prstGeom>
          <a:noFill/>
          <a:ln/>
        </p:spPr>
        <p:txBody>
          <a:bodyPr wrap="square" lIns="0" tIns="0" rIns="0" bIns="0" rtlCol="0" anchor="ctr"/>
          <a:lstStyle/>
          <a:p>
            <a:pPr indent="0" marL="0">
              <a:buNone/>
            </a:pPr>
            <a:r>
              <a:rPr lang="en-US" sz="2600" b="1" dirty="0">
                <a:solidFill>
                  <a:srgbClr val="2C5282"/>
                </a:solidFill>
                <a:latin typeface="Calibri" pitchFamily="34" charset="0"/>
                <a:ea typeface="Calibri" pitchFamily="34" charset="-122"/>
                <a:cs typeface="Calibri" pitchFamily="34" charset="-120"/>
              </a:rPr>
              <a:t>El mejoramiento como ascenso de colina sobre tasas de refuerzo</a:t>
            </a:r>
            <a:endParaRPr lang="en-US" sz="2600" dirty="0"/>
          </a:p>
        </p:txBody>
      </p:sp>
      <p:sp>
        <p:nvSpPr>
          <p:cNvPr id="4" name="Shape 2"/>
          <p:cNvSpPr/>
          <p:nvPr/>
        </p:nvSpPr>
        <p:spPr>
          <a:xfrm>
            <a:off x="201168" y="777240"/>
            <a:ext cx="8741664" cy="0"/>
          </a:xfrm>
          <a:prstGeom prst="line">
            <a:avLst/>
          </a:prstGeom>
          <a:noFill/>
          <a:ln w="19050">
            <a:solidFill>
              <a:srgbClr val="2C5282"/>
            </a:solidFill>
            <a:prstDash val="solid"/>
          </a:ln>
        </p:spPr>
      </p:sp>
      <p:sp>
        <p:nvSpPr>
          <p:cNvPr id="5" name="Text 3"/>
          <p:cNvSpPr/>
          <p:nvPr/>
        </p:nvSpPr>
        <p:spPr>
          <a:xfrm>
            <a:off x="201168" y="914400"/>
            <a:ext cx="8741664" cy="384048"/>
          </a:xfrm>
          <a:prstGeom prst="rect">
            <a:avLst/>
          </a:prstGeom>
          <a:noFill/>
          <a:ln/>
        </p:spPr>
        <p:txBody>
          <a:bodyPr wrap="square" rtlCol="0" anchor="ctr"/>
          <a:lstStyle/>
          <a:p>
            <a:pPr indent="0" marL="0">
              <a:buNone/>
            </a:pPr>
            <a:r>
              <a:rPr lang="en-US" sz="1400" dirty="0">
                <a:solidFill>
                  <a:srgbClr val="1A202C"/>
                </a:solidFill>
                <a:latin typeface="Calibri" pitchFamily="34" charset="0"/>
                <a:ea typeface="Calibri" pitchFamily="34" charset="-122"/>
                <a:cs typeface="Calibri" pitchFamily="34" charset="-120"/>
              </a:rPr>
              <a:t>La secuencia de iteraciones es idéntica en su lógica al ascenso de colina del capítulo 4:</a:t>
            </a:r>
            <a:endParaRPr lang="en-US" sz="14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201168" y="1371600"/>
          <a:ext cx="8741664" cy="1463040"/>
        </p:xfrm>
        <a:graphic>
          <a:graphicData uri="http://schemas.openxmlformats.org/drawingml/2006/table">
            <a:tbl>
              <a:tblPr/>
              <a:tblGrid>
                <a:gridCol w="2560320"/>
                <a:gridCol w="3017520"/>
                <a:gridCol w="3163824"/>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Capítulo</a:t>
                      </a:r>
                      <a:endParaRPr lang="en-US" sz="13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solidFill>
                      <a:srgbClr val="2C5282"/>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Variable comparada</a:t>
                      </a:r>
                      <a:endParaRPr lang="en-US" sz="13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solidFill>
                      <a:srgbClr val="2C5282"/>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Regla de respuesta</a:t>
                      </a:r>
                      <a:endParaRPr lang="en-US" sz="13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solidFill>
                      <a:srgbClr val="2C5282"/>
                    </a:solidFill>
                  </a:tcPr>
                </a:tc>
              </a:tr>
              <a:tr h="365760">
                <a:tc>
                  <a:txBody>
                    <a:bodyPr/>
                    <a:lstStyle/>
                    <a:p>
                      <a:pPr indent="0" marL="0">
                        <a:buNone/>
                      </a:pPr>
                      <a:r>
                        <a:rPr lang="en-US" sz="1300" dirty="0">
                          <a:solidFill>
                            <a:srgbClr val="1A202C"/>
                          </a:solidFill>
                          <a:latin typeface="Calibri" pitchFamily="34" charset="0"/>
                          <a:ea typeface="Calibri" pitchFamily="34" charset="-122"/>
                          <a:cs typeface="Calibri" pitchFamily="34" charset="-120"/>
                        </a:rPr>
                        <a:t>Cap. 4 — Kinesis bacteriana</a:t>
                      </a:r>
                      <a:endParaRPr lang="en-US" sz="13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c>
                  <a:txBody>
                    <a:bodyPr/>
                    <a:lstStyle/>
                    <a:p>
                      <a:pPr indent="0" marL="0">
                        <a:buNone/>
                      </a:pPr>
                      <a:r>
                        <a:rPr lang="en-US" sz="1300" dirty="0">
                          <a:solidFill>
                            <a:srgbClr val="1A202C"/>
                          </a:solidFill>
                          <a:latin typeface="Calibri" pitchFamily="34" charset="0"/>
                          <a:ea typeface="Calibri" pitchFamily="34" charset="-122"/>
                          <a:cs typeface="Calibri" pitchFamily="34" charset="-120"/>
                        </a:rPr>
                        <a:t>Concentración de glucosa</a:t>
                      </a:r>
                      <a:endParaRPr lang="en-US" sz="13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c>
                  <a:txBody>
                    <a:bodyPr/>
                    <a:lstStyle/>
                    <a:p>
                      <a:pPr indent="0" marL="0">
                        <a:buNone/>
                      </a:pPr>
                      <a:r>
                        <a:rPr lang="en-US" sz="1300" dirty="0">
                          <a:solidFill>
                            <a:srgbClr val="1A202C"/>
                          </a:solidFill>
                          <a:latin typeface="Calibri" pitchFamily="34" charset="0"/>
                          <a:ea typeface="Calibri" pitchFamily="34" charset="-122"/>
                          <a:cs typeface="Calibri" pitchFamily="34" charset="-120"/>
                        </a:rPr>
                        <a:t>Nado recto si gradiente &gt; 0</a:t>
                      </a:r>
                      <a:endParaRPr lang="en-US" sz="13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r>
              <a:tr h="365760">
                <a:tc>
                  <a:txBody>
                    <a:bodyPr/>
                    <a:lstStyle/>
                    <a:p>
                      <a:pPr indent="0" marL="0">
                        <a:buNone/>
                      </a:pPr>
                      <a:r>
                        <a:rPr lang="en-US" sz="1300" dirty="0">
                          <a:solidFill>
                            <a:srgbClr val="1A202C"/>
                          </a:solidFill>
                          <a:latin typeface="Calibri" pitchFamily="34" charset="0"/>
                          <a:ea typeface="Calibri" pitchFamily="34" charset="-122"/>
                          <a:cs typeface="Calibri" pitchFamily="34" charset="-120"/>
                        </a:rPr>
                        <a:t>Cap. 5 — Retroalimentación</a:t>
                      </a:r>
                      <a:endParaRPr lang="en-US" sz="13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c>
                  <a:txBody>
                    <a:bodyPr/>
                    <a:lstStyle/>
                    <a:p>
                      <a:pPr indent="0" marL="0">
                        <a:buNone/>
                      </a:pPr>
                      <a:r>
                        <a:rPr lang="en-US" sz="1300" dirty="0">
                          <a:solidFill>
                            <a:srgbClr val="1A202C"/>
                          </a:solidFill>
                          <a:latin typeface="Calibri" pitchFamily="34" charset="0"/>
                          <a:ea typeface="Calibri" pitchFamily="34" charset="-122"/>
                          <a:cs typeface="Calibri" pitchFamily="34" charset="-120"/>
                        </a:rPr>
                        <a:t>Discrepancia respecto al set-point</a:t>
                      </a:r>
                      <a:endParaRPr lang="en-US" sz="13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c>
                  <a:txBody>
                    <a:bodyPr/>
                    <a:lstStyle/>
                    <a:p>
                      <a:pPr indent="0" marL="0">
                        <a:buNone/>
                      </a:pPr>
                      <a:r>
                        <a:rPr lang="en-US" sz="1300" dirty="0">
                          <a:solidFill>
                            <a:srgbClr val="1A202C"/>
                          </a:solidFill>
                          <a:latin typeface="Calibri" pitchFamily="34" charset="0"/>
                          <a:ea typeface="Calibri" pitchFamily="34" charset="-122"/>
                          <a:cs typeface="Calibri" pitchFamily="34" charset="-120"/>
                        </a:rPr>
                        <a:t>Ajuste de output para reducir error</a:t>
                      </a:r>
                      <a:endParaRPr lang="en-US" sz="13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r>
              <a:tr h="365760">
                <a:tc>
                  <a:txBody>
                    <a:bodyPr/>
                    <a:lstStyle/>
                    <a:p>
                      <a:pPr indent="0" marL="0">
                        <a:buNone/>
                      </a:pPr>
                      <a:r>
                        <a:rPr lang="en-US" sz="1300" b="1" dirty="0">
                          <a:solidFill>
                            <a:srgbClr val="2C5282"/>
                          </a:solidFill>
                          <a:latin typeface="Calibri" pitchFamily="34" charset="0"/>
                          <a:ea typeface="Calibri" pitchFamily="34" charset="-122"/>
                          <a:cs typeface="Calibri" pitchFamily="34" charset="-120"/>
                        </a:rPr>
                        <a:t>Cap. 15 — Mejoramiento</a:t>
                      </a:r>
                      <a:endParaRPr lang="en-US" sz="13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c>
                  <a:txBody>
                    <a:bodyPr/>
                    <a:lstStyle/>
                    <a:p>
                      <a:pPr indent="0" marL="0">
                        <a:buNone/>
                      </a:pPr>
                      <a:r>
                        <a:rPr lang="en-US" sz="1300" b="1" dirty="0">
                          <a:solidFill>
                            <a:srgbClr val="2C5282"/>
                          </a:solidFill>
                          <a:latin typeface="Calibri" pitchFamily="34" charset="0"/>
                          <a:ea typeface="Calibri" pitchFamily="34" charset="-122"/>
                          <a:cs typeface="Calibri" pitchFamily="34" charset="-120"/>
                        </a:rPr>
                        <a:t>Δ = ρ₁ − ρ₂</a:t>
                      </a:r>
                      <a:endParaRPr lang="en-US" sz="13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c>
                  <a:txBody>
                    <a:bodyPr/>
                    <a:lstStyle/>
                    <a:p>
                      <a:pPr indent="0" marL="0">
                        <a:buNone/>
                      </a:pPr>
                      <a:r>
                        <a:rPr lang="en-US" sz="1300" b="1" dirty="0">
                          <a:solidFill>
                            <a:srgbClr val="2C5282"/>
                          </a:solidFill>
                          <a:latin typeface="Calibri" pitchFamily="34" charset="0"/>
                          <a:ea typeface="Calibri" pitchFamily="34" charset="-122"/>
                          <a:cs typeface="Calibri" pitchFamily="34" charset="-120"/>
                        </a:rPr>
                        <a:t>Aumentar T_i para opción más rentable</a:t>
                      </a:r>
                      <a:endParaRPr lang="en-US" sz="13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r>
            </a:tbl>
          </a:graphicData>
        </a:graphic>
      </p:graphicFrame>
      <p:sp>
        <p:nvSpPr>
          <p:cNvPr id="7" name="Shape 4"/>
          <p:cNvSpPr/>
          <p:nvPr/>
        </p:nvSpPr>
        <p:spPr>
          <a:xfrm>
            <a:off x="201168" y="2999232"/>
            <a:ext cx="8741664" cy="914400"/>
          </a:xfrm>
          <a:prstGeom prst="rect">
            <a:avLst/>
          </a:prstGeom>
          <a:solidFill>
            <a:srgbClr val="FFF3E8"/>
          </a:solidFill>
          <a:ln w="15240">
            <a:solidFill>
              <a:srgbClr val="C05621"/>
            </a:solidFill>
            <a:prstDash val="solid"/>
          </a:ln>
          <a:effectLst>
            <a:outerShdw sx="100000" sy="100000" kx="0" ky="0" algn="bl" rotWithShape="0" blurRad="76200" dist="38100" dir="8100000">
              <a:srgbClr val="000000">
                <a:alpha val="10000"/>
              </a:srgbClr>
            </a:outerShdw>
          </a:effectLst>
        </p:spPr>
      </p:sp>
      <p:sp>
        <p:nvSpPr>
          <p:cNvPr id="8" name="Text 5"/>
          <p:cNvSpPr/>
          <p:nvPr/>
        </p:nvSpPr>
        <p:spPr>
          <a:xfrm>
            <a:off x="320040" y="3072384"/>
            <a:ext cx="8503920" cy="502920"/>
          </a:xfrm>
          <a:prstGeom prst="rect">
            <a:avLst/>
          </a:prstGeom>
          <a:noFill/>
          <a:ln/>
        </p:spPr>
        <p:txBody>
          <a:bodyPr wrap="square" lIns="0" tIns="0" rIns="0" bIns="0" rtlCol="0" anchor="ctr"/>
          <a:lstStyle/>
          <a:p>
            <a:pPr indent="0" marL="0">
              <a:buNone/>
            </a:pPr>
            <a:r>
              <a:rPr lang="en-US" sz="1500" b="1" dirty="0">
                <a:solidFill>
                  <a:srgbClr val="C05621"/>
                </a:solidFill>
                <a:latin typeface="Calibri" pitchFamily="34" charset="0"/>
                <a:ea typeface="Calibri" pitchFamily="34" charset="-122"/>
                <a:cs typeface="Calibri" pitchFamily="34" charset="-120"/>
              </a:rPr>
              <a:t>El mismo principio algorítmico — moverse en la dirección del gradiente de una señal de discrepancia — reaparece en dominios distintos.</a:t>
            </a:r>
            <a:endParaRPr lang="en-US" sz="1500" dirty="0"/>
          </a:p>
        </p:txBody>
      </p:sp>
      <p:sp>
        <p:nvSpPr>
          <p:cNvPr id="9" name="Text 6"/>
          <p:cNvSpPr/>
          <p:nvPr/>
        </p:nvSpPr>
        <p:spPr>
          <a:xfrm>
            <a:off x="320040" y="3593592"/>
            <a:ext cx="8503920" cy="256032"/>
          </a:xfrm>
          <a:prstGeom prst="rect">
            <a:avLst/>
          </a:prstGeom>
          <a:noFill/>
          <a:ln/>
        </p:spPr>
        <p:txBody>
          <a:bodyPr wrap="square" lIns="0" tIns="0" rIns="0" bIns="0" rtlCol="0" anchor="ctr"/>
          <a:lstStyle/>
          <a:p>
            <a:pPr indent="0" marL="0">
              <a:buNone/>
            </a:pPr>
            <a:r>
              <a:rPr lang="en-US" sz="1300" dirty="0">
                <a:solidFill>
                  <a:srgbClr val="1A202C"/>
                </a:solidFill>
                <a:latin typeface="Calibri" pitchFamily="34" charset="0"/>
                <a:ea typeface="Calibri" pitchFamily="34" charset="-122"/>
                <a:cs typeface="Calibri" pitchFamily="34" charset="-120"/>
              </a:rPr>
              <a:t>La cima de la colina que el mejoramiento escala es el punto donde la discrepancia desaparece — y ese punto resulta ser algebraicamente idéntico al punto de igualación.</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A3457"/>
        </a:solidFill>
      </p:bgPr>
    </p:bg>
    <p:spTree>
      <p:nvGrpSpPr>
        <p:cNvPr id="1" name=""/>
        <p:cNvGrpSpPr/>
        <p:nvPr/>
      </p:nvGrpSpPr>
      <p:grpSpPr>
        <a:xfrm>
          <a:off x="0" y="0"/>
          <a:ext cx="0" cy="0"/>
          <a:chOff x="0" y="0"/>
          <a:chExt cx="0" cy="0"/>
        </a:xfrm>
      </p:grpSpPr>
      <p:sp>
        <p:nvSpPr>
          <p:cNvPr id="2" name="Shape 0"/>
          <p:cNvSpPr/>
          <p:nvPr/>
        </p:nvSpPr>
        <p:spPr>
          <a:xfrm>
            <a:off x="0" y="4297680"/>
            <a:ext cx="9144000" cy="845820"/>
          </a:xfrm>
          <a:prstGeom prst="rect">
            <a:avLst/>
          </a:prstGeom>
          <a:solidFill>
            <a:srgbClr val="2C5282"/>
          </a:solidFill>
          <a:ln w="12700">
            <a:solidFill>
              <a:srgbClr val="2C5282"/>
            </a:solidFill>
            <a:prstDash val="solid"/>
          </a:ln>
        </p:spPr>
      </p:sp>
      <p:sp>
        <p:nvSpPr>
          <p:cNvPr id="3" name="Shape 1"/>
          <p:cNvSpPr/>
          <p:nvPr/>
        </p:nvSpPr>
        <p:spPr>
          <a:xfrm>
            <a:off x="7863840" y="0"/>
            <a:ext cx="1280160" cy="4297680"/>
          </a:xfrm>
          <a:prstGeom prst="rect">
            <a:avLst/>
          </a:prstGeom>
          <a:solidFill>
            <a:srgbClr val="2C5282">
              <a:alpha val="30000"/>
            </a:srgbClr>
          </a:solidFill>
          <a:ln w="12700">
            <a:solidFill>
              <a:srgbClr val="2C5282">
                <a:alpha val="30000"/>
              </a:srgbClr>
            </a:solidFill>
            <a:prstDash val="solid"/>
          </a:ln>
        </p:spPr>
      </p:sp>
      <p:sp>
        <p:nvSpPr>
          <p:cNvPr id="4" name="Text 2"/>
          <p:cNvSpPr/>
          <p:nvPr/>
        </p:nvSpPr>
        <p:spPr>
          <a:xfrm>
            <a:off x="457200" y="1097280"/>
            <a:ext cx="7315200" cy="457200"/>
          </a:xfrm>
          <a:prstGeom prst="rect">
            <a:avLst/>
          </a:prstGeom>
          <a:noFill/>
          <a:ln/>
        </p:spPr>
        <p:txBody>
          <a:bodyPr wrap="square" rtlCol="0" anchor="ctr"/>
          <a:lstStyle/>
          <a:p>
            <a:pPr indent="0" marL="0">
              <a:buNone/>
            </a:pPr>
            <a:r>
              <a:rPr lang="en-US" sz="1300" b="1" spc="400" kern="0" dirty="0">
                <a:solidFill>
                  <a:srgbClr val="AECDE8"/>
                </a:solidFill>
                <a:latin typeface="Calibri" pitchFamily="34" charset="0"/>
                <a:ea typeface="Calibri" pitchFamily="34" charset="-122"/>
                <a:cs typeface="Calibri" pitchFamily="34" charset="-120"/>
              </a:rPr>
              <a:t>SECCIÓN III</a:t>
            </a:r>
            <a:endParaRPr lang="en-US" sz="1300" dirty="0"/>
          </a:p>
        </p:txBody>
      </p:sp>
      <p:sp>
        <p:nvSpPr>
          <p:cNvPr id="5" name="Text 3"/>
          <p:cNvSpPr/>
          <p:nvPr/>
        </p:nvSpPr>
        <p:spPr>
          <a:xfrm>
            <a:off x="457200" y="1645920"/>
            <a:ext cx="7772400" cy="1645920"/>
          </a:xfrm>
          <a:prstGeom prst="rect">
            <a:avLst/>
          </a:prstGeom>
          <a:noFill/>
          <a:ln/>
        </p:spPr>
        <p:txBody>
          <a:bodyPr wrap="square"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Evidencia empírica y limitaciones</a:t>
            </a:r>
            <a:endParaRPr lang="en-US" sz="3400" dirty="0"/>
          </a:p>
        </p:txBody>
      </p:sp>
      <p:sp>
        <p:nvSpPr>
          <p:cNvPr id="6" name="Text 4"/>
          <p:cNvSpPr/>
          <p:nvPr/>
        </p:nvSpPr>
        <p:spPr>
          <a:xfrm>
            <a:off x="457200" y="3383280"/>
            <a:ext cx="7772400" cy="640080"/>
          </a:xfrm>
          <a:prstGeom prst="rect">
            <a:avLst/>
          </a:prstGeom>
          <a:noFill/>
          <a:ln/>
        </p:spPr>
        <p:txBody>
          <a:bodyPr wrap="square" rtlCol="0" anchor="ctr"/>
          <a:lstStyle/>
          <a:p>
            <a:pPr indent="0" marL="0">
              <a:buNone/>
            </a:pPr>
            <a:r>
              <a:rPr lang="en-US" sz="1600" i="1" dirty="0">
                <a:solidFill>
                  <a:srgbClr val="AECDE8"/>
                </a:solidFill>
                <a:latin typeface="Calibri" pitchFamily="34" charset="0"/>
                <a:ea typeface="Calibri" pitchFamily="34" charset="-122"/>
                <a:cs typeface="Calibri" pitchFamily="34" charset="-120"/>
              </a:rPr>
              <a:t>Vaughan (1981) — la prueba directa del proceso de mejoramiento</a:t>
            </a:r>
            <a:endParaRPr lang="en-US" sz="1600" dirty="0"/>
          </a:p>
        </p:txBody>
      </p:sp>
      <p:sp>
        <p:nvSpPr>
          <p:cNvPr id="7" name="Text 5"/>
          <p:cNvSpPr/>
          <p:nvPr/>
        </p:nvSpPr>
        <p:spPr>
          <a:xfrm>
            <a:off x="457200" y="4663440"/>
            <a:ext cx="8229600" cy="320040"/>
          </a:xfrm>
          <a:prstGeom prst="rect">
            <a:avLst/>
          </a:prstGeom>
          <a:noFill/>
          <a:ln/>
        </p:spPr>
        <p:txBody>
          <a:bodyPr wrap="square" rtlCol="0" anchor="ctr"/>
          <a:lstStyle/>
          <a:p>
            <a:pPr indent="0" marL="0">
              <a:buNone/>
            </a:pPr>
            <a:r>
              <a:rPr lang="en-US" sz="1100" dirty="0">
                <a:solidFill>
                  <a:srgbClr val="AECDE8"/>
                </a:solidFill>
                <a:latin typeface="Calibri" pitchFamily="34" charset="0"/>
                <a:ea typeface="Calibri" pitchFamily="34" charset="-122"/>
                <a:cs typeface="Calibri" pitchFamily="34" charset="-120"/>
              </a:rPr>
              <a:t>Capítulo 15 · Aprendizaje y Comportamiento Adaptable</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C5282"/>
          </a:solidFill>
          <a:ln/>
        </p:spPr>
      </p:sp>
      <p:sp>
        <p:nvSpPr>
          <p:cNvPr id="3" name="Text 1"/>
          <p:cNvSpPr/>
          <p:nvPr/>
        </p:nvSpPr>
        <p:spPr>
          <a:xfrm>
            <a:off x="201168" y="164592"/>
            <a:ext cx="8778240" cy="566928"/>
          </a:xfrm>
          <a:prstGeom prst="rect">
            <a:avLst/>
          </a:prstGeom>
          <a:noFill/>
          <a:ln/>
        </p:spPr>
        <p:txBody>
          <a:bodyPr wrap="square" lIns="0" tIns="0" rIns="0" bIns="0" rtlCol="0" anchor="ctr"/>
          <a:lstStyle/>
          <a:p>
            <a:pPr indent="0" marL="0">
              <a:buNone/>
            </a:pPr>
            <a:r>
              <a:rPr lang="en-US" sz="2600" b="1" dirty="0">
                <a:solidFill>
                  <a:srgbClr val="2C5282"/>
                </a:solidFill>
                <a:latin typeface="Calibri" pitchFamily="34" charset="0"/>
                <a:ea typeface="Calibri" pitchFamily="34" charset="-122"/>
                <a:cs typeface="Calibri" pitchFamily="34" charset="-120"/>
              </a:rPr>
              <a:t>Vaughan (1981): evidencia directa del proceso de mejoramiento</a:t>
            </a:r>
            <a:endParaRPr lang="en-US" sz="2600" dirty="0"/>
          </a:p>
        </p:txBody>
      </p:sp>
      <p:sp>
        <p:nvSpPr>
          <p:cNvPr id="4" name="Shape 2"/>
          <p:cNvSpPr/>
          <p:nvPr/>
        </p:nvSpPr>
        <p:spPr>
          <a:xfrm>
            <a:off x="201168" y="777240"/>
            <a:ext cx="8741664" cy="0"/>
          </a:xfrm>
          <a:prstGeom prst="line">
            <a:avLst/>
          </a:prstGeom>
          <a:noFill/>
          <a:ln w="19050">
            <a:solidFill>
              <a:srgbClr val="2C5282"/>
            </a:solidFill>
            <a:prstDash val="solid"/>
          </a:ln>
        </p:spPr>
      </p:sp>
      <p:sp>
        <p:nvSpPr>
          <p:cNvPr id="5" name="Shape 3"/>
          <p:cNvSpPr/>
          <p:nvPr/>
        </p:nvSpPr>
        <p:spPr>
          <a:xfrm>
            <a:off x="201168" y="960120"/>
            <a:ext cx="8741664" cy="777240"/>
          </a:xfrm>
          <a:prstGeom prst="rect">
            <a:avLst/>
          </a:prstGeom>
          <a:solidFill>
            <a:srgbClr val="EBF4FF"/>
          </a:solidFill>
          <a:ln w="15240">
            <a:solidFill>
              <a:srgbClr val="2C5282"/>
            </a:solidFill>
            <a:prstDash val="solid"/>
          </a:ln>
          <a:effectLst>
            <a:outerShdw sx="100000" sy="100000" kx="0" ky="0" algn="bl" rotWithShape="0" blurRad="76200" dist="38100" dir="8100000">
              <a:srgbClr val="000000">
                <a:alpha val="10000"/>
              </a:srgbClr>
            </a:outerShdw>
          </a:effectLst>
        </p:spPr>
      </p:sp>
      <p:sp>
        <p:nvSpPr>
          <p:cNvPr id="6" name="Text 4"/>
          <p:cNvSpPr/>
          <p:nvPr/>
        </p:nvSpPr>
        <p:spPr>
          <a:xfrm>
            <a:off x="320040" y="1033272"/>
            <a:ext cx="8503920" cy="274320"/>
          </a:xfrm>
          <a:prstGeom prst="rect">
            <a:avLst/>
          </a:prstGeom>
          <a:noFill/>
          <a:ln/>
        </p:spPr>
        <p:txBody>
          <a:bodyPr wrap="square" lIns="0" tIns="0" rIns="0" bIns="0" rtlCol="0" anchor="ctr"/>
          <a:lstStyle/>
          <a:p>
            <a:pPr indent="0" marL="0">
              <a:buNone/>
            </a:pPr>
            <a:r>
              <a:rPr lang="en-US" sz="1300" b="1" dirty="0">
                <a:solidFill>
                  <a:srgbClr val="2C5282"/>
                </a:solidFill>
                <a:latin typeface="Calibri" pitchFamily="34" charset="0"/>
                <a:ea typeface="Calibri" pitchFamily="34" charset="-122"/>
                <a:cs typeface="Calibri" pitchFamily="34" charset="-120"/>
              </a:rPr>
              <a:t>Diseño experimental:</a:t>
            </a:r>
            <a:endParaRPr lang="en-US" sz="1300" dirty="0"/>
          </a:p>
        </p:txBody>
      </p:sp>
      <p:sp>
        <p:nvSpPr>
          <p:cNvPr id="7" name="Text 5"/>
          <p:cNvSpPr/>
          <p:nvPr/>
        </p:nvSpPr>
        <p:spPr>
          <a:xfrm>
            <a:off x="320040" y="1344168"/>
            <a:ext cx="8503920" cy="320040"/>
          </a:xfrm>
          <a:prstGeom prst="rect">
            <a:avLst/>
          </a:prstGeom>
          <a:noFill/>
          <a:ln/>
        </p:spPr>
        <p:txBody>
          <a:bodyPr wrap="square" lIns="0" tIns="0" rIns="0" bIns="0" rtlCol="0" anchor="ctr"/>
          <a:lstStyle/>
          <a:p>
            <a:pPr indent="0" marL="0">
              <a:buNone/>
            </a:pPr>
            <a:r>
              <a:rPr lang="en-US" sz="1300" dirty="0">
                <a:solidFill>
                  <a:srgbClr val="1A202C"/>
                </a:solidFill>
                <a:latin typeface="Calibri" pitchFamily="34" charset="0"/>
                <a:ea typeface="Calibri" pitchFamily="34" charset="-122"/>
                <a:cs typeface="Calibri" pitchFamily="34" charset="-120"/>
              </a:rPr>
              <a:t>Modificar la función de retroalimentación para que mejoramiento, minimización de desviación respecto a igualación y maximización global predigan regiones distintas de asignación de tiempo.</a:t>
            </a:r>
            <a:endParaRPr lang="en-US" sz="1300" dirty="0"/>
          </a:p>
        </p:txBody>
      </p:sp>
      <p:sp>
        <p:nvSpPr>
          <p:cNvPr id="8" name="Shape 6"/>
          <p:cNvSpPr/>
          <p:nvPr/>
        </p:nvSpPr>
        <p:spPr>
          <a:xfrm>
            <a:off x="201168" y="1874520"/>
            <a:ext cx="8741664" cy="1143000"/>
          </a:xfrm>
          <a:prstGeom prst="rect">
            <a:avLst/>
          </a:prstGeom>
          <a:solidFill>
            <a:srgbClr val="F4F4F4"/>
          </a:solidFill>
          <a:ln w="15240">
            <a:solidFill>
              <a:srgbClr val="718096"/>
            </a:solidFill>
            <a:prstDash val="solid"/>
          </a:ln>
          <a:effectLst>
            <a:outerShdw sx="100000" sy="100000" kx="0" ky="0" algn="bl" rotWithShape="0" blurRad="76200" dist="38100" dir="8100000">
              <a:srgbClr val="000000">
                <a:alpha val="10000"/>
              </a:srgbClr>
            </a:outerShdw>
          </a:effectLst>
        </p:spPr>
      </p:sp>
      <p:sp>
        <p:nvSpPr>
          <p:cNvPr id="9" name="Text 7"/>
          <p:cNvSpPr/>
          <p:nvPr/>
        </p:nvSpPr>
        <p:spPr>
          <a:xfrm>
            <a:off x="320040" y="1947672"/>
            <a:ext cx="8503920" cy="274320"/>
          </a:xfrm>
          <a:prstGeom prst="rect">
            <a:avLst/>
          </a:prstGeom>
          <a:noFill/>
          <a:ln/>
        </p:spPr>
        <p:txBody>
          <a:bodyPr wrap="square" lIns="0" tIns="0" rIns="0" bIns="0" rtlCol="0" anchor="ctr"/>
          <a:lstStyle/>
          <a:p>
            <a:pPr indent="0" marL="0">
              <a:buNone/>
            </a:pPr>
            <a:r>
              <a:rPr lang="en-US" sz="1300" b="1" dirty="0">
                <a:solidFill>
                  <a:srgbClr val="718096"/>
                </a:solidFill>
                <a:latin typeface="Calibri" pitchFamily="34" charset="0"/>
                <a:ea typeface="Calibri" pitchFamily="34" charset="-122"/>
                <a:cs typeface="Calibri" pitchFamily="34" charset="-120"/>
              </a:rPr>
              <a:t>Condición 1</a:t>
            </a:r>
            <a:endParaRPr lang="en-US" sz="1300" dirty="0"/>
          </a:p>
        </p:txBody>
      </p:sp>
      <p:sp>
        <p:nvSpPr>
          <p:cNvPr id="10" name="Text 8"/>
          <p:cNvSpPr/>
          <p:nvPr/>
        </p:nvSpPr>
        <p:spPr>
          <a:xfrm>
            <a:off x="320040" y="2258568"/>
            <a:ext cx="8503920" cy="658368"/>
          </a:xfrm>
          <a:prstGeom prst="rect">
            <a:avLst/>
          </a:prstGeom>
          <a:noFill/>
          <a:ln/>
        </p:spPr>
        <p:txBody>
          <a:bodyPr wrap="square" lIns="0" tIns="0" rIns="0" bIns="0" rtlCol="0" anchor="ctr"/>
          <a:lstStyle/>
          <a:p>
            <a:pPr indent="0" marL="0">
              <a:buNone/>
            </a:pPr>
            <a:r>
              <a:rPr lang="en-US" sz="1300" dirty="0">
                <a:solidFill>
                  <a:srgbClr val="1A202C"/>
                </a:solidFill>
                <a:latin typeface="Calibri" pitchFamily="34" charset="0"/>
                <a:ea typeface="Calibri" pitchFamily="34" charset="-122"/>
                <a:cs typeface="Calibri" pitchFamily="34" charset="-120"/>
              </a:rPr>
              <a:t>Las tres descripciones predicen la misma región.</a:t>
            </a:r>
            <a:endParaRPr lang="en-US" sz="1300" dirty="0"/>
          </a:p>
          <a:p>
            <a:pPr indent="0" marL="0">
              <a:buNone/>
            </a:pPr>
            <a:r>
              <a:rPr lang="en-US" sz="1300" dirty="0">
                <a:solidFill>
                  <a:srgbClr val="1A202C"/>
                </a:solidFill>
                <a:latin typeface="Calibri" pitchFamily="34" charset="0"/>
                <a:ea typeface="Calibri" pitchFamily="34" charset="-122"/>
                <a:cs typeface="Calibri" pitchFamily="34" charset="-120"/>
              </a:rPr>
              <a:t>→ Resultado: comportamiento en la región esperada (sin poder distinguir modelos).</a:t>
            </a:r>
            <a:endParaRPr lang="en-US" sz="1300" dirty="0"/>
          </a:p>
        </p:txBody>
      </p:sp>
      <p:sp>
        <p:nvSpPr>
          <p:cNvPr id="11" name="Shape 9"/>
          <p:cNvSpPr/>
          <p:nvPr/>
        </p:nvSpPr>
        <p:spPr>
          <a:xfrm>
            <a:off x="201168" y="3154680"/>
            <a:ext cx="8741664" cy="1143000"/>
          </a:xfrm>
          <a:prstGeom prst="rect">
            <a:avLst/>
          </a:prstGeom>
          <a:solidFill>
            <a:srgbClr val="EBF4FF"/>
          </a:solidFill>
          <a:ln w="15240">
            <a:solidFill>
              <a:srgbClr val="2C5282"/>
            </a:solidFill>
            <a:prstDash val="solid"/>
          </a:ln>
          <a:effectLst>
            <a:outerShdw sx="100000" sy="100000" kx="0" ky="0" algn="bl" rotWithShape="0" blurRad="76200" dist="38100" dir="8100000">
              <a:srgbClr val="000000">
                <a:alpha val="10000"/>
              </a:srgbClr>
            </a:outerShdw>
          </a:effectLst>
        </p:spPr>
      </p:sp>
      <p:sp>
        <p:nvSpPr>
          <p:cNvPr id="12" name="Text 10"/>
          <p:cNvSpPr/>
          <p:nvPr/>
        </p:nvSpPr>
        <p:spPr>
          <a:xfrm>
            <a:off x="320040" y="3227832"/>
            <a:ext cx="8503920" cy="274320"/>
          </a:xfrm>
          <a:prstGeom prst="rect">
            <a:avLst/>
          </a:prstGeom>
          <a:noFill/>
          <a:ln/>
        </p:spPr>
        <p:txBody>
          <a:bodyPr wrap="square" lIns="0" tIns="0" rIns="0" bIns="0" rtlCol="0" anchor="ctr"/>
          <a:lstStyle/>
          <a:p>
            <a:pPr indent="0" marL="0">
              <a:buNone/>
            </a:pPr>
            <a:r>
              <a:rPr lang="en-US" sz="1300" b="1" dirty="0">
                <a:solidFill>
                  <a:srgbClr val="2C5282"/>
                </a:solidFill>
                <a:latin typeface="Calibri" pitchFamily="34" charset="0"/>
                <a:ea typeface="Calibri" pitchFamily="34" charset="-122"/>
                <a:cs typeface="Calibri" pitchFamily="34" charset="-120"/>
              </a:rPr>
              <a:t>Condición 2</a:t>
            </a:r>
            <a:endParaRPr lang="en-US" sz="1300" dirty="0"/>
          </a:p>
        </p:txBody>
      </p:sp>
      <p:sp>
        <p:nvSpPr>
          <p:cNvPr id="13" name="Text 11"/>
          <p:cNvSpPr/>
          <p:nvPr/>
        </p:nvSpPr>
        <p:spPr>
          <a:xfrm>
            <a:off x="320040" y="3538728"/>
            <a:ext cx="8503920" cy="658368"/>
          </a:xfrm>
          <a:prstGeom prst="rect">
            <a:avLst/>
          </a:prstGeom>
          <a:noFill/>
          <a:ln/>
        </p:spPr>
        <p:txBody>
          <a:bodyPr wrap="square" lIns="0" tIns="0" rIns="0" bIns="0" rtlCol="0" anchor="ctr"/>
          <a:lstStyle/>
          <a:p>
            <a:pPr indent="0" marL="0">
              <a:buNone/>
            </a:pPr>
            <a:r>
              <a:rPr lang="en-US" sz="1300" dirty="0">
                <a:solidFill>
                  <a:srgbClr val="1A202C"/>
                </a:solidFill>
                <a:latin typeface="Calibri" pitchFamily="34" charset="0"/>
                <a:ea typeface="Calibri" pitchFamily="34" charset="-122"/>
                <a:cs typeface="Calibri" pitchFamily="34" charset="-120"/>
              </a:rPr>
              <a:t>Mejoramiento predice desplazamiento que implica:</a:t>
            </a:r>
            <a:endParaRPr lang="en-US" sz="1300" dirty="0"/>
          </a:p>
          <a:p>
            <a:pPr indent="0" marL="0">
              <a:buNone/>
            </a:pPr>
            <a:r>
              <a:rPr lang="en-US" sz="1300" dirty="0">
                <a:solidFill>
                  <a:srgbClr val="1A202C"/>
                </a:solidFill>
                <a:latin typeface="Calibri" pitchFamily="34" charset="0"/>
                <a:ea typeface="Calibri" pitchFamily="34" charset="-122"/>
                <a:cs typeface="Calibri" pitchFamily="34" charset="-120"/>
              </a:rPr>
              <a:t>  (a) Desviación transitoria de igualación molar</a:t>
            </a:r>
            <a:endParaRPr lang="en-US" sz="1300" dirty="0"/>
          </a:p>
          <a:p>
            <a:pPr indent="0" marL="0">
              <a:buNone/>
            </a:pPr>
            <a:r>
              <a:rPr lang="en-US" sz="1300" dirty="0">
                <a:solidFill>
                  <a:srgbClr val="1A202C"/>
                </a:solidFill>
                <a:latin typeface="Calibri" pitchFamily="34" charset="0"/>
                <a:ea typeface="Calibri" pitchFamily="34" charset="-122"/>
                <a:cs typeface="Calibri" pitchFamily="34" charset="-120"/>
              </a:rPr>
              <a:t>  (b) REDUCCIÓN de la tasa global de reforzamiento</a:t>
            </a:r>
            <a:endParaRPr lang="en-US" sz="1300" dirty="0"/>
          </a:p>
          <a:p>
            <a:pPr indent="0" marL="0">
              <a:buNone/>
            </a:pPr>
            <a:r>
              <a:rPr lang="en-US" sz="1300" dirty="0">
                <a:solidFill>
                  <a:srgbClr val="1A202C"/>
                </a:solidFill>
                <a:latin typeface="Calibri" pitchFamily="34" charset="0"/>
                <a:ea typeface="Calibri" pitchFamily="34" charset="-122"/>
                <a:cs typeface="Calibri" pitchFamily="34" charset="-120"/>
              </a:rPr>
              <a:t>→ Resultado: los 3 sujetos se desplazan hacia la región predicha por MEJORAMIENTO.</a:t>
            </a:r>
            <a:endParaRPr lang="en-US" sz="1300" dirty="0"/>
          </a:p>
        </p:txBody>
      </p:sp>
      <p:sp>
        <p:nvSpPr>
          <p:cNvPr id="14" name="Shape 12"/>
          <p:cNvSpPr/>
          <p:nvPr/>
        </p:nvSpPr>
        <p:spPr>
          <a:xfrm>
            <a:off x="201168" y="4480560"/>
            <a:ext cx="8741664" cy="502920"/>
          </a:xfrm>
          <a:prstGeom prst="rect">
            <a:avLst/>
          </a:prstGeom>
          <a:solidFill>
            <a:srgbClr val="E6F4ED"/>
          </a:solidFill>
          <a:ln w="15240">
            <a:solidFill>
              <a:srgbClr val="276749"/>
            </a:solidFill>
            <a:prstDash val="solid"/>
          </a:ln>
          <a:effectLst>
            <a:outerShdw sx="100000" sy="100000" kx="0" ky="0" algn="bl" rotWithShape="0" blurRad="76200" dist="38100" dir="8100000">
              <a:srgbClr val="000000">
                <a:alpha val="10000"/>
              </a:srgbClr>
            </a:outerShdw>
          </a:effectLst>
        </p:spPr>
      </p:sp>
      <p:sp>
        <p:nvSpPr>
          <p:cNvPr id="15" name="Text 13"/>
          <p:cNvSpPr/>
          <p:nvPr/>
        </p:nvSpPr>
        <p:spPr>
          <a:xfrm>
            <a:off x="320040" y="4553712"/>
            <a:ext cx="8503920" cy="347472"/>
          </a:xfrm>
          <a:prstGeom prst="rect">
            <a:avLst/>
          </a:prstGeom>
          <a:noFill/>
          <a:ln/>
        </p:spPr>
        <p:txBody>
          <a:bodyPr wrap="square" lIns="0" tIns="0" rIns="0" bIns="0" rtlCol="0" anchor="ctr"/>
          <a:lstStyle/>
          <a:p>
            <a:pPr indent="0" marL="0">
              <a:buNone/>
            </a:pPr>
            <a:r>
              <a:rPr lang="en-US" sz="1300" b="1" dirty="0">
                <a:solidFill>
                  <a:srgbClr val="276749"/>
                </a:solidFill>
                <a:latin typeface="Calibri" pitchFamily="34" charset="0"/>
                <a:ea typeface="Calibri" pitchFamily="34" charset="-122"/>
                <a:cs typeface="Calibri" pitchFamily="34" charset="-120"/>
              </a:rPr>
              <a:t>Conclusión: la dinámica de elección sigue la comparación de tasas locales incluso cuando eso implica reducir la tasa global de reforzamiento — evidencia directa contra maximización global.</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C5282"/>
          </a:solidFill>
          <a:ln/>
        </p:spPr>
      </p:sp>
      <p:sp>
        <p:nvSpPr>
          <p:cNvPr id="3" name="Text 1"/>
          <p:cNvSpPr/>
          <p:nvPr/>
        </p:nvSpPr>
        <p:spPr>
          <a:xfrm>
            <a:off x="201168" y="164592"/>
            <a:ext cx="8778240" cy="566928"/>
          </a:xfrm>
          <a:prstGeom prst="rect">
            <a:avLst/>
          </a:prstGeom>
          <a:noFill/>
          <a:ln/>
        </p:spPr>
        <p:txBody>
          <a:bodyPr wrap="square" lIns="0" tIns="0" rIns="0" bIns="0" rtlCol="0" anchor="ctr"/>
          <a:lstStyle/>
          <a:p>
            <a:pPr indent="0" marL="0">
              <a:buNone/>
            </a:pPr>
            <a:r>
              <a:rPr lang="en-US" sz="2600" b="1" dirty="0">
                <a:solidFill>
                  <a:srgbClr val="2C5282"/>
                </a:solidFill>
                <a:latin typeface="Calibri" pitchFamily="34" charset="0"/>
                <a:ea typeface="Calibri" pitchFamily="34" charset="-122"/>
                <a:cs typeface="Calibri" pitchFamily="34" charset="-120"/>
              </a:rPr>
              <a:t>Una limitación importante: la ventana temporal no está especificada</a:t>
            </a:r>
            <a:endParaRPr lang="en-US" sz="2600" dirty="0"/>
          </a:p>
        </p:txBody>
      </p:sp>
      <p:sp>
        <p:nvSpPr>
          <p:cNvPr id="4" name="Shape 2"/>
          <p:cNvSpPr/>
          <p:nvPr/>
        </p:nvSpPr>
        <p:spPr>
          <a:xfrm>
            <a:off x="201168" y="777240"/>
            <a:ext cx="8741664" cy="0"/>
          </a:xfrm>
          <a:prstGeom prst="line">
            <a:avLst/>
          </a:prstGeom>
          <a:noFill/>
          <a:ln w="19050">
            <a:solidFill>
              <a:srgbClr val="2C5282"/>
            </a:solidFill>
            <a:prstDash val="solid"/>
          </a:ln>
        </p:spPr>
      </p:sp>
      <p:sp>
        <p:nvSpPr>
          <p:cNvPr id="5" name="Shape 3"/>
          <p:cNvSpPr/>
          <p:nvPr/>
        </p:nvSpPr>
        <p:spPr>
          <a:xfrm>
            <a:off x="201168" y="960120"/>
            <a:ext cx="8741664" cy="914400"/>
          </a:xfrm>
          <a:prstGeom prst="rect">
            <a:avLst/>
          </a:prstGeom>
          <a:solidFill>
            <a:srgbClr val="FFF3E8"/>
          </a:solidFill>
          <a:ln w="15240">
            <a:solidFill>
              <a:srgbClr val="C05621"/>
            </a:solidFill>
            <a:prstDash val="solid"/>
          </a:ln>
          <a:effectLst>
            <a:outerShdw sx="100000" sy="100000" kx="0" ky="0" algn="bl" rotWithShape="0" blurRad="76200" dist="38100" dir="8100000">
              <a:srgbClr val="000000">
                <a:alpha val="10000"/>
              </a:srgbClr>
            </a:outerShdw>
          </a:effectLst>
        </p:spPr>
      </p:sp>
      <p:sp>
        <p:nvSpPr>
          <p:cNvPr id="6" name="Text 4"/>
          <p:cNvSpPr/>
          <p:nvPr/>
        </p:nvSpPr>
        <p:spPr>
          <a:xfrm>
            <a:off x="320040" y="1033272"/>
            <a:ext cx="8503920" cy="274320"/>
          </a:xfrm>
          <a:prstGeom prst="rect">
            <a:avLst/>
          </a:prstGeom>
          <a:noFill/>
          <a:ln/>
        </p:spPr>
        <p:txBody>
          <a:bodyPr wrap="square" lIns="0" tIns="0" rIns="0" bIns="0" rtlCol="0" anchor="ctr"/>
          <a:lstStyle/>
          <a:p>
            <a:pPr indent="0" marL="0">
              <a:buNone/>
            </a:pPr>
            <a:r>
              <a:rPr lang="en-US" sz="1300" b="1" dirty="0">
                <a:solidFill>
                  <a:srgbClr val="C05621"/>
                </a:solidFill>
                <a:latin typeface="Calibri" pitchFamily="34" charset="0"/>
                <a:ea typeface="Calibri" pitchFamily="34" charset="-122"/>
                <a:cs typeface="Calibri" pitchFamily="34" charset="-120"/>
              </a:rPr>
              <a:t>El problema:</a:t>
            </a:r>
            <a:endParaRPr lang="en-US" sz="1300" dirty="0"/>
          </a:p>
        </p:txBody>
      </p:sp>
      <p:sp>
        <p:nvSpPr>
          <p:cNvPr id="7" name="Text 5"/>
          <p:cNvSpPr/>
          <p:nvPr/>
        </p:nvSpPr>
        <p:spPr>
          <a:xfrm>
            <a:off x="320040" y="1344168"/>
            <a:ext cx="8503920" cy="457200"/>
          </a:xfrm>
          <a:prstGeom prst="rect">
            <a:avLst/>
          </a:prstGeom>
          <a:noFill/>
          <a:ln/>
        </p:spPr>
        <p:txBody>
          <a:bodyPr wrap="square" lIns="0" tIns="0" rIns="0" bIns="0" rtlCol="0" anchor="ctr"/>
          <a:lstStyle/>
          <a:p>
            <a:pPr indent="0" marL="0">
              <a:buNone/>
            </a:pPr>
            <a:r>
              <a:rPr lang="en-US" sz="1400" dirty="0">
                <a:solidFill>
                  <a:srgbClr val="1A202C"/>
                </a:solidFill>
                <a:latin typeface="Calibri" pitchFamily="34" charset="0"/>
                <a:ea typeface="Calibri" pitchFamily="34" charset="-122"/>
                <a:cs typeface="Calibri" pitchFamily="34" charset="-120"/>
              </a:rPr>
              <a:t>El modelo no especifica la ventana temporal sobre la que el organismo estima las tasas locales. ¿Toda la sesión? ¿Los últimos 10 minutos? ¿Desde el último reforzador?</a:t>
            </a:r>
            <a:endParaRPr lang="en-US" sz="1400" dirty="0"/>
          </a:p>
        </p:txBody>
      </p:sp>
      <p:sp>
        <p:nvSpPr>
          <p:cNvPr id="8" name="Text 6"/>
          <p:cNvSpPr/>
          <p:nvPr/>
        </p:nvSpPr>
        <p:spPr>
          <a:xfrm>
            <a:off x="201168" y="2011680"/>
            <a:ext cx="8741664" cy="320040"/>
          </a:xfrm>
          <a:prstGeom prst="rect">
            <a:avLst/>
          </a:prstGeom>
          <a:noFill/>
          <a:ln/>
        </p:spPr>
        <p:txBody>
          <a:bodyPr wrap="square" rtlCol="0" anchor="ctr"/>
          <a:lstStyle/>
          <a:p>
            <a:pPr indent="0" marL="0">
              <a:buNone/>
            </a:pPr>
            <a:r>
              <a:rPr lang="en-US" sz="1400" b="1" dirty="0">
                <a:solidFill>
                  <a:srgbClr val="1A202C"/>
                </a:solidFill>
                <a:latin typeface="Calibri" pitchFamily="34" charset="0"/>
                <a:ea typeface="Calibri" pitchFamily="34" charset="-122"/>
                <a:cs typeface="Calibri" pitchFamily="34" charset="-120"/>
              </a:rPr>
              <a:t>Las consecuencias:</a:t>
            </a:r>
            <a:endParaRPr lang="en-US" sz="1400" dirty="0"/>
          </a:p>
        </p:txBody>
      </p:sp>
      <p:sp>
        <p:nvSpPr>
          <p:cNvPr id="9" name="Shape 7"/>
          <p:cNvSpPr/>
          <p:nvPr/>
        </p:nvSpPr>
        <p:spPr>
          <a:xfrm>
            <a:off x="201168" y="2423160"/>
            <a:ext cx="4206240" cy="1828800"/>
          </a:xfrm>
          <a:prstGeom prst="rect">
            <a:avLst/>
          </a:prstGeom>
          <a:solidFill>
            <a:srgbClr val="EBF4FF"/>
          </a:solidFill>
          <a:ln w="15240">
            <a:solidFill>
              <a:srgbClr val="2C5282"/>
            </a:solidFill>
            <a:prstDash val="solid"/>
          </a:ln>
          <a:effectLst>
            <a:outerShdw sx="100000" sy="100000" kx="0" ky="0" algn="bl" rotWithShape="0" blurRad="76200" dist="38100" dir="8100000">
              <a:srgbClr val="000000">
                <a:alpha val="10000"/>
              </a:srgbClr>
            </a:outerShdw>
          </a:effectLst>
        </p:spPr>
      </p:sp>
      <p:sp>
        <p:nvSpPr>
          <p:cNvPr id="10" name="Text 8"/>
          <p:cNvSpPr/>
          <p:nvPr/>
        </p:nvSpPr>
        <p:spPr>
          <a:xfrm>
            <a:off x="338328" y="2532888"/>
            <a:ext cx="3931920" cy="320040"/>
          </a:xfrm>
          <a:prstGeom prst="rect">
            <a:avLst/>
          </a:prstGeom>
          <a:noFill/>
          <a:ln/>
        </p:spPr>
        <p:txBody>
          <a:bodyPr wrap="square" lIns="0" tIns="0" rIns="0" bIns="0" rtlCol="0" anchor="ctr"/>
          <a:lstStyle/>
          <a:p>
            <a:pPr indent="0" marL="0">
              <a:buNone/>
            </a:pPr>
            <a:r>
              <a:rPr lang="en-US" sz="1400" b="1" dirty="0">
                <a:solidFill>
                  <a:srgbClr val="2C5282"/>
                </a:solidFill>
                <a:latin typeface="Calibri" pitchFamily="34" charset="0"/>
                <a:ea typeface="Calibri" pitchFamily="34" charset="-122"/>
                <a:cs typeface="Calibri" pitchFamily="34" charset="-120"/>
              </a:rPr>
              <a:t>Ventana corta</a:t>
            </a:r>
            <a:endParaRPr lang="en-US" sz="1400" dirty="0"/>
          </a:p>
        </p:txBody>
      </p:sp>
      <p:sp>
        <p:nvSpPr>
          <p:cNvPr id="11" name="Text 9"/>
          <p:cNvSpPr/>
          <p:nvPr/>
        </p:nvSpPr>
        <p:spPr>
          <a:xfrm>
            <a:off x="338328" y="2898648"/>
            <a:ext cx="3931920" cy="1188720"/>
          </a:xfrm>
          <a:prstGeom prst="rect">
            <a:avLst/>
          </a:prstGeom>
          <a:noFill/>
          <a:ln/>
        </p:spPr>
        <p:txBody>
          <a:bodyPr wrap="square" lIns="0" tIns="0" rIns="0" bIns="0" rtlCol="0" anchor="ctr"/>
          <a:lstStyle/>
          <a:p>
            <a:pPr indent="0" marL="0">
              <a:buNone/>
            </a:pPr>
            <a:r>
              <a:rPr lang="en-US" sz="1300" dirty="0">
                <a:solidFill>
                  <a:srgbClr val="1A202C"/>
                </a:solidFill>
                <a:latin typeface="Calibri" pitchFamily="34" charset="0"/>
                <a:ea typeface="Calibri" pitchFamily="34" charset="-122"/>
                <a:cs typeface="Calibri" pitchFamily="34" charset="-120"/>
              </a:rPr>
              <a:t>Rápida adaptación a cambios.</a:t>
            </a:r>
            <a:endParaRPr lang="en-US" sz="1300" dirty="0"/>
          </a:p>
          <a:p>
            <a:pPr indent="0" marL="0">
              <a:buNone/>
            </a:pPr>
            <a:r>
              <a:rPr lang="en-US" sz="1300" dirty="0">
                <a:solidFill>
                  <a:srgbClr val="1A202C"/>
                </a:solidFill>
                <a:latin typeface="Calibri" pitchFamily="34" charset="0"/>
                <a:ea typeface="Calibri" pitchFamily="34" charset="-122"/>
                <a:cs typeface="Calibri" pitchFamily="34" charset="-120"/>
              </a:rPr>
              <a:t>Vulnerable al ruido transitorio.</a:t>
            </a:r>
            <a:endParaRPr lang="en-US" sz="1300" dirty="0"/>
          </a:p>
          <a:p>
            <a:pPr indent="0" marL="0">
              <a:buNone/>
            </a:pPr>
            <a:r>
              <a:rPr lang="en-US" sz="1300" dirty="0">
                <a:solidFill>
                  <a:srgbClr val="1A202C"/>
                </a:solidFill>
                <a:latin typeface="Calibri" pitchFamily="34" charset="0"/>
                <a:ea typeface="Calibri" pitchFamily="34" charset="-122"/>
                <a:cs typeface="Calibri" pitchFamily="34" charset="-120"/>
              </a:rPr>
              <a:t>Adaptativa en entornos volátiles.</a:t>
            </a:r>
            <a:endParaRPr lang="en-US" sz="1300" dirty="0"/>
          </a:p>
        </p:txBody>
      </p:sp>
      <p:sp>
        <p:nvSpPr>
          <p:cNvPr id="12" name="Shape 10"/>
          <p:cNvSpPr/>
          <p:nvPr/>
        </p:nvSpPr>
        <p:spPr>
          <a:xfrm>
            <a:off x="4681728" y="2423160"/>
            <a:ext cx="4206240" cy="1828800"/>
          </a:xfrm>
          <a:prstGeom prst="rect">
            <a:avLst/>
          </a:prstGeom>
          <a:solidFill>
            <a:srgbClr val="E6F4ED"/>
          </a:solidFill>
          <a:ln w="15240">
            <a:solidFill>
              <a:srgbClr val="276749"/>
            </a:solidFill>
            <a:prstDash val="solid"/>
          </a:ln>
          <a:effectLst>
            <a:outerShdw sx="100000" sy="100000" kx="0" ky="0" algn="bl" rotWithShape="0" blurRad="76200" dist="38100" dir="8100000">
              <a:srgbClr val="000000">
                <a:alpha val="10000"/>
              </a:srgbClr>
            </a:outerShdw>
          </a:effectLst>
        </p:spPr>
      </p:sp>
      <p:sp>
        <p:nvSpPr>
          <p:cNvPr id="13" name="Text 11"/>
          <p:cNvSpPr/>
          <p:nvPr/>
        </p:nvSpPr>
        <p:spPr>
          <a:xfrm>
            <a:off x="4818888" y="2532888"/>
            <a:ext cx="3931920" cy="320040"/>
          </a:xfrm>
          <a:prstGeom prst="rect">
            <a:avLst/>
          </a:prstGeom>
          <a:noFill/>
          <a:ln/>
        </p:spPr>
        <p:txBody>
          <a:bodyPr wrap="square" lIns="0" tIns="0" rIns="0" bIns="0" rtlCol="0" anchor="ctr"/>
          <a:lstStyle/>
          <a:p>
            <a:pPr indent="0" marL="0">
              <a:buNone/>
            </a:pPr>
            <a:r>
              <a:rPr lang="en-US" sz="1400" b="1" dirty="0">
                <a:solidFill>
                  <a:srgbClr val="276749"/>
                </a:solidFill>
                <a:latin typeface="Calibri" pitchFamily="34" charset="0"/>
                <a:ea typeface="Calibri" pitchFamily="34" charset="-122"/>
                <a:cs typeface="Calibri" pitchFamily="34" charset="-120"/>
              </a:rPr>
              <a:t>Ventana larga</a:t>
            </a:r>
            <a:endParaRPr lang="en-US" sz="1400" dirty="0"/>
          </a:p>
        </p:txBody>
      </p:sp>
      <p:sp>
        <p:nvSpPr>
          <p:cNvPr id="14" name="Text 12"/>
          <p:cNvSpPr/>
          <p:nvPr/>
        </p:nvSpPr>
        <p:spPr>
          <a:xfrm>
            <a:off x="4818888" y="2898648"/>
            <a:ext cx="3931920" cy="1188720"/>
          </a:xfrm>
          <a:prstGeom prst="rect">
            <a:avLst/>
          </a:prstGeom>
          <a:noFill/>
          <a:ln/>
        </p:spPr>
        <p:txBody>
          <a:bodyPr wrap="square" lIns="0" tIns="0" rIns="0" bIns="0" rtlCol="0" anchor="ctr"/>
          <a:lstStyle/>
          <a:p>
            <a:pPr indent="0" marL="0">
              <a:buNone/>
            </a:pPr>
            <a:r>
              <a:rPr lang="en-US" sz="1300" dirty="0">
                <a:solidFill>
                  <a:srgbClr val="1A202C"/>
                </a:solidFill>
                <a:latin typeface="Calibri" pitchFamily="34" charset="0"/>
                <a:ea typeface="Calibri" pitchFamily="34" charset="-122"/>
                <a:cs typeface="Calibri" pitchFamily="34" charset="-120"/>
              </a:rPr>
              <a:t>Robustez ante fluctuaciones.</a:t>
            </a:r>
            <a:endParaRPr lang="en-US" sz="1300" dirty="0"/>
          </a:p>
          <a:p>
            <a:pPr indent="0" marL="0">
              <a:buNone/>
            </a:pPr>
            <a:r>
              <a:rPr lang="en-US" sz="1300" dirty="0">
                <a:solidFill>
                  <a:srgbClr val="1A202C"/>
                </a:solidFill>
                <a:latin typeface="Calibri" pitchFamily="34" charset="0"/>
                <a:ea typeface="Calibri" pitchFamily="34" charset="-122"/>
                <a:cs typeface="Calibri" pitchFamily="34" charset="-120"/>
              </a:rPr>
              <a:t>Lenta para detectar cambios.</a:t>
            </a:r>
            <a:endParaRPr lang="en-US" sz="1300" dirty="0"/>
          </a:p>
          <a:p>
            <a:pPr indent="0" marL="0">
              <a:buNone/>
            </a:pPr>
            <a:r>
              <a:rPr lang="en-US" sz="1300" dirty="0">
                <a:solidFill>
                  <a:srgbClr val="1A202C"/>
                </a:solidFill>
                <a:latin typeface="Calibri" pitchFamily="34" charset="0"/>
                <a:ea typeface="Calibri" pitchFamily="34" charset="-122"/>
                <a:cs typeface="Calibri" pitchFamily="34" charset="-120"/>
              </a:rPr>
              <a:t>Adaptativa en entornos estables.</a:t>
            </a:r>
            <a:endParaRPr lang="en-US" sz="1300" dirty="0"/>
          </a:p>
        </p:txBody>
      </p:sp>
      <p:sp>
        <p:nvSpPr>
          <p:cNvPr id="15" name="Text 13"/>
          <p:cNvSpPr/>
          <p:nvPr/>
        </p:nvSpPr>
        <p:spPr>
          <a:xfrm>
            <a:off x="201168" y="4407408"/>
            <a:ext cx="8741664" cy="457200"/>
          </a:xfrm>
          <a:prstGeom prst="rect">
            <a:avLst/>
          </a:prstGeom>
          <a:noFill/>
          <a:ln/>
        </p:spPr>
        <p:txBody>
          <a:bodyPr wrap="square" rtlCol="0" anchor="ctr"/>
          <a:lstStyle/>
          <a:p>
            <a:pPr indent="0" marL="0">
              <a:buNone/>
            </a:pPr>
            <a:r>
              <a:rPr lang="en-US" sz="1300" i="1" dirty="0">
                <a:solidFill>
                  <a:srgbClr val="718096"/>
                </a:solidFill>
                <a:latin typeface="Calibri" pitchFamily="34" charset="0"/>
                <a:ea typeface="Calibri" pitchFamily="34" charset="-122"/>
                <a:cs typeface="Calibri" pitchFamily="34" charset="-120"/>
              </a:rPr>
              <a:t>Este problema — la elección adaptativa de la escala temporal de estimación — es uno de los temas centrales del módulo de incertidumbre, más adelante en el libro.</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A3457"/>
        </a:solidFill>
      </p:bgPr>
    </p:bg>
    <p:spTree>
      <p:nvGrpSpPr>
        <p:cNvPr id="1" name=""/>
        <p:cNvGrpSpPr/>
        <p:nvPr/>
      </p:nvGrpSpPr>
      <p:grpSpPr>
        <a:xfrm>
          <a:off x="0" y="0"/>
          <a:ext cx="0" cy="0"/>
          <a:chOff x="0" y="0"/>
          <a:chExt cx="0" cy="0"/>
        </a:xfrm>
      </p:grpSpPr>
      <p:sp>
        <p:nvSpPr>
          <p:cNvPr id="2" name="Shape 0"/>
          <p:cNvSpPr/>
          <p:nvPr/>
        </p:nvSpPr>
        <p:spPr>
          <a:xfrm>
            <a:off x="0" y="4297680"/>
            <a:ext cx="9144000" cy="845820"/>
          </a:xfrm>
          <a:prstGeom prst="rect">
            <a:avLst/>
          </a:prstGeom>
          <a:solidFill>
            <a:srgbClr val="2C5282"/>
          </a:solidFill>
          <a:ln w="12700">
            <a:solidFill>
              <a:srgbClr val="2C5282"/>
            </a:solidFill>
            <a:prstDash val="solid"/>
          </a:ln>
        </p:spPr>
      </p:sp>
      <p:sp>
        <p:nvSpPr>
          <p:cNvPr id="3" name="Shape 1"/>
          <p:cNvSpPr/>
          <p:nvPr/>
        </p:nvSpPr>
        <p:spPr>
          <a:xfrm>
            <a:off x="7863840" y="0"/>
            <a:ext cx="1280160" cy="4297680"/>
          </a:xfrm>
          <a:prstGeom prst="rect">
            <a:avLst/>
          </a:prstGeom>
          <a:solidFill>
            <a:srgbClr val="2C5282">
              <a:alpha val="30000"/>
            </a:srgbClr>
          </a:solidFill>
          <a:ln w="12700">
            <a:solidFill>
              <a:srgbClr val="2C5282">
                <a:alpha val="30000"/>
              </a:srgbClr>
            </a:solidFill>
            <a:prstDash val="solid"/>
          </a:ln>
        </p:spPr>
      </p:sp>
      <p:sp>
        <p:nvSpPr>
          <p:cNvPr id="4" name="Text 2"/>
          <p:cNvSpPr/>
          <p:nvPr/>
        </p:nvSpPr>
        <p:spPr>
          <a:xfrm>
            <a:off x="457200" y="1097280"/>
            <a:ext cx="7315200" cy="457200"/>
          </a:xfrm>
          <a:prstGeom prst="rect">
            <a:avLst/>
          </a:prstGeom>
          <a:noFill/>
          <a:ln/>
        </p:spPr>
        <p:txBody>
          <a:bodyPr wrap="square" rtlCol="0" anchor="ctr"/>
          <a:lstStyle/>
          <a:p>
            <a:pPr indent="0" marL="0">
              <a:buNone/>
            </a:pPr>
            <a:r>
              <a:rPr lang="en-US" sz="1300" b="1" spc="400" kern="0" dirty="0">
                <a:solidFill>
                  <a:srgbClr val="AECDE8"/>
                </a:solidFill>
                <a:latin typeface="Calibri" pitchFamily="34" charset="0"/>
                <a:ea typeface="Calibri" pitchFamily="34" charset="-122"/>
                <a:cs typeface="Calibri" pitchFamily="34" charset="-120"/>
              </a:rPr>
              <a:t>SECCIÓN IV</a:t>
            </a:r>
            <a:endParaRPr lang="en-US" sz="1300" dirty="0"/>
          </a:p>
        </p:txBody>
      </p:sp>
      <p:sp>
        <p:nvSpPr>
          <p:cNvPr id="5" name="Text 3"/>
          <p:cNvSpPr/>
          <p:nvPr/>
        </p:nvSpPr>
        <p:spPr>
          <a:xfrm>
            <a:off x="457200" y="1645920"/>
            <a:ext cx="7772400" cy="1645920"/>
          </a:xfrm>
          <a:prstGeom prst="rect">
            <a:avLst/>
          </a:prstGeom>
          <a:noFill/>
          <a:ln/>
        </p:spPr>
        <p:txBody>
          <a:bodyPr wrap="square"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Síntesis y conexiones</a:t>
            </a:r>
            <a:endParaRPr lang="en-US" sz="3400" dirty="0"/>
          </a:p>
        </p:txBody>
      </p:sp>
      <p:sp>
        <p:nvSpPr>
          <p:cNvPr id="6" name="Text 4"/>
          <p:cNvSpPr/>
          <p:nvPr/>
        </p:nvSpPr>
        <p:spPr>
          <a:xfrm>
            <a:off x="457200" y="3383280"/>
            <a:ext cx="7772400" cy="640080"/>
          </a:xfrm>
          <a:prstGeom prst="rect">
            <a:avLst/>
          </a:prstGeom>
          <a:noFill/>
          <a:ln/>
        </p:spPr>
        <p:txBody>
          <a:bodyPr wrap="square" rtlCol="0" anchor="ctr"/>
          <a:lstStyle/>
          <a:p>
            <a:pPr indent="0" marL="0">
              <a:buNone/>
            </a:pPr>
            <a:r>
              <a:rPr lang="en-US" sz="1600" i="1" dirty="0">
                <a:solidFill>
                  <a:srgbClr val="AECDE8"/>
                </a:solidFill>
                <a:latin typeface="Calibri" pitchFamily="34" charset="0"/>
                <a:ea typeface="Calibri" pitchFamily="34" charset="-122"/>
                <a:cs typeface="Calibri" pitchFamily="34" charset="-120"/>
              </a:rPr>
              <a:t>Igualación como fenómeno emergente</a:t>
            </a:r>
            <a:endParaRPr lang="en-US" sz="1600" dirty="0"/>
          </a:p>
        </p:txBody>
      </p:sp>
      <p:sp>
        <p:nvSpPr>
          <p:cNvPr id="7" name="Text 5"/>
          <p:cNvSpPr/>
          <p:nvPr/>
        </p:nvSpPr>
        <p:spPr>
          <a:xfrm>
            <a:off x="457200" y="4663440"/>
            <a:ext cx="8229600" cy="320040"/>
          </a:xfrm>
          <a:prstGeom prst="rect">
            <a:avLst/>
          </a:prstGeom>
          <a:noFill/>
          <a:ln/>
        </p:spPr>
        <p:txBody>
          <a:bodyPr wrap="square" rtlCol="0" anchor="ctr"/>
          <a:lstStyle/>
          <a:p>
            <a:pPr indent="0" marL="0">
              <a:buNone/>
            </a:pPr>
            <a:r>
              <a:rPr lang="en-US" sz="1100" dirty="0">
                <a:solidFill>
                  <a:srgbClr val="AECDE8"/>
                </a:solidFill>
                <a:latin typeface="Calibri" pitchFamily="34" charset="0"/>
                <a:ea typeface="Calibri" pitchFamily="34" charset="-122"/>
                <a:cs typeface="Calibri" pitchFamily="34" charset="-120"/>
              </a:rPr>
              <a:t>Capítulo 15 · Aprendizaje y Comportamiento Adaptable</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C5282"/>
          </a:solidFill>
          <a:ln/>
        </p:spPr>
      </p:sp>
      <p:sp>
        <p:nvSpPr>
          <p:cNvPr id="3" name="Text 1"/>
          <p:cNvSpPr/>
          <p:nvPr/>
        </p:nvSpPr>
        <p:spPr>
          <a:xfrm>
            <a:off x="201168" y="164592"/>
            <a:ext cx="8778240" cy="566928"/>
          </a:xfrm>
          <a:prstGeom prst="rect">
            <a:avLst/>
          </a:prstGeom>
          <a:noFill/>
          <a:ln/>
        </p:spPr>
        <p:txBody>
          <a:bodyPr wrap="square" lIns="0" tIns="0" rIns="0" bIns="0" rtlCol="0" anchor="ctr"/>
          <a:lstStyle/>
          <a:p>
            <a:pPr indent="0" marL="0">
              <a:buNone/>
            </a:pPr>
            <a:r>
              <a:rPr lang="en-US" sz="2600" b="1" dirty="0">
                <a:solidFill>
                  <a:srgbClr val="2C5282"/>
                </a:solidFill>
                <a:latin typeface="Calibri" pitchFamily="34" charset="0"/>
                <a:ea typeface="Calibri" pitchFamily="34" charset="-122"/>
                <a:cs typeface="Calibri" pitchFamily="34" charset="-120"/>
              </a:rPr>
              <a:t>Comparación de los dos modelos</a:t>
            </a:r>
            <a:endParaRPr lang="en-US" sz="2600" dirty="0"/>
          </a:p>
        </p:txBody>
      </p:sp>
      <p:sp>
        <p:nvSpPr>
          <p:cNvPr id="4" name="Shape 2"/>
          <p:cNvSpPr/>
          <p:nvPr/>
        </p:nvSpPr>
        <p:spPr>
          <a:xfrm>
            <a:off x="201168" y="777240"/>
            <a:ext cx="8741664" cy="0"/>
          </a:xfrm>
          <a:prstGeom prst="line">
            <a:avLst/>
          </a:prstGeom>
          <a:noFill/>
          <a:ln w="19050">
            <a:solidFill>
              <a:srgbClr val="2C5282"/>
            </a:solidFill>
            <a:prstDash val="solid"/>
          </a:ln>
        </p:spPr>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201168" y="914400"/>
          <a:ext cx="8741664" cy="3931920"/>
        </p:xfrm>
        <a:graphic>
          <a:graphicData uri="http://schemas.openxmlformats.org/drawingml/2006/table">
            <a:tbl>
              <a:tblPr/>
              <a:tblGrid>
                <a:gridCol w="2194560"/>
                <a:gridCol w="3200400"/>
                <a:gridCol w="3346704"/>
              </a:tblGrid>
              <a:tr h="491490">
                <a:tc>
                  <a:txBody>
                    <a:bodyPr/>
                    <a:lstStyle/>
                    <a:p>
                      <a:pPr indent="0" marL="0">
                        <a:buNone/>
                      </a:pPr>
                      <a:endParaRPr lang="en-US" sz="13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solidFill>
                      <a:srgbClr val="2C5282"/>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Max. Momentánea</a:t>
                      </a:r>
                      <a:endParaRPr lang="en-US" sz="13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solidFill>
                      <a:srgbClr val="2C5282"/>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Mejoramiento</a:t>
                      </a:r>
                      <a:endParaRPr lang="en-US" sz="13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solidFill>
                      <a:srgbClr val="2C5282"/>
                    </a:solidFill>
                  </a:tcPr>
                </a:tc>
              </a:tr>
              <a:tr h="491490">
                <a:tc>
                  <a:txBody>
                    <a:bodyPr/>
                    <a:lstStyle/>
                    <a:p>
                      <a:pPr indent="0" marL="0">
                        <a:buNone/>
                      </a:pPr>
                      <a:r>
                        <a:rPr lang="en-US" sz="1200" dirty="0">
                          <a:solidFill>
                            <a:srgbClr val="1A202C"/>
                          </a:solidFill>
                          <a:latin typeface="Calibri" pitchFamily="34" charset="0"/>
                          <a:ea typeface="Calibri" pitchFamily="34" charset="-122"/>
                          <a:cs typeface="Calibri" pitchFamily="34" charset="-120"/>
                        </a:rPr>
                        <a:t>Variable de decisión</a:t>
                      </a:r>
                      <a:endParaRPr lang="en-US" sz="12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c>
                  <a:txBody>
                    <a:bodyPr/>
                    <a:lstStyle/>
                    <a:p>
                      <a:pPr indent="0" marL="0">
                        <a:buNone/>
                      </a:pPr>
                      <a:r>
                        <a:rPr lang="en-US" sz="1200" dirty="0">
                          <a:solidFill>
                            <a:srgbClr val="1A202C"/>
                          </a:solidFill>
                          <a:latin typeface="Calibri" pitchFamily="34" charset="0"/>
                          <a:ea typeface="Calibri" pitchFamily="34" charset="-122"/>
                          <a:cs typeface="Calibri" pitchFamily="34" charset="-120"/>
                        </a:rPr>
                        <a:t>p_i (prob. instantánea)</a:t>
                      </a:r>
                      <a:endParaRPr lang="en-US" sz="12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c>
                  <a:txBody>
                    <a:bodyPr/>
                    <a:lstStyle/>
                    <a:p>
                      <a:pPr indent="0" marL="0">
                        <a:buNone/>
                      </a:pPr>
                      <a:r>
                        <a:rPr lang="en-US" sz="1200" dirty="0">
                          <a:solidFill>
                            <a:srgbClr val="1A202C"/>
                          </a:solidFill>
                          <a:latin typeface="Calibri" pitchFamily="34" charset="0"/>
                          <a:ea typeface="Calibri" pitchFamily="34" charset="-122"/>
                          <a:cs typeface="Calibri" pitchFamily="34" charset="-120"/>
                        </a:rPr>
                        <a:t>ρ_i (tasa local r_i/T_i)</a:t>
                      </a:r>
                      <a:endParaRPr lang="en-US" sz="12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r>
              <a:tr h="491490">
                <a:tc>
                  <a:txBody>
                    <a:bodyPr/>
                    <a:lstStyle/>
                    <a:p>
                      <a:pPr indent="0" marL="0">
                        <a:buNone/>
                      </a:pPr>
                      <a:r>
                        <a:rPr lang="en-US" sz="1200" dirty="0">
                          <a:solidFill>
                            <a:srgbClr val="1A202C"/>
                          </a:solidFill>
                          <a:latin typeface="Calibri" pitchFamily="34" charset="0"/>
                          <a:ea typeface="Calibri" pitchFamily="34" charset="-122"/>
                          <a:cs typeface="Calibri" pitchFamily="34" charset="-120"/>
                        </a:rPr>
                        <a:t>Regla de respuesta</a:t>
                      </a:r>
                      <a:endParaRPr lang="en-US" sz="12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c>
                  <a:txBody>
                    <a:bodyPr/>
                    <a:lstStyle/>
                    <a:p>
                      <a:pPr indent="0" marL="0">
                        <a:buNone/>
                      </a:pPr>
                      <a:r>
                        <a:rPr lang="en-US" sz="1200" dirty="0">
                          <a:solidFill>
                            <a:srgbClr val="1A202C"/>
                          </a:solidFill>
                          <a:latin typeface="Calibri" pitchFamily="34" charset="0"/>
                          <a:ea typeface="Calibri" pitchFamily="34" charset="-122"/>
                          <a:cs typeface="Calibri" pitchFamily="34" charset="-120"/>
                        </a:rPr>
                        <a:t>elegir argmax{p_i}</a:t>
                      </a:r>
                      <a:endParaRPr lang="en-US" sz="12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c>
                  <a:txBody>
                    <a:bodyPr/>
                    <a:lstStyle/>
                    <a:p>
                      <a:pPr indent="0" marL="0">
                        <a:buNone/>
                      </a:pPr>
                      <a:r>
                        <a:rPr lang="en-US" sz="1200" dirty="0">
                          <a:solidFill>
                            <a:srgbClr val="1A202C"/>
                          </a:solidFill>
                          <a:latin typeface="Calibri" pitchFamily="34" charset="0"/>
                          <a:ea typeface="Calibri" pitchFamily="34" charset="-122"/>
                          <a:cs typeface="Calibri" pitchFamily="34" charset="-120"/>
                        </a:rPr>
                        <a:t>mover T_i según signo de Δ</a:t>
                      </a:r>
                      <a:endParaRPr lang="en-US" sz="12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r>
              <a:tr h="491490">
                <a:tc>
                  <a:txBody>
                    <a:bodyPr/>
                    <a:lstStyle/>
                    <a:p>
                      <a:pPr indent="0" marL="0">
                        <a:buNone/>
                      </a:pPr>
                      <a:r>
                        <a:rPr lang="en-US" sz="1200" dirty="0">
                          <a:solidFill>
                            <a:srgbClr val="1A202C"/>
                          </a:solidFill>
                          <a:latin typeface="Calibri" pitchFamily="34" charset="0"/>
                          <a:ea typeface="Calibri" pitchFamily="34" charset="-122"/>
                          <a:cs typeface="Calibri" pitchFamily="34" charset="-120"/>
                        </a:rPr>
                        <a:t>Produce igualación</a:t>
                      </a:r>
                      <a:endParaRPr lang="en-US" sz="12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c>
                  <a:txBody>
                    <a:bodyPr/>
                    <a:lstStyle/>
                    <a:p>
                      <a:pPr indent="0" marL="0">
                        <a:buNone/>
                      </a:pPr>
                      <a:r>
                        <a:rPr lang="en-US" sz="1200" dirty="0">
                          <a:solidFill>
                            <a:srgbClr val="1A202C"/>
                          </a:solidFill>
                          <a:latin typeface="Calibri" pitchFamily="34" charset="0"/>
                          <a:ea typeface="Calibri" pitchFamily="34" charset="-122"/>
                          <a:cs typeface="Calibri" pitchFamily="34" charset="-120"/>
                        </a:rPr>
                        <a:t>Sí (por simulación)</a:t>
                      </a:r>
                      <a:endParaRPr lang="en-US" sz="12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c>
                  <a:txBody>
                    <a:bodyPr/>
                    <a:lstStyle/>
                    <a:p>
                      <a:pPr indent="0" marL="0">
                        <a:buNone/>
                      </a:pPr>
                      <a:r>
                        <a:rPr lang="en-US" sz="1200" dirty="0">
                          <a:solidFill>
                            <a:srgbClr val="1A202C"/>
                          </a:solidFill>
                          <a:latin typeface="Calibri" pitchFamily="34" charset="0"/>
                          <a:ea typeface="Calibri" pitchFamily="34" charset="-122"/>
                          <a:cs typeface="Calibri" pitchFamily="34" charset="-120"/>
                        </a:rPr>
                        <a:t>Sí (por construcción algebraica)</a:t>
                      </a:r>
                      <a:endParaRPr lang="en-US" sz="12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r>
              <a:tr h="491490">
                <a:tc>
                  <a:txBody>
                    <a:bodyPr/>
                    <a:lstStyle/>
                    <a:p>
                      <a:pPr indent="0" marL="0">
                        <a:buNone/>
                      </a:pPr>
                      <a:r>
                        <a:rPr lang="en-US" sz="1200" dirty="0">
                          <a:solidFill>
                            <a:srgbClr val="1A202C"/>
                          </a:solidFill>
                          <a:latin typeface="Calibri" pitchFamily="34" charset="0"/>
                          <a:ea typeface="Calibri" pitchFamily="34" charset="-122"/>
                          <a:cs typeface="Calibri" pitchFamily="34" charset="-120"/>
                        </a:rPr>
                        <a:t>Evidencia IV-IV</a:t>
                      </a:r>
                      <a:endParaRPr lang="en-US" sz="12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c>
                  <a:txBody>
                    <a:bodyPr/>
                    <a:lstStyle/>
                    <a:p>
                      <a:pPr indent="0" marL="0">
                        <a:buNone/>
                      </a:pPr>
                      <a:r>
                        <a:rPr lang="en-US" sz="1200" b="1" dirty="0">
                          <a:solidFill>
                            <a:srgbClr val="9B2335"/>
                          </a:solidFill>
                          <a:latin typeface="Calibri" pitchFamily="34" charset="0"/>
                          <a:ea typeface="Calibri" pitchFamily="34" charset="-122"/>
                          <a:cs typeface="Calibri" pitchFamily="34" charset="-120"/>
                        </a:rPr>
                        <a:t>No apoyado (Nevin 1969)</a:t>
                      </a:r>
                      <a:endParaRPr lang="en-US" sz="12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c>
                  <a:txBody>
                    <a:bodyPr/>
                    <a:lstStyle/>
                    <a:p>
                      <a:pPr indent="0" marL="0">
                        <a:buNone/>
                      </a:pPr>
                      <a:r>
                        <a:rPr lang="en-US" sz="1200" b="1" dirty="0">
                          <a:solidFill>
                            <a:srgbClr val="276749"/>
                          </a:solidFill>
                          <a:latin typeface="Calibri" pitchFamily="34" charset="0"/>
                          <a:ea typeface="Calibri" pitchFamily="34" charset="-122"/>
                          <a:cs typeface="Calibri" pitchFamily="34" charset="-120"/>
                        </a:rPr>
                        <a:t>Apoyado (Vaughan 1981)</a:t>
                      </a:r>
                      <a:endParaRPr lang="en-US" sz="12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r>
              <a:tr h="491490">
                <a:tc>
                  <a:txBody>
                    <a:bodyPr/>
                    <a:lstStyle/>
                    <a:p>
                      <a:pPr indent="0" marL="0">
                        <a:buNone/>
                      </a:pPr>
                      <a:r>
                        <a:rPr lang="en-US" sz="1200" dirty="0">
                          <a:solidFill>
                            <a:srgbClr val="1A202C"/>
                          </a:solidFill>
                          <a:latin typeface="Calibri" pitchFamily="34" charset="0"/>
                          <a:ea typeface="Calibri" pitchFamily="34" charset="-122"/>
                          <a:cs typeface="Calibri" pitchFamily="34" charset="-120"/>
                        </a:rPr>
                        <a:t>Evidencia RV-IV</a:t>
                      </a:r>
                      <a:endParaRPr lang="en-US" sz="12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c>
                  <a:txBody>
                    <a:bodyPr/>
                    <a:lstStyle/>
                    <a:p>
                      <a:pPr indent="0" marL="0">
                        <a:buNone/>
                      </a:pPr>
                      <a:r>
                        <a:rPr lang="en-US" sz="1200" b="1" dirty="0">
                          <a:solidFill>
                            <a:srgbClr val="9B2335"/>
                          </a:solidFill>
                          <a:latin typeface="Calibri" pitchFamily="34" charset="0"/>
                          <a:ea typeface="Calibri" pitchFamily="34" charset="-122"/>
                          <a:cs typeface="Calibri" pitchFamily="34" charset="-120"/>
                        </a:rPr>
                        <a:t>No apoyado (Williams 1985)</a:t>
                      </a:r>
                      <a:endParaRPr lang="en-US" sz="12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c>
                  <a:txBody>
                    <a:bodyPr/>
                    <a:lstStyle/>
                    <a:p>
                      <a:pPr indent="0" marL="0">
                        <a:buNone/>
                      </a:pPr>
                      <a:r>
                        <a:rPr lang="en-US" sz="1200" dirty="0">
                          <a:solidFill>
                            <a:srgbClr val="1A202C"/>
                          </a:solidFill>
                          <a:latin typeface="Calibri" pitchFamily="34" charset="0"/>
                          <a:ea typeface="Calibri" pitchFamily="34" charset="-122"/>
                          <a:cs typeface="Calibri" pitchFamily="34" charset="-120"/>
                        </a:rPr>
                        <a:t>Consistente</a:t>
                      </a:r>
                      <a:endParaRPr lang="en-US" sz="12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r>
              <a:tr h="491490">
                <a:tc>
                  <a:txBody>
                    <a:bodyPr/>
                    <a:lstStyle/>
                    <a:p>
                      <a:pPr indent="0" marL="0">
                        <a:buNone/>
                      </a:pPr>
                      <a:r>
                        <a:rPr lang="en-US" sz="1200" dirty="0">
                          <a:solidFill>
                            <a:srgbClr val="1A202C"/>
                          </a:solidFill>
                          <a:latin typeface="Calibri" pitchFamily="34" charset="0"/>
                          <a:ea typeface="Calibri" pitchFamily="34" charset="-122"/>
                          <a:cs typeface="Calibri" pitchFamily="34" charset="-120"/>
                        </a:rPr>
                        <a:t>Perseverancia</a:t>
                      </a:r>
                      <a:endParaRPr lang="en-US" sz="12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c>
                  <a:txBody>
                    <a:bodyPr/>
                    <a:lstStyle/>
                    <a:p>
                      <a:pPr indent="0" marL="0">
                        <a:buNone/>
                      </a:pPr>
                      <a:r>
                        <a:rPr lang="en-US" sz="1200" dirty="0">
                          <a:solidFill>
                            <a:srgbClr val="1A202C"/>
                          </a:solidFill>
                          <a:latin typeface="Calibri" pitchFamily="34" charset="0"/>
                          <a:ea typeface="Calibri" pitchFamily="34" charset="-122"/>
                          <a:cs typeface="Calibri" pitchFamily="34" charset="-120"/>
                        </a:rPr>
                        <a:t>No predicha</a:t>
                      </a:r>
                      <a:endParaRPr lang="en-US" sz="12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c>
                  <a:txBody>
                    <a:bodyPr/>
                    <a:lstStyle/>
                    <a:p>
                      <a:pPr indent="0" marL="0">
                        <a:buNone/>
                      </a:pPr>
                      <a:r>
                        <a:rPr lang="en-US" sz="1200" dirty="0">
                          <a:solidFill>
                            <a:srgbClr val="1A202C"/>
                          </a:solidFill>
                          <a:latin typeface="Calibri" pitchFamily="34" charset="0"/>
                          <a:ea typeface="Calibri" pitchFamily="34" charset="-122"/>
                          <a:cs typeface="Calibri" pitchFamily="34" charset="-120"/>
                        </a:rPr>
                        <a:t>Compatible (inercia de T_i)</a:t>
                      </a:r>
                      <a:endParaRPr lang="en-US" sz="12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r>
              <a:tr h="491490">
                <a:tc>
                  <a:txBody>
                    <a:bodyPr/>
                    <a:lstStyle/>
                    <a:p>
                      <a:pPr indent="0" marL="0">
                        <a:buNone/>
                      </a:pPr>
                      <a:r>
                        <a:rPr lang="en-US" sz="1200" dirty="0">
                          <a:solidFill>
                            <a:srgbClr val="1A202C"/>
                          </a:solidFill>
                          <a:latin typeface="Calibri" pitchFamily="34" charset="0"/>
                          <a:ea typeface="Calibri" pitchFamily="34" charset="-122"/>
                          <a:cs typeface="Calibri" pitchFamily="34" charset="-120"/>
                        </a:rPr>
                        <a:t>Limitación</a:t>
                      </a:r>
                      <a:endParaRPr lang="en-US" sz="12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c>
                  <a:txBody>
                    <a:bodyPr/>
                    <a:lstStyle/>
                    <a:p>
                      <a:pPr indent="0" marL="0">
                        <a:buNone/>
                      </a:pPr>
                      <a:r>
                        <a:rPr lang="en-US" sz="1200" dirty="0">
                          <a:solidFill>
                            <a:srgbClr val="1A202C"/>
                          </a:solidFill>
                          <a:latin typeface="Calibri" pitchFamily="34" charset="0"/>
                          <a:ea typeface="Calibri" pitchFamily="34" charset="-122"/>
                          <a:cs typeface="Calibri" pitchFamily="34" charset="-120"/>
                        </a:rPr>
                        <a:t>Falsa predicción empírica</a:t>
                      </a:r>
                      <a:endParaRPr lang="en-US" sz="12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c>
                  <a:txBody>
                    <a:bodyPr/>
                    <a:lstStyle/>
                    <a:p>
                      <a:pPr indent="0" marL="0">
                        <a:buNone/>
                      </a:pPr>
                      <a:r>
                        <a:rPr lang="en-US" sz="1200" dirty="0">
                          <a:solidFill>
                            <a:srgbClr val="1A202C"/>
                          </a:solidFill>
                          <a:latin typeface="Calibri" pitchFamily="34" charset="0"/>
                          <a:ea typeface="Calibri" pitchFamily="34" charset="-122"/>
                          <a:cs typeface="Calibri" pitchFamily="34" charset="-120"/>
                        </a:rPr>
                        <a:t>Ventana temporal indefinida</a:t>
                      </a:r>
                      <a:endParaRPr lang="en-US" sz="1200" dirty="0">
                        <a:latin typeface="Calibri" charset="0"/>
                        <a:ea typeface="Calibri" charset="0"/>
                        <a:cs typeface="Calibri" charset="0"/>
                      </a:endParaRPr>
                    </a:p>
                  </a:txBody>
                  <a:tcPr marL="91440" marR="91440" marT="45720" marB="45720">
                    <a:lnL w="12700" cap="flat" cmpd="sng" algn="ctr">
                      <a:solidFill>
                        <a:srgbClr val="D0DCE8"/>
                      </a:solidFill>
                      <a:prstDash val="solid"/>
                      <a:round/>
                      <a:headEnd type="none" w="med" len="med"/>
                      <a:tailEnd type="none" w="med" len="med"/>
                    </a:lnL>
                    <a:lnR w="12700" cap="flat" cmpd="sng" algn="ctr">
                      <a:solidFill>
                        <a:srgbClr val="D0DCE8"/>
                      </a:solidFill>
                      <a:prstDash val="solid"/>
                      <a:round/>
                      <a:headEnd type="none" w="med" len="med"/>
                      <a:tailEnd type="none" w="med" len="med"/>
                    </a:lnR>
                    <a:lnT w="12700" cap="flat" cmpd="sng" algn="ctr">
                      <a:solidFill>
                        <a:srgbClr val="D0DCE8"/>
                      </a:solidFill>
                      <a:prstDash val="solid"/>
                      <a:round/>
                      <a:headEnd type="none" w="med" len="med"/>
                      <a:tailEnd type="none" w="med" len="med"/>
                    </a:lnT>
                    <a:lnB w="12700" cap="flat" cmpd="sng" algn="ctr">
                      <a:solidFill>
                        <a:srgbClr val="D0DCE8"/>
                      </a:solidFill>
                      <a:prstDash val="solid"/>
                      <a:round/>
                      <a:headEnd type="none" w="med" len="med"/>
                      <a:tailEnd type="none" w="med" len="med"/>
                    </a:lnB>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C5282"/>
          </a:solidFill>
          <a:ln/>
        </p:spPr>
      </p:sp>
      <p:sp>
        <p:nvSpPr>
          <p:cNvPr id="3" name="Text 1"/>
          <p:cNvSpPr/>
          <p:nvPr/>
        </p:nvSpPr>
        <p:spPr>
          <a:xfrm>
            <a:off x="201168" y="164592"/>
            <a:ext cx="8778240" cy="566928"/>
          </a:xfrm>
          <a:prstGeom prst="rect">
            <a:avLst/>
          </a:prstGeom>
          <a:noFill/>
          <a:ln/>
        </p:spPr>
        <p:txBody>
          <a:bodyPr wrap="square" lIns="0" tIns="0" rIns="0" bIns="0" rtlCol="0" anchor="ctr"/>
          <a:lstStyle/>
          <a:p>
            <a:pPr indent="0" marL="0">
              <a:buNone/>
            </a:pPr>
            <a:r>
              <a:rPr lang="en-US" sz="2600" b="1" dirty="0">
                <a:solidFill>
                  <a:srgbClr val="2C5282"/>
                </a:solidFill>
                <a:latin typeface="Calibri" pitchFamily="34" charset="0"/>
                <a:ea typeface="Calibri" pitchFamily="34" charset="-122"/>
                <a:cs typeface="Calibri" pitchFamily="34" charset="-120"/>
              </a:rPr>
              <a:t>La lección conceptual: igualación como fenómeno emergente</a:t>
            </a:r>
            <a:endParaRPr lang="en-US" sz="2600" dirty="0"/>
          </a:p>
        </p:txBody>
      </p:sp>
      <p:sp>
        <p:nvSpPr>
          <p:cNvPr id="4" name="Shape 2"/>
          <p:cNvSpPr/>
          <p:nvPr/>
        </p:nvSpPr>
        <p:spPr>
          <a:xfrm>
            <a:off x="201168" y="777240"/>
            <a:ext cx="8741664" cy="0"/>
          </a:xfrm>
          <a:prstGeom prst="line">
            <a:avLst/>
          </a:prstGeom>
          <a:noFill/>
          <a:ln w="19050">
            <a:solidFill>
              <a:srgbClr val="2C5282"/>
            </a:solidFill>
            <a:prstDash val="solid"/>
          </a:ln>
        </p:spPr>
      </p:sp>
      <p:sp>
        <p:nvSpPr>
          <p:cNvPr id="5" name="Shape 3"/>
          <p:cNvSpPr/>
          <p:nvPr/>
        </p:nvSpPr>
        <p:spPr>
          <a:xfrm>
            <a:off x="201168" y="960120"/>
            <a:ext cx="8741664" cy="1051560"/>
          </a:xfrm>
          <a:prstGeom prst="rect">
            <a:avLst/>
          </a:prstGeom>
          <a:solidFill>
            <a:srgbClr val="EBF4FF"/>
          </a:solidFill>
          <a:ln w="15240">
            <a:solidFill>
              <a:srgbClr val="2C5282"/>
            </a:solidFill>
            <a:prstDash val="solid"/>
          </a:ln>
          <a:effectLst>
            <a:outerShdw sx="100000" sy="100000" kx="0" ky="0" algn="bl" rotWithShape="0" blurRad="76200" dist="38100" dir="8100000">
              <a:srgbClr val="000000">
                <a:alpha val="10000"/>
              </a:srgbClr>
            </a:outerShdw>
          </a:effectLst>
        </p:spPr>
      </p:sp>
      <p:sp>
        <p:nvSpPr>
          <p:cNvPr id="6" name="Text 4"/>
          <p:cNvSpPr/>
          <p:nvPr/>
        </p:nvSpPr>
        <p:spPr>
          <a:xfrm>
            <a:off x="320040" y="1033272"/>
            <a:ext cx="8503920" cy="274320"/>
          </a:xfrm>
          <a:prstGeom prst="rect">
            <a:avLst/>
          </a:prstGeom>
          <a:noFill/>
          <a:ln/>
        </p:spPr>
        <p:txBody>
          <a:bodyPr wrap="square" lIns="0" tIns="0" rIns="0" bIns="0" rtlCol="0" anchor="ctr"/>
          <a:lstStyle/>
          <a:p>
            <a:pPr indent="0" marL="0">
              <a:buNone/>
            </a:pPr>
            <a:r>
              <a:rPr lang="en-US" sz="1300" b="1" dirty="0">
                <a:solidFill>
                  <a:srgbClr val="2C5282"/>
                </a:solidFill>
                <a:latin typeface="Calibri" pitchFamily="34" charset="0"/>
                <a:ea typeface="Calibri" pitchFamily="34" charset="-122"/>
                <a:cs typeface="Calibri" pitchFamily="34" charset="-120"/>
              </a:rPr>
              <a:t>Hallazgo conceptual central del capítulo:</a:t>
            </a:r>
            <a:endParaRPr lang="en-US" sz="1300" dirty="0"/>
          </a:p>
        </p:txBody>
      </p:sp>
      <p:sp>
        <p:nvSpPr>
          <p:cNvPr id="7" name="Text 5"/>
          <p:cNvSpPr/>
          <p:nvPr/>
        </p:nvSpPr>
        <p:spPr>
          <a:xfrm>
            <a:off x="320040" y="1344168"/>
            <a:ext cx="8503920" cy="548640"/>
          </a:xfrm>
          <a:prstGeom prst="rect">
            <a:avLst/>
          </a:prstGeom>
          <a:noFill/>
          <a:ln/>
        </p:spPr>
        <p:txBody>
          <a:bodyPr wrap="square" lIns="0" tIns="0" rIns="0" bIns="0" rtlCol="0" anchor="ctr"/>
          <a:lstStyle/>
          <a:p>
            <a:pPr indent="0" marL="0">
              <a:buNone/>
            </a:pPr>
            <a:r>
              <a:rPr lang="en-US" sz="1400" dirty="0">
                <a:solidFill>
                  <a:srgbClr val="1A202C"/>
                </a:solidFill>
                <a:latin typeface="Calibri" pitchFamily="34" charset="0"/>
                <a:ea typeface="Calibri" pitchFamily="34" charset="-122"/>
                <a:cs typeface="Calibri" pitchFamily="34" charset="-120"/>
              </a:rPr>
              <a:t>Los organismos no calculan proporciones relativas ni maximizan en escala de sesión. Igualación global emerge de una regla local (ascenso de colina sobre tasas locales) sin que el mecanismo lo apunte directamente.</a:t>
            </a:r>
            <a:endParaRPr lang="en-US" sz="1400" dirty="0"/>
          </a:p>
        </p:txBody>
      </p:sp>
      <p:sp>
        <p:nvSpPr>
          <p:cNvPr id="8" name="Text 6"/>
          <p:cNvSpPr/>
          <p:nvPr/>
        </p:nvSpPr>
        <p:spPr>
          <a:xfrm>
            <a:off x="201168" y="2176272"/>
            <a:ext cx="8741664" cy="320040"/>
          </a:xfrm>
          <a:prstGeom prst="rect">
            <a:avLst/>
          </a:prstGeom>
          <a:noFill/>
          <a:ln/>
        </p:spPr>
        <p:txBody>
          <a:bodyPr wrap="square" rtlCol="0" anchor="ctr"/>
          <a:lstStyle/>
          <a:p>
            <a:pPr indent="0" marL="0">
              <a:buNone/>
            </a:pPr>
            <a:r>
              <a:rPr lang="en-US" sz="1400" b="1" dirty="0">
                <a:solidFill>
                  <a:srgbClr val="1A202C"/>
                </a:solidFill>
                <a:latin typeface="Calibri" pitchFamily="34" charset="0"/>
                <a:ea typeface="Calibri" pitchFamily="34" charset="-122"/>
                <a:cs typeface="Calibri" pitchFamily="34" charset="-120"/>
              </a:rPr>
              <a:t>Conexión con los niveles de análisis (introducción del libro):</a:t>
            </a:r>
            <a:endParaRPr lang="en-US" sz="1400" dirty="0"/>
          </a:p>
        </p:txBody>
      </p:sp>
      <p:sp>
        <p:nvSpPr>
          <p:cNvPr id="9" name="Shape 7"/>
          <p:cNvSpPr/>
          <p:nvPr/>
        </p:nvSpPr>
        <p:spPr>
          <a:xfrm>
            <a:off x="201168" y="2578608"/>
            <a:ext cx="8741664" cy="530352"/>
          </a:xfrm>
          <a:prstGeom prst="rect">
            <a:avLst/>
          </a:prstGeom>
          <a:solidFill>
            <a:srgbClr val="F7F9FB"/>
          </a:solidFill>
          <a:ln w="15240">
            <a:solidFill>
              <a:srgbClr val="718096"/>
            </a:solidFill>
            <a:prstDash val="solid"/>
          </a:ln>
          <a:effectLst>
            <a:outerShdw sx="100000" sy="100000" kx="0" ky="0" algn="bl" rotWithShape="0" blurRad="76200" dist="38100" dir="8100000">
              <a:srgbClr val="000000">
                <a:alpha val="10000"/>
              </a:srgbClr>
            </a:outerShdw>
          </a:effectLst>
        </p:spPr>
      </p:sp>
      <p:sp>
        <p:nvSpPr>
          <p:cNvPr id="10" name="Text 8"/>
          <p:cNvSpPr/>
          <p:nvPr/>
        </p:nvSpPr>
        <p:spPr>
          <a:xfrm>
            <a:off x="320040" y="2651760"/>
            <a:ext cx="2194560" cy="365760"/>
          </a:xfrm>
          <a:prstGeom prst="rect">
            <a:avLst/>
          </a:prstGeom>
          <a:noFill/>
          <a:ln/>
        </p:spPr>
        <p:txBody>
          <a:bodyPr wrap="square" lIns="0" tIns="0" rIns="0" bIns="0" rtlCol="0" anchor="ctr"/>
          <a:lstStyle/>
          <a:p>
            <a:pPr indent="0" marL="0">
              <a:buNone/>
            </a:pPr>
            <a:r>
              <a:rPr lang="en-US" sz="1200" b="1" dirty="0">
                <a:solidFill>
                  <a:srgbClr val="718096"/>
                </a:solidFill>
                <a:latin typeface="Calibri" pitchFamily="34" charset="0"/>
                <a:ea typeface="Calibri" pitchFamily="34" charset="-122"/>
                <a:cs typeface="Calibri" pitchFamily="34" charset="-120"/>
              </a:rPr>
              <a:t>Nivel computacional:</a:t>
            </a:r>
            <a:endParaRPr lang="en-US" sz="1200" dirty="0"/>
          </a:p>
        </p:txBody>
      </p:sp>
      <p:sp>
        <p:nvSpPr>
          <p:cNvPr id="11" name="Text 9"/>
          <p:cNvSpPr/>
          <p:nvPr/>
        </p:nvSpPr>
        <p:spPr>
          <a:xfrm>
            <a:off x="2468880" y="2651760"/>
            <a:ext cx="6309360" cy="365760"/>
          </a:xfrm>
          <a:prstGeom prst="rect">
            <a:avLst/>
          </a:prstGeom>
          <a:noFill/>
          <a:ln/>
        </p:spPr>
        <p:txBody>
          <a:bodyPr wrap="square" lIns="0" tIns="0" rIns="0" bIns="0" rtlCol="0" anchor="ctr"/>
          <a:lstStyle/>
          <a:p>
            <a:pPr indent="0" marL="0">
              <a:buNone/>
            </a:pPr>
            <a:r>
              <a:rPr lang="en-US" sz="1300" dirty="0">
                <a:solidFill>
                  <a:srgbClr val="1A202C"/>
                </a:solidFill>
                <a:latin typeface="Calibri" pitchFamily="34" charset="0"/>
                <a:ea typeface="Calibri" pitchFamily="34" charset="-122"/>
                <a:cs typeface="Calibri" pitchFamily="34" charset="-120"/>
              </a:rPr>
              <a:t>¿Qué se logra? → Igualación: distribución de tiempo proporcional a reforzadores.</a:t>
            </a:r>
            <a:endParaRPr lang="en-US" sz="1300" dirty="0"/>
          </a:p>
        </p:txBody>
      </p:sp>
      <p:sp>
        <p:nvSpPr>
          <p:cNvPr id="12" name="Shape 10"/>
          <p:cNvSpPr/>
          <p:nvPr/>
        </p:nvSpPr>
        <p:spPr>
          <a:xfrm>
            <a:off x="201168" y="3200400"/>
            <a:ext cx="8741664" cy="530352"/>
          </a:xfrm>
          <a:prstGeom prst="rect">
            <a:avLst/>
          </a:prstGeom>
          <a:solidFill>
            <a:srgbClr val="EBF4FF"/>
          </a:solidFill>
          <a:ln w="15240">
            <a:solidFill>
              <a:srgbClr val="2C5282"/>
            </a:solidFill>
            <a:prstDash val="solid"/>
          </a:ln>
          <a:effectLst>
            <a:outerShdw sx="100000" sy="100000" kx="0" ky="0" algn="bl" rotWithShape="0" blurRad="76200" dist="38100" dir="8100000">
              <a:srgbClr val="000000">
                <a:alpha val="10000"/>
              </a:srgbClr>
            </a:outerShdw>
          </a:effectLst>
        </p:spPr>
      </p:sp>
      <p:sp>
        <p:nvSpPr>
          <p:cNvPr id="13" name="Text 11"/>
          <p:cNvSpPr/>
          <p:nvPr/>
        </p:nvSpPr>
        <p:spPr>
          <a:xfrm>
            <a:off x="320040" y="3273552"/>
            <a:ext cx="2194560" cy="365760"/>
          </a:xfrm>
          <a:prstGeom prst="rect">
            <a:avLst/>
          </a:prstGeom>
          <a:noFill/>
          <a:ln/>
        </p:spPr>
        <p:txBody>
          <a:bodyPr wrap="square" lIns="0" tIns="0" rIns="0" bIns="0" rtlCol="0" anchor="ctr"/>
          <a:lstStyle/>
          <a:p>
            <a:pPr indent="0" marL="0">
              <a:buNone/>
            </a:pPr>
            <a:r>
              <a:rPr lang="en-US" sz="1200" b="1" dirty="0">
                <a:solidFill>
                  <a:srgbClr val="2C5282"/>
                </a:solidFill>
                <a:latin typeface="Calibri" pitchFamily="34" charset="0"/>
                <a:ea typeface="Calibri" pitchFamily="34" charset="-122"/>
                <a:cs typeface="Calibri" pitchFamily="34" charset="-120"/>
              </a:rPr>
              <a:t>Nivel algorítmico:</a:t>
            </a:r>
            <a:endParaRPr lang="en-US" sz="1200" dirty="0"/>
          </a:p>
        </p:txBody>
      </p:sp>
      <p:sp>
        <p:nvSpPr>
          <p:cNvPr id="14" name="Text 12"/>
          <p:cNvSpPr/>
          <p:nvPr/>
        </p:nvSpPr>
        <p:spPr>
          <a:xfrm>
            <a:off x="2468880" y="3273552"/>
            <a:ext cx="6309360" cy="365760"/>
          </a:xfrm>
          <a:prstGeom prst="rect">
            <a:avLst/>
          </a:prstGeom>
          <a:noFill/>
          <a:ln/>
        </p:spPr>
        <p:txBody>
          <a:bodyPr wrap="square" lIns="0" tIns="0" rIns="0" bIns="0" rtlCol="0" anchor="ctr"/>
          <a:lstStyle/>
          <a:p>
            <a:pPr indent="0" marL="0">
              <a:buNone/>
            </a:pPr>
            <a:r>
              <a:rPr lang="en-US" sz="1300" dirty="0">
                <a:solidFill>
                  <a:srgbClr val="1A202C"/>
                </a:solidFill>
                <a:latin typeface="Calibri" pitchFamily="34" charset="0"/>
                <a:ea typeface="Calibri" pitchFamily="34" charset="-122"/>
                <a:cs typeface="Calibri" pitchFamily="34" charset="-120"/>
              </a:rPr>
              <a:t>¿Cómo se logra? → Ascenso de colina sobre tasas locales (mejoramiento).</a:t>
            </a:r>
            <a:endParaRPr lang="en-US" sz="1300" dirty="0"/>
          </a:p>
        </p:txBody>
      </p:sp>
      <p:sp>
        <p:nvSpPr>
          <p:cNvPr id="15" name="Shape 13"/>
          <p:cNvSpPr/>
          <p:nvPr/>
        </p:nvSpPr>
        <p:spPr>
          <a:xfrm>
            <a:off x="201168" y="3822192"/>
            <a:ext cx="8741664" cy="530352"/>
          </a:xfrm>
          <a:prstGeom prst="rect">
            <a:avLst/>
          </a:prstGeom>
          <a:solidFill>
            <a:srgbClr val="F7F9FB"/>
          </a:solidFill>
          <a:ln w="15240">
            <a:solidFill>
              <a:srgbClr val="718096"/>
            </a:solidFill>
            <a:prstDash val="solid"/>
          </a:ln>
          <a:effectLst>
            <a:outerShdw sx="100000" sy="100000" kx="0" ky="0" algn="bl" rotWithShape="0" blurRad="76200" dist="38100" dir="8100000">
              <a:srgbClr val="000000">
                <a:alpha val="10000"/>
              </a:srgbClr>
            </a:outerShdw>
          </a:effectLst>
        </p:spPr>
      </p:sp>
      <p:sp>
        <p:nvSpPr>
          <p:cNvPr id="16" name="Text 14"/>
          <p:cNvSpPr/>
          <p:nvPr/>
        </p:nvSpPr>
        <p:spPr>
          <a:xfrm>
            <a:off x="320040" y="3895344"/>
            <a:ext cx="2194560" cy="365760"/>
          </a:xfrm>
          <a:prstGeom prst="rect">
            <a:avLst/>
          </a:prstGeom>
          <a:noFill/>
          <a:ln/>
        </p:spPr>
        <p:txBody>
          <a:bodyPr wrap="square" lIns="0" tIns="0" rIns="0" bIns="0" rtlCol="0" anchor="ctr"/>
          <a:lstStyle/>
          <a:p>
            <a:pPr indent="0" marL="0">
              <a:buNone/>
            </a:pPr>
            <a:r>
              <a:rPr lang="en-US" sz="1200" b="1" dirty="0">
                <a:solidFill>
                  <a:srgbClr val="718096"/>
                </a:solidFill>
                <a:latin typeface="Calibri" pitchFamily="34" charset="0"/>
                <a:ea typeface="Calibri" pitchFamily="34" charset="-122"/>
                <a:cs typeface="Calibri" pitchFamily="34" charset="-120"/>
              </a:rPr>
              <a:t>Implementación:</a:t>
            </a:r>
            <a:endParaRPr lang="en-US" sz="1200" dirty="0"/>
          </a:p>
        </p:txBody>
      </p:sp>
      <p:sp>
        <p:nvSpPr>
          <p:cNvPr id="17" name="Text 15"/>
          <p:cNvSpPr/>
          <p:nvPr/>
        </p:nvSpPr>
        <p:spPr>
          <a:xfrm>
            <a:off x="2468880" y="3895344"/>
            <a:ext cx="6309360" cy="365760"/>
          </a:xfrm>
          <a:prstGeom prst="rect">
            <a:avLst/>
          </a:prstGeom>
          <a:noFill/>
          <a:ln/>
        </p:spPr>
        <p:txBody>
          <a:bodyPr wrap="square" lIns="0" tIns="0" rIns="0" bIns="0" rtlCol="0" anchor="ctr"/>
          <a:lstStyle/>
          <a:p>
            <a:pPr indent="0" marL="0">
              <a:buNone/>
            </a:pPr>
            <a:r>
              <a:rPr lang="en-US" sz="1300" dirty="0">
                <a:solidFill>
                  <a:srgbClr val="1A202C"/>
                </a:solidFill>
                <a:latin typeface="Calibri" pitchFamily="34" charset="0"/>
                <a:ea typeface="Calibri" pitchFamily="34" charset="-122"/>
                <a:cs typeface="Calibri" pitchFamily="34" charset="-120"/>
              </a:rPr>
              <a:t>¿En qué sustrato? → Sensibilidad sináptica, memoria de trabajo, etc.</a:t>
            </a:r>
            <a:endParaRPr lang="en-US" sz="1300" dirty="0"/>
          </a:p>
        </p:txBody>
      </p:sp>
      <p:sp>
        <p:nvSpPr>
          <p:cNvPr id="18" name="Text 16"/>
          <p:cNvSpPr/>
          <p:nvPr/>
        </p:nvSpPr>
        <p:spPr>
          <a:xfrm>
            <a:off x="201168" y="4617720"/>
            <a:ext cx="8741664" cy="384048"/>
          </a:xfrm>
          <a:prstGeom prst="rect">
            <a:avLst/>
          </a:prstGeom>
          <a:noFill/>
          <a:ln/>
        </p:spPr>
        <p:txBody>
          <a:bodyPr wrap="square" rtlCol="0" anchor="ctr"/>
          <a:lstStyle/>
          <a:p>
            <a:pPr indent="0" marL="0">
              <a:buNone/>
            </a:pPr>
            <a:r>
              <a:rPr lang="en-US" sz="1300" i="1" dirty="0">
                <a:solidFill>
                  <a:srgbClr val="C05621"/>
                </a:solidFill>
                <a:latin typeface="Calibri" pitchFamily="34" charset="0"/>
                <a:ea typeface="Calibri" pitchFamily="34" charset="-122"/>
                <a:cs typeface="Calibri" pitchFamily="34" charset="-120"/>
              </a:rPr>
              <a:t>La maximización momentánea también logra igualación a nivel computacional, pero falla a nivel algorítmico. Los niveles son independientes — y el experimento distingue entre ellos.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C5282"/>
          </a:solidFill>
          <a:ln/>
        </p:spPr>
      </p:sp>
      <p:sp>
        <p:nvSpPr>
          <p:cNvPr id="3" name="Text 1"/>
          <p:cNvSpPr/>
          <p:nvPr/>
        </p:nvSpPr>
        <p:spPr>
          <a:xfrm>
            <a:off x="201168" y="164592"/>
            <a:ext cx="8778240" cy="566928"/>
          </a:xfrm>
          <a:prstGeom prst="rect">
            <a:avLst/>
          </a:prstGeom>
          <a:noFill/>
          <a:ln/>
        </p:spPr>
        <p:txBody>
          <a:bodyPr wrap="square" lIns="0" tIns="0" rIns="0" bIns="0" rtlCol="0" anchor="ctr"/>
          <a:lstStyle/>
          <a:p>
            <a:pPr indent="0" marL="0">
              <a:buNone/>
            </a:pPr>
            <a:r>
              <a:rPr lang="en-US" sz="2600" b="1" dirty="0">
                <a:solidFill>
                  <a:srgbClr val="2C5282"/>
                </a:solidFill>
                <a:latin typeface="Calibri" pitchFamily="34" charset="0"/>
                <a:ea typeface="Calibri" pitchFamily="34" charset="-122"/>
                <a:cs typeface="Calibri" pitchFamily="34" charset="-120"/>
              </a:rPr>
              <a:t>Retomando el ejemplo cotidiano: correos y mensajes</a:t>
            </a:r>
            <a:endParaRPr lang="en-US" sz="2600" dirty="0"/>
          </a:p>
        </p:txBody>
      </p:sp>
      <p:sp>
        <p:nvSpPr>
          <p:cNvPr id="4" name="Shape 2"/>
          <p:cNvSpPr/>
          <p:nvPr/>
        </p:nvSpPr>
        <p:spPr>
          <a:xfrm>
            <a:off x="201168" y="777240"/>
            <a:ext cx="8741664" cy="0"/>
          </a:xfrm>
          <a:prstGeom prst="line">
            <a:avLst/>
          </a:prstGeom>
          <a:noFill/>
          <a:ln w="19050">
            <a:solidFill>
              <a:srgbClr val="2C5282"/>
            </a:solidFill>
            <a:prstDash val="solid"/>
          </a:ln>
        </p:spPr>
      </p:sp>
      <p:sp>
        <p:nvSpPr>
          <p:cNvPr id="5" name="Shape 3"/>
          <p:cNvSpPr/>
          <p:nvPr/>
        </p:nvSpPr>
        <p:spPr>
          <a:xfrm>
            <a:off x="201168" y="1005840"/>
            <a:ext cx="8741664" cy="1188720"/>
          </a:xfrm>
          <a:prstGeom prst="rect">
            <a:avLst/>
          </a:prstGeom>
          <a:solidFill>
            <a:srgbClr val="EBF4FF"/>
          </a:solidFill>
          <a:ln w="15240">
            <a:solidFill>
              <a:srgbClr val="2C5282"/>
            </a:solidFill>
            <a:prstDash val="solid"/>
          </a:ln>
          <a:effectLst>
            <a:outerShdw sx="100000" sy="100000" kx="0" ky="0" algn="bl" rotWithShape="0" blurRad="76200" dist="38100" dir="8100000">
              <a:srgbClr val="000000">
                <a:alpha val="10000"/>
              </a:srgbClr>
            </a:outerShdw>
          </a:effectLst>
        </p:spPr>
      </p:sp>
      <p:sp>
        <p:nvSpPr>
          <p:cNvPr id="6" name="Text 4"/>
          <p:cNvSpPr/>
          <p:nvPr/>
        </p:nvSpPr>
        <p:spPr>
          <a:xfrm>
            <a:off x="320040" y="1078992"/>
            <a:ext cx="8503920" cy="274320"/>
          </a:xfrm>
          <a:prstGeom prst="rect">
            <a:avLst/>
          </a:prstGeom>
          <a:noFill/>
          <a:ln/>
        </p:spPr>
        <p:txBody>
          <a:bodyPr wrap="square" lIns="0" tIns="0" rIns="0" bIns="0" rtlCol="0" anchor="ctr"/>
          <a:lstStyle/>
          <a:p>
            <a:pPr indent="0" marL="0">
              <a:buNone/>
            </a:pPr>
            <a:r>
              <a:rPr lang="en-US" sz="1300" b="1" dirty="0">
                <a:solidFill>
                  <a:srgbClr val="2C5282"/>
                </a:solidFill>
                <a:latin typeface="Calibri" pitchFamily="34" charset="0"/>
                <a:ea typeface="Calibri" pitchFamily="34" charset="-122"/>
                <a:cs typeface="Calibri" pitchFamily="34" charset="-120"/>
              </a:rPr>
              <a:t>¿Qué no hace la persona?</a:t>
            </a:r>
            <a:endParaRPr lang="en-US" sz="1300" dirty="0"/>
          </a:p>
        </p:txBody>
      </p:sp>
      <p:sp>
        <p:nvSpPr>
          <p:cNvPr id="7" name="Text 5"/>
          <p:cNvSpPr/>
          <p:nvPr/>
        </p:nvSpPr>
        <p:spPr>
          <a:xfrm>
            <a:off x="320040" y="1389888"/>
            <a:ext cx="8503920" cy="713232"/>
          </a:xfrm>
          <a:prstGeom prst="rect">
            <a:avLst/>
          </a:prstGeom>
          <a:noFill/>
          <a:ln/>
        </p:spPr>
        <p:txBody>
          <a:bodyPr wrap="square" lIns="0" tIns="0" rIns="0" bIns="0" rtlCol="0" anchor="ctr"/>
          <a:lstStyle/>
          <a:p>
            <a:pPr indent="0" marL="0">
              <a:buNone/>
            </a:pPr>
            <a:r>
              <a:rPr lang="en-US" sz="1300" dirty="0">
                <a:solidFill>
                  <a:srgbClr val="1A202C"/>
                </a:solidFill>
                <a:latin typeface="Calibri" pitchFamily="34" charset="0"/>
                <a:ea typeface="Calibri" pitchFamily="34" charset="-122"/>
                <a:cs typeface="Calibri" pitchFamily="34" charset="-120"/>
              </a:rPr>
              <a:t>✗  No computa la probabilidad de encontrar un mensaje en cada instante y maximiza en ese momento (Max. Momentánea refutada).</a:t>
            </a:r>
            <a:endParaRPr lang="en-US" sz="1300" dirty="0"/>
          </a:p>
          <a:p>
            <a:pPr indent="0" marL="0">
              <a:buNone/>
            </a:pPr>
            <a:r>
              <a:rPr lang="en-US" sz="1300" dirty="0">
                <a:solidFill>
                  <a:srgbClr val="1A202C"/>
                </a:solidFill>
                <a:latin typeface="Calibri" pitchFamily="34" charset="0"/>
                <a:ea typeface="Calibri" pitchFamily="34" charset="-122"/>
                <a:cs typeface="Calibri" pitchFamily="34" charset="-120"/>
              </a:rPr>
              <a:t>✗  No integra sobre toda la jornada laboral para maximizar mensajes totales (Maximización global insuficiente).</a:t>
            </a:r>
            <a:endParaRPr lang="en-US" sz="1300" dirty="0"/>
          </a:p>
        </p:txBody>
      </p:sp>
      <p:sp>
        <p:nvSpPr>
          <p:cNvPr id="8" name="Shape 6"/>
          <p:cNvSpPr/>
          <p:nvPr/>
        </p:nvSpPr>
        <p:spPr>
          <a:xfrm>
            <a:off x="201168" y="2331720"/>
            <a:ext cx="8741664" cy="1188720"/>
          </a:xfrm>
          <a:prstGeom prst="rect">
            <a:avLst/>
          </a:prstGeom>
          <a:solidFill>
            <a:srgbClr val="E6F4ED"/>
          </a:solidFill>
          <a:ln w="15240">
            <a:solidFill>
              <a:srgbClr val="276749"/>
            </a:solidFill>
            <a:prstDash val="solid"/>
          </a:ln>
          <a:effectLst>
            <a:outerShdw sx="100000" sy="100000" kx="0" ky="0" algn="bl" rotWithShape="0" blurRad="76200" dist="38100" dir="8100000">
              <a:srgbClr val="000000">
                <a:alpha val="10000"/>
              </a:srgbClr>
            </a:outerShdw>
          </a:effectLst>
        </p:spPr>
      </p:sp>
      <p:sp>
        <p:nvSpPr>
          <p:cNvPr id="9" name="Text 7"/>
          <p:cNvSpPr/>
          <p:nvPr/>
        </p:nvSpPr>
        <p:spPr>
          <a:xfrm>
            <a:off x="320040" y="2404872"/>
            <a:ext cx="8503920" cy="274320"/>
          </a:xfrm>
          <a:prstGeom prst="rect">
            <a:avLst/>
          </a:prstGeom>
          <a:noFill/>
          <a:ln/>
        </p:spPr>
        <p:txBody>
          <a:bodyPr wrap="square" lIns="0" tIns="0" rIns="0" bIns="0" rtlCol="0" anchor="ctr"/>
          <a:lstStyle/>
          <a:p>
            <a:pPr indent="0" marL="0">
              <a:buNone/>
            </a:pPr>
            <a:r>
              <a:rPr lang="en-US" sz="1300" b="1" dirty="0">
                <a:solidFill>
                  <a:srgbClr val="276749"/>
                </a:solidFill>
                <a:latin typeface="Calibri" pitchFamily="34" charset="0"/>
                <a:ea typeface="Calibri" pitchFamily="34" charset="-122"/>
                <a:cs typeface="Calibri" pitchFamily="34" charset="-120"/>
              </a:rPr>
              <a:t>¿Qué sí hace?</a:t>
            </a:r>
            <a:endParaRPr lang="en-US" sz="1300" dirty="0"/>
          </a:p>
        </p:txBody>
      </p:sp>
      <p:sp>
        <p:nvSpPr>
          <p:cNvPr id="10" name="Text 8"/>
          <p:cNvSpPr/>
          <p:nvPr/>
        </p:nvSpPr>
        <p:spPr>
          <a:xfrm>
            <a:off x="320040" y="2715768"/>
            <a:ext cx="8503920" cy="713232"/>
          </a:xfrm>
          <a:prstGeom prst="rect">
            <a:avLst/>
          </a:prstGeom>
          <a:noFill/>
          <a:ln/>
        </p:spPr>
        <p:txBody>
          <a:bodyPr wrap="square" lIns="0" tIns="0" rIns="0" bIns="0" rtlCol="0" anchor="ctr"/>
          <a:lstStyle/>
          <a:p>
            <a:pPr indent="0" marL="0">
              <a:buNone/>
            </a:pPr>
            <a:r>
              <a:rPr lang="en-US" sz="1300" dirty="0">
                <a:solidFill>
                  <a:srgbClr val="1A202C"/>
                </a:solidFill>
                <a:latin typeface="Calibri" pitchFamily="34" charset="0"/>
                <a:ea typeface="Calibri" pitchFamily="34" charset="-122"/>
                <a:cs typeface="Calibri" pitchFamily="34" charset="-120"/>
              </a:rPr>
              <a:t>✓  Estima implícitamente la tasa reciente de mensajes en cada canal (tasa local).</a:t>
            </a:r>
            <a:endParaRPr lang="en-US" sz="1300" dirty="0"/>
          </a:p>
          <a:p>
            <a:pPr indent="0" marL="0">
              <a:buNone/>
            </a:pPr>
            <a:r>
              <a:rPr lang="en-US" sz="1300" dirty="0">
                <a:solidFill>
                  <a:srgbClr val="1A202C"/>
                </a:solidFill>
                <a:latin typeface="Calibri" pitchFamily="34" charset="0"/>
                <a:ea typeface="Calibri" pitchFamily="34" charset="-122"/>
                <a:cs typeface="Calibri" pitchFamily="34" charset="-120"/>
              </a:rPr>
              <a:t>✓  Redistribuye su atención hacia el canal con mayor tasa cuando la diferencia entre las dos se vuelve suficientemente grande (mejoramiento).</a:t>
            </a:r>
            <a:endParaRPr lang="en-US" sz="1300" dirty="0"/>
          </a:p>
        </p:txBody>
      </p:sp>
      <p:sp>
        <p:nvSpPr>
          <p:cNvPr id="11" name="Shape 9"/>
          <p:cNvSpPr/>
          <p:nvPr/>
        </p:nvSpPr>
        <p:spPr>
          <a:xfrm>
            <a:off x="201168" y="3657600"/>
            <a:ext cx="8741664" cy="777240"/>
          </a:xfrm>
          <a:prstGeom prst="rect">
            <a:avLst/>
          </a:prstGeom>
          <a:solidFill>
            <a:srgbClr val="FFF3E8"/>
          </a:solidFill>
          <a:ln w="15240">
            <a:solidFill>
              <a:srgbClr val="C05621"/>
            </a:solidFill>
            <a:prstDash val="solid"/>
          </a:ln>
          <a:effectLst>
            <a:outerShdw sx="100000" sy="100000" kx="0" ky="0" algn="bl" rotWithShape="0" blurRad="76200" dist="38100" dir="8100000">
              <a:srgbClr val="000000">
                <a:alpha val="10000"/>
              </a:srgbClr>
            </a:outerShdw>
          </a:effectLst>
        </p:spPr>
      </p:sp>
      <p:sp>
        <p:nvSpPr>
          <p:cNvPr id="12" name="Text 10"/>
          <p:cNvSpPr/>
          <p:nvPr/>
        </p:nvSpPr>
        <p:spPr>
          <a:xfrm>
            <a:off x="320040" y="3749040"/>
            <a:ext cx="8503920" cy="530352"/>
          </a:xfrm>
          <a:prstGeom prst="rect">
            <a:avLst/>
          </a:prstGeom>
          <a:noFill/>
          <a:ln/>
        </p:spPr>
        <p:txBody>
          <a:bodyPr wrap="square" lIns="0" tIns="0" rIns="0" bIns="0" rtlCol="0" anchor="ctr"/>
          <a:lstStyle/>
          <a:p>
            <a:pPr algn="ctr" indent="0" marL="0">
              <a:buNone/>
            </a:pPr>
            <a:r>
              <a:rPr lang="en-US" sz="1600" b="1" dirty="0">
                <a:solidFill>
                  <a:srgbClr val="C05621"/>
                </a:solidFill>
                <a:latin typeface="Calibri" pitchFamily="34" charset="0"/>
                <a:ea typeface="Calibri" pitchFamily="34" charset="-122"/>
                <a:cs typeface="Calibri" pitchFamily="34" charset="-120"/>
              </a:rPr>
              <a:t>Igualación emerge de esa regla simple, sin que la persona la conozca ni la aplique deliberadamente.</a:t>
            </a:r>
            <a:endParaRPr 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C5282"/>
          </a:solidFill>
          <a:ln/>
        </p:spPr>
      </p:sp>
      <p:sp>
        <p:nvSpPr>
          <p:cNvPr id="3" name="Text 1"/>
          <p:cNvSpPr/>
          <p:nvPr/>
        </p:nvSpPr>
        <p:spPr>
          <a:xfrm>
            <a:off x="201168" y="164592"/>
            <a:ext cx="8778240" cy="566928"/>
          </a:xfrm>
          <a:prstGeom prst="rect">
            <a:avLst/>
          </a:prstGeom>
          <a:noFill/>
          <a:ln/>
        </p:spPr>
        <p:txBody>
          <a:bodyPr wrap="square" lIns="0" tIns="0" rIns="0" bIns="0" rtlCol="0" anchor="ctr"/>
          <a:lstStyle/>
          <a:p>
            <a:pPr indent="0" marL="0">
              <a:buNone/>
            </a:pPr>
            <a:r>
              <a:rPr lang="en-US" sz="2600" b="1" dirty="0">
                <a:solidFill>
                  <a:srgbClr val="2C5282"/>
                </a:solidFill>
                <a:latin typeface="Calibri" pitchFamily="34" charset="0"/>
                <a:ea typeface="Calibri" pitchFamily="34" charset="-122"/>
                <a:cs typeface="Calibri" pitchFamily="34" charset="-120"/>
              </a:rPr>
              <a:t>Conexiones hacia atrás</a:t>
            </a:r>
            <a:endParaRPr lang="en-US" sz="2600" dirty="0"/>
          </a:p>
        </p:txBody>
      </p:sp>
      <p:sp>
        <p:nvSpPr>
          <p:cNvPr id="4" name="Shape 2"/>
          <p:cNvSpPr/>
          <p:nvPr/>
        </p:nvSpPr>
        <p:spPr>
          <a:xfrm>
            <a:off x="201168" y="777240"/>
            <a:ext cx="8741664" cy="0"/>
          </a:xfrm>
          <a:prstGeom prst="line">
            <a:avLst/>
          </a:prstGeom>
          <a:noFill/>
          <a:ln w="19050">
            <a:solidFill>
              <a:srgbClr val="2C5282"/>
            </a:solidFill>
            <a:prstDash val="solid"/>
          </a:ln>
        </p:spPr>
      </p:sp>
      <p:sp>
        <p:nvSpPr>
          <p:cNvPr id="5" name="Shape 3"/>
          <p:cNvSpPr/>
          <p:nvPr/>
        </p:nvSpPr>
        <p:spPr>
          <a:xfrm>
            <a:off x="201168" y="960120"/>
            <a:ext cx="8741664" cy="822960"/>
          </a:xfrm>
          <a:prstGeom prst="rect">
            <a:avLst/>
          </a:prstGeom>
          <a:solidFill>
            <a:srgbClr val="F7F9FB"/>
          </a:solidFill>
          <a:ln w="15240">
            <a:solidFill>
              <a:srgbClr val="718096"/>
            </a:solidFill>
            <a:prstDash val="solid"/>
          </a:ln>
          <a:effectLst>
            <a:outerShdw sx="100000" sy="100000" kx="0" ky="0" algn="bl" rotWithShape="0" blurRad="76200" dist="38100" dir="8100000">
              <a:srgbClr val="000000">
                <a:alpha val="10000"/>
              </a:srgbClr>
            </a:outerShdw>
          </a:effectLst>
        </p:spPr>
      </p:sp>
      <p:sp>
        <p:nvSpPr>
          <p:cNvPr id="6" name="Text 4"/>
          <p:cNvSpPr/>
          <p:nvPr/>
        </p:nvSpPr>
        <p:spPr>
          <a:xfrm>
            <a:off x="320040" y="1014984"/>
            <a:ext cx="8503920" cy="274320"/>
          </a:xfrm>
          <a:prstGeom prst="rect">
            <a:avLst/>
          </a:prstGeom>
          <a:noFill/>
          <a:ln/>
        </p:spPr>
        <p:txBody>
          <a:bodyPr wrap="square" lIns="0" tIns="0" rIns="0" bIns="0" rtlCol="0" anchor="ctr"/>
          <a:lstStyle/>
          <a:p>
            <a:pPr indent="0" marL="0">
              <a:buNone/>
            </a:pPr>
            <a:r>
              <a:rPr lang="en-US" sz="1200" b="1" dirty="0">
                <a:solidFill>
                  <a:srgbClr val="718096"/>
                </a:solidFill>
                <a:latin typeface="Calibri" pitchFamily="34" charset="0"/>
                <a:ea typeface="Calibri" pitchFamily="34" charset="-122"/>
                <a:cs typeface="Calibri" pitchFamily="34" charset="-120"/>
              </a:rPr>
              <a:t>←  Cap. 5 — Retroalimentación</a:t>
            </a:r>
            <a:endParaRPr lang="en-US" sz="1200" dirty="0"/>
          </a:p>
        </p:txBody>
      </p:sp>
      <p:sp>
        <p:nvSpPr>
          <p:cNvPr id="7" name="Text 5"/>
          <p:cNvSpPr/>
          <p:nvPr/>
        </p:nvSpPr>
        <p:spPr>
          <a:xfrm>
            <a:off x="320040" y="1325880"/>
            <a:ext cx="8503920" cy="365760"/>
          </a:xfrm>
          <a:prstGeom prst="rect">
            <a:avLst/>
          </a:prstGeom>
          <a:noFill/>
          <a:ln/>
        </p:spPr>
        <p:txBody>
          <a:bodyPr wrap="square" lIns="0" tIns="0" rIns="0" bIns="0" rtlCol="0" anchor="ctr"/>
          <a:lstStyle/>
          <a:p>
            <a:pPr indent="0" marL="0">
              <a:buNone/>
            </a:pPr>
            <a:r>
              <a:rPr lang="en-US" sz="1200" dirty="0">
                <a:solidFill>
                  <a:srgbClr val="1A202C"/>
                </a:solidFill>
                <a:latin typeface="Calibri" pitchFamily="34" charset="0"/>
                <a:ea typeface="Calibri" pitchFamily="34" charset="-122"/>
                <a:cs typeface="Calibri" pitchFamily="34" charset="-120"/>
              </a:rPr>
              <a:t>El mejoramiento es retroalimentación negativa: Δ cambia de signo cada vez que el organismo se aproxima demasiado a un extremo. El equilibrio es el único punto donde la señal de error desaparece.</a:t>
            </a:r>
            <a:endParaRPr lang="en-US" sz="1200" dirty="0"/>
          </a:p>
        </p:txBody>
      </p:sp>
      <p:sp>
        <p:nvSpPr>
          <p:cNvPr id="8" name="Shape 6"/>
          <p:cNvSpPr/>
          <p:nvPr/>
        </p:nvSpPr>
        <p:spPr>
          <a:xfrm>
            <a:off x="201168" y="1920240"/>
            <a:ext cx="8741664" cy="822960"/>
          </a:xfrm>
          <a:prstGeom prst="rect">
            <a:avLst/>
          </a:prstGeom>
          <a:solidFill>
            <a:srgbClr val="F7F9FB"/>
          </a:solidFill>
          <a:ln w="15240">
            <a:solidFill>
              <a:srgbClr val="718096"/>
            </a:solidFill>
            <a:prstDash val="solid"/>
          </a:ln>
          <a:effectLst>
            <a:outerShdw sx="100000" sy="100000" kx="0" ky="0" algn="bl" rotWithShape="0" blurRad="76200" dist="38100" dir="8100000">
              <a:srgbClr val="000000">
                <a:alpha val="10000"/>
              </a:srgbClr>
            </a:outerShdw>
          </a:effectLst>
        </p:spPr>
      </p:sp>
      <p:sp>
        <p:nvSpPr>
          <p:cNvPr id="9" name="Text 7"/>
          <p:cNvSpPr/>
          <p:nvPr/>
        </p:nvSpPr>
        <p:spPr>
          <a:xfrm>
            <a:off x="320040" y="1975104"/>
            <a:ext cx="8503920" cy="274320"/>
          </a:xfrm>
          <a:prstGeom prst="rect">
            <a:avLst/>
          </a:prstGeom>
          <a:noFill/>
          <a:ln/>
        </p:spPr>
        <p:txBody>
          <a:bodyPr wrap="square" lIns="0" tIns="0" rIns="0" bIns="0" rtlCol="0" anchor="ctr"/>
          <a:lstStyle/>
          <a:p>
            <a:pPr indent="0" marL="0">
              <a:buNone/>
            </a:pPr>
            <a:r>
              <a:rPr lang="en-US" sz="1200" b="1" dirty="0">
                <a:solidFill>
                  <a:srgbClr val="718096"/>
                </a:solidFill>
                <a:latin typeface="Calibri" pitchFamily="34" charset="0"/>
                <a:ea typeface="Calibri" pitchFamily="34" charset="-122"/>
                <a:cs typeface="Calibri" pitchFamily="34" charset="-120"/>
              </a:rPr>
              <a:t>←  Caps. 4–5 — Kinesis / Ascenso de colina</a:t>
            </a:r>
            <a:endParaRPr lang="en-US" sz="1200" dirty="0"/>
          </a:p>
        </p:txBody>
      </p:sp>
      <p:sp>
        <p:nvSpPr>
          <p:cNvPr id="10" name="Text 8"/>
          <p:cNvSpPr/>
          <p:nvPr/>
        </p:nvSpPr>
        <p:spPr>
          <a:xfrm>
            <a:off x="320040" y="2286000"/>
            <a:ext cx="8503920" cy="365760"/>
          </a:xfrm>
          <a:prstGeom prst="rect">
            <a:avLst/>
          </a:prstGeom>
          <a:noFill/>
          <a:ln/>
        </p:spPr>
        <p:txBody>
          <a:bodyPr wrap="square" lIns="0" tIns="0" rIns="0" bIns="0" rtlCol="0" anchor="ctr"/>
          <a:lstStyle/>
          <a:p>
            <a:pPr indent="0" marL="0">
              <a:buNone/>
            </a:pPr>
            <a:r>
              <a:rPr lang="en-US" sz="1200" dirty="0">
                <a:solidFill>
                  <a:srgbClr val="1A202C"/>
                </a:solidFill>
                <a:latin typeface="Calibri" pitchFamily="34" charset="0"/>
                <a:ea typeface="Calibri" pitchFamily="34" charset="-122"/>
                <a:cs typeface="Calibri" pitchFamily="34" charset="-120"/>
              </a:rPr>
              <a:t>La regla del mejoramiento — moverse hacia la opción con mayor tasa local — es el mismo algoritmo de ascenso de colina. El dominio cambia (tasas de refuerzo vs. propiedades físicas); el principio es el mismo.</a:t>
            </a:r>
            <a:endParaRPr lang="en-US" sz="1200" dirty="0"/>
          </a:p>
        </p:txBody>
      </p:sp>
      <p:sp>
        <p:nvSpPr>
          <p:cNvPr id="11" name="Shape 9"/>
          <p:cNvSpPr/>
          <p:nvPr/>
        </p:nvSpPr>
        <p:spPr>
          <a:xfrm>
            <a:off x="201168" y="2880360"/>
            <a:ext cx="8741664" cy="822960"/>
          </a:xfrm>
          <a:prstGeom prst="rect">
            <a:avLst/>
          </a:prstGeom>
          <a:solidFill>
            <a:srgbClr val="F7F9FB"/>
          </a:solidFill>
          <a:ln w="15240">
            <a:solidFill>
              <a:srgbClr val="718096"/>
            </a:solidFill>
            <a:prstDash val="solid"/>
          </a:ln>
          <a:effectLst>
            <a:outerShdw sx="100000" sy="100000" kx="0" ky="0" algn="bl" rotWithShape="0" blurRad="76200" dist="38100" dir="8100000">
              <a:srgbClr val="000000">
                <a:alpha val="10000"/>
              </a:srgbClr>
            </a:outerShdw>
          </a:effectLst>
        </p:spPr>
      </p:sp>
      <p:sp>
        <p:nvSpPr>
          <p:cNvPr id="12" name="Text 10"/>
          <p:cNvSpPr/>
          <p:nvPr/>
        </p:nvSpPr>
        <p:spPr>
          <a:xfrm>
            <a:off x="320040" y="2935224"/>
            <a:ext cx="8503920" cy="274320"/>
          </a:xfrm>
          <a:prstGeom prst="rect">
            <a:avLst/>
          </a:prstGeom>
          <a:noFill/>
          <a:ln/>
        </p:spPr>
        <p:txBody>
          <a:bodyPr wrap="square" lIns="0" tIns="0" rIns="0" bIns="0" rtlCol="0" anchor="ctr"/>
          <a:lstStyle/>
          <a:p>
            <a:pPr indent="0" marL="0">
              <a:buNone/>
            </a:pPr>
            <a:r>
              <a:rPr lang="en-US" sz="1200" b="1" dirty="0">
                <a:solidFill>
                  <a:srgbClr val="718096"/>
                </a:solidFill>
                <a:latin typeface="Calibri" pitchFamily="34" charset="0"/>
                <a:ea typeface="Calibri" pitchFamily="34" charset="-122"/>
                <a:cs typeface="Calibri" pitchFamily="34" charset="-120"/>
              </a:rPr>
              <a:t>←  Cap. 13 — Programas de refuerzo</a:t>
            </a:r>
            <a:endParaRPr lang="en-US" sz="1200" dirty="0"/>
          </a:p>
        </p:txBody>
      </p:sp>
      <p:sp>
        <p:nvSpPr>
          <p:cNvPr id="13" name="Text 11"/>
          <p:cNvSpPr/>
          <p:nvPr/>
        </p:nvSpPr>
        <p:spPr>
          <a:xfrm>
            <a:off x="320040" y="3246120"/>
            <a:ext cx="8503920" cy="365760"/>
          </a:xfrm>
          <a:prstGeom prst="rect">
            <a:avLst/>
          </a:prstGeom>
          <a:noFill/>
          <a:ln/>
        </p:spPr>
        <p:txBody>
          <a:bodyPr wrap="square" lIns="0" tIns="0" rIns="0" bIns="0" rtlCol="0" anchor="ctr"/>
          <a:lstStyle/>
          <a:p>
            <a:pPr indent="0" marL="0">
              <a:buNone/>
            </a:pPr>
            <a:r>
              <a:rPr lang="en-US" sz="1200" dirty="0">
                <a:solidFill>
                  <a:srgbClr val="1A202C"/>
                </a:solidFill>
                <a:latin typeface="Calibri" pitchFamily="34" charset="0"/>
                <a:ea typeface="Calibri" pitchFamily="34" charset="-122"/>
                <a:cs typeface="Calibri" pitchFamily="34" charset="-120"/>
              </a:rPr>
              <a:t>El mejoramiento funciona porque el intervalo del IV transcurre independientemente y el reforzador queda disponible hasta ser recolectado. Esta propiedad da al mejoramiento su dinámica característica.</a:t>
            </a:r>
            <a:endParaRPr lang="en-US" sz="1200" dirty="0"/>
          </a:p>
        </p:txBody>
      </p:sp>
      <p:sp>
        <p:nvSpPr>
          <p:cNvPr id="14" name="Shape 12"/>
          <p:cNvSpPr/>
          <p:nvPr/>
        </p:nvSpPr>
        <p:spPr>
          <a:xfrm>
            <a:off x="201168" y="3840480"/>
            <a:ext cx="8741664" cy="822960"/>
          </a:xfrm>
          <a:prstGeom prst="rect">
            <a:avLst/>
          </a:prstGeom>
          <a:solidFill>
            <a:srgbClr val="EBF4FF"/>
          </a:solidFill>
          <a:ln w="15240">
            <a:solidFill>
              <a:srgbClr val="2C5282"/>
            </a:solidFill>
            <a:prstDash val="solid"/>
          </a:ln>
          <a:effectLst>
            <a:outerShdw sx="100000" sy="100000" kx="0" ky="0" algn="bl" rotWithShape="0" blurRad="76200" dist="38100" dir="8100000">
              <a:srgbClr val="000000">
                <a:alpha val="10000"/>
              </a:srgbClr>
            </a:outerShdw>
          </a:effectLst>
        </p:spPr>
      </p:sp>
      <p:sp>
        <p:nvSpPr>
          <p:cNvPr id="15" name="Text 13"/>
          <p:cNvSpPr/>
          <p:nvPr/>
        </p:nvSpPr>
        <p:spPr>
          <a:xfrm>
            <a:off x="320040" y="3895344"/>
            <a:ext cx="8503920" cy="274320"/>
          </a:xfrm>
          <a:prstGeom prst="rect">
            <a:avLst/>
          </a:prstGeom>
          <a:noFill/>
          <a:ln/>
        </p:spPr>
        <p:txBody>
          <a:bodyPr wrap="square" lIns="0" tIns="0" rIns="0" bIns="0" rtlCol="0" anchor="ctr"/>
          <a:lstStyle/>
          <a:p>
            <a:pPr indent="0" marL="0">
              <a:buNone/>
            </a:pPr>
            <a:r>
              <a:rPr lang="en-US" sz="1200" b="1" dirty="0">
                <a:solidFill>
                  <a:srgbClr val="2C5282"/>
                </a:solidFill>
                <a:latin typeface="Calibri" pitchFamily="34" charset="0"/>
                <a:ea typeface="Calibri" pitchFamily="34" charset="-122"/>
                <a:cs typeface="Calibri" pitchFamily="34" charset="-120"/>
              </a:rPr>
              <a:t>←  Cap. 14 — Igualación</a:t>
            </a:r>
            <a:endParaRPr lang="en-US" sz="1200" dirty="0"/>
          </a:p>
        </p:txBody>
      </p:sp>
      <p:sp>
        <p:nvSpPr>
          <p:cNvPr id="16" name="Text 14"/>
          <p:cNvSpPr/>
          <p:nvPr/>
        </p:nvSpPr>
        <p:spPr>
          <a:xfrm>
            <a:off x="320040" y="4206240"/>
            <a:ext cx="8503920" cy="365760"/>
          </a:xfrm>
          <a:prstGeom prst="rect">
            <a:avLst/>
          </a:prstGeom>
          <a:noFill/>
          <a:ln/>
        </p:spPr>
        <p:txBody>
          <a:bodyPr wrap="square" lIns="0" tIns="0" rIns="0" bIns="0" rtlCol="0" anchor="ctr"/>
          <a:lstStyle/>
          <a:p>
            <a:pPr indent="0" marL="0">
              <a:buNone/>
            </a:pPr>
            <a:r>
              <a:rPr lang="en-US" sz="1200" dirty="0">
                <a:solidFill>
                  <a:srgbClr val="1A202C"/>
                </a:solidFill>
                <a:latin typeface="Calibri" pitchFamily="34" charset="0"/>
                <a:ea typeface="Calibri" pitchFamily="34" charset="-122"/>
                <a:cs typeface="Calibri" pitchFamily="34" charset="-120"/>
              </a:rPr>
              <a:t>Los dos modelos explican el mismo fenómeno (equilibrio de Cap. 14) desde la escala temporal del proceso. Igualación puede coexistir con mecanismos moleculares que no la apuntan directamente.</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C5282"/>
          </a:solidFill>
          <a:ln/>
        </p:spPr>
      </p:sp>
      <p:sp>
        <p:nvSpPr>
          <p:cNvPr id="3" name="Text 1"/>
          <p:cNvSpPr/>
          <p:nvPr/>
        </p:nvSpPr>
        <p:spPr>
          <a:xfrm>
            <a:off x="201168" y="164592"/>
            <a:ext cx="8778240" cy="566928"/>
          </a:xfrm>
          <a:prstGeom prst="rect">
            <a:avLst/>
          </a:prstGeom>
          <a:noFill/>
          <a:ln/>
        </p:spPr>
        <p:txBody>
          <a:bodyPr wrap="square" lIns="0" tIns="0" rIns="0" bIns="0" rtlCol="0" anchor="ctr"/>
          <a:lstStyle/>
          <a:p>
            <a:pPr indent="0" marL="0">
              <a:buNone/>
            </a:pPr>
            <a:r>
              <a:rPr lang="en-US" sz="2600" b="1" dirty="0">
                <a:solidFill>
                  <a:srgbClr val="2C5282"/>
                </a:solidFill>
                <a:latin typeface="Calibri" pitchFamily="34" charset="0"/>
                <a:ea typeface="Calibri" pitchFamily="34" charset="-122"/>
                <a:cs typeface="Calibri" pitchFamily="34" charset="-120"/>
              </a:rPr>
              <a:t>Conexiones hacia adelante</a:t>
            </a:r>
            <a:endParaRPr lang="en-US" sz="2600" dirty="0"/>
          </a:p>
        </p:txBody>
      </p:sp>
      <p:sp>
        <p:nvSpPr>
          <p:cNvPr id="4" name="Shape 2"/>
          <p:cNvSpPr/>
          <p:nvPr/>
        </p:nvSpPr>
        <p:spPr>
          <a:xfrm>
            <a:off x="201168" y="777240"/>
            <a:ext cx="8741664" cy="0"/>
          </a:xfrm>
          <a:prstGeom prst="line">
            <a:avLst/>
          </a:prstGeom>
          <a:noFill/>
          <a:ln w="19050">
            <a:solidFill>
              <a:srgbClr val="2C5282"/>
            </a:solidFill>
            <a:prstDash val="solid"/>
          </a:ln>
        </p:spPr>
      </p:sp>
      <p:sp>
        <p:nvSpPr>
          <p:cNvPr id="5" name="Shape 3"/>
          <p:cNvSpPr/>
          <p:nvPr/>
        </p:nvSpPr>
        <p:spPr>
          <a:xfrm>
            <a:off x="201168" y="960120"/>
            <a:ext cx="8741664" cy="822960"/>
          </a:xfrm>
          <a:prstGeom prst="rect">
            <a:avLst/>
          </a:prstGeom>
          <a:solidFill>
            <a:srgbClr val="FFF3E8"/>
          </a:solidFill>
          <a:ln w="15240">
            <a:solidFill>
              <a:srgbClr val="C05621"/>
            </a:solidFill>
            <a:prstDash val="solid"/>
          </a:ln>
          <a:effectLst>
            <a:outerShdw sx="100000" sy="100000" kx="0" ky="0" algn="bl" rotWithShape="0" blurRad="76200" dist="38100" dir="8100000">
              <a:srgbClr val="000000">
                <a:alpha val="10000"/>
              </a:srgbClr>
            </a:outerShdw>
          </a:effectLst>
        </p:spPr>
      </p:sp>
      <p:sp>
        <p:nvSpPr>
          <p:cNvPr id="6" name="Text 4"/>
          <p:cNvSpPr/>
          <p:nvPr/>
        </p:nvSpPr>
        <p:spPr>
          <a:xfrm>
            <a:off x="320040" y="1014984"/>
            <a:ext cx="8503920" cy="274320"/>
          </a:xfrm>
          <a:prstGeom prst="rect">
            <a:avLst/>
          </a:prstGeom>
          <a:noFill/>
          <a:ln/>
        </p:spPr>
        <p:txBody>
          <a:bodyPr wrap="square" lIns="0" tIns="0" rIns="0" bIns="0" rtlCol="0" anchor="ctr"/>
          <a:lstStyle/>
          <a:p>
            <a:pPr indent="0" marL="0">
              <a:buNone/>
            </a:pPr>
            <a:r>
              <a:rPr lang="en-US" sz="1200" b="1" dirty="0">
                <a:solidFill>
                  <a:srgbClr val="C05621"/>
                </a:solidFill>
                <a:latin typeface="Calibri" pitchFamily="34" charset="0"/>
                <a:ea typeface="Calibri" pitchFamily="34" charset="-122"/>
                <a:cs typeface="Calibri" pitchFamily="34" charset="-120"/>
              </a:rPr>
              <a:t>→  Cap. siguiente — Maximización global (Staddon, Rachlin)</a:t>
            </a:r>
            <a:endParaRPr lang="en-US" sz="1200" dirty="0"/>
          </a:p>
        </p:txBody>
      </p:sp>
      <p:sp>
        <p:nvSpPr>
          <p:cNvPr id="7" name="Text 5"/>
          <p:cNvSpPr/>
          <p:nvPr/>
        </p:nvSpPr>
        <p:spPr>
          <a:xfrm>
            <a:off x="320040" y="1325880"/>
            <a:ext cx="8503920" cy="384048"/>
          </a:xfrm>
          <a:prstGeom prst="rect">
            <a:avLst/>
          </a:prstGeom>
          <a:noFill/>
          <a:ln/>
        </p:spPr>
        <p:txBody>
          <a:bodyPr wrap="square" lIns="0" tIns="0" rIns="0" bIns="0" rtlCol="0" anchor="ctr"/>
          <a:lstStyle/>
          <a:p>
            <a:pPr indent="0" marL="0">
              <a:buNone/>
            </a:pPr>
            <a:r>
              <a:rPr lang="en-US" sz="1200" dirty="0">
                <a:solidFill>
                  <a:srgbClr val="1A202C"/>
                </a:solidFill>
                <a:latin typeface="Calibri" pitchFamily="34" charset="0"/>
                <a:ea typeface="Calibri" pitchFamily="34" charset="-122"/>
                <a:cs typeface="Calibri" pitchFamily="34" charset="-120"/>
              </a:rPr>
              <a:t>El mejoramiento predice igualación como equilibrio local. La maximización global propone distribución que maximiza una cantidad sobre la sesión entera. La diferencia crítica aparece cuando el entorno cambia.</a:t>
            </a:r>
            <a:endParaRPr lang="en-US" sz="1200" dirty="0"/>
          </a:p>
        </p:txBody>
      </p:sp>
      <p:sp>
        <p:nvSpPr>
          <p:cNvPr id="8" name="Shape 6"/>
          <p:cNvSpPr/>
          <p:nvPr/>
        </p:nvSpPr>
        <p:spPr>
          <a:xfrm>
            <a:off x="201168" y="1920240"/>
            <a:ext cx="8741664" cy="822960"/>
          </a:xfrm>
          <a:prstGeom prst="rect">
            <a:avLst/>
          </a:prstGeom>
          <a:solidFill>
            <a:srgbClr val="E6F4ED"/>
          </a:solidFill>
          <a:ln w="15240">
            <a:solidFill>
              <a:srgbClr val="276749"/>
            </a:solidFill>
            <a:prstDash val="solid"/>
          </a:ln>
          <a:effectLst>
            <a:outerShdw sx="100000" sy="100000" kx="0" ky="0" algn="bl" rotWithShape="0" blurRad="76200" dist="38100" dir="8100000">
              <a:srgbClr val="000000">
                <a:alpha val="10000"/>
              </a:srgbClr>
            </a:outerShdw>
          </a:effectLst>
        </p:spPr>
      </p:sp>
      <p:sp>
        <p:nvSpPr>
          <p:cNvPr id="9" name="Text 7"/>
          <p:cNvSpPr/>
          <p:nvPr/>
        </p:nvSpPr>
        <p:spPr>
          <a:xfrm>
            <a:off x="320040" y="1975104"/>
            <a:ext cx="8503920" cy="274320"/>
          </a:xfrm>
          <a:prstGeom prst="rect">
            <a:avLst/>
          </a:prstGeom>
          <a:noFill/>
          <a:ln/>
        </p:spPr>
        <p:txBody>
          <a:bodyPr wrap="square" lIns="0" tIns="0" rIns="0" bIns="0" rtlCol="0" anchor="ctr"/>
          <a:lstStyle/>
          <a:p>
            <a:pPr indent="0" marL="0">
              <a:buNone/>
            </a:pPr>
            <a:r>
              <a:rPr lang="en-US" sz="1200" b="1" dirty="0">
                <a:solidFill>
                  <a:srgbClr val="276749"/>
                </a:solidFill>
                <a:latin typeface="Calibri" pitchFamily="34" charset="0"/>
                <a:ea typeface="Calibri" pitchFamily="34" charset="-122"/>
                <a:cs typeface="Calibri" pitchFamily="34" charset="-120"/>
              </a:rPr>
              <a:t>→  Cap. posterior — Ley del efecto relativa (Herrnstein)</a:t>
            </a:r>
            <a:endParaRPr lang="en-US" sz="1200" dirty="0"/>
          </a:p>
        </p:txBody>
      </p:sp>
      <p:sp>
        <p:nvSpPr>
          <p:cNvPr id="10" name="Text 8"/>
          <p:cNvSpPr/>
          <p:nvPr/>
        </p:nvSpPr>
        <p:spPr>
          <a:xfrm>
            <a:off x="320040" y="2286000"/>
            <a:ext cx="8503920" cy="384048"/>
          </a:xfrm>
          <a:prstGeom prst="rect">
            <a:avLst/>
          </a:prstGeom>
          <a:noFill/>
          <a:ln/>
        </p:spPr>
        <p:txBody>
          <a:bodyPr wrap="square" lIns="0" tIns="0" rIns="0" bIns="0" rtlCol="0" anchor="ctr"/>
          <a:lstStyle/>
          <a:p>
            <a:pPr indent="0" marL="0">
              <a:buNone/>
            </a:pPr>
            <a:r>
              <a:rPr lang="en-US" sz="1200" dirty="0">
                <a:solidFill>
                  <a:srgbClr val="1A202C"/>
                </a:solidFill>
                <a:latin typeface="Calibri" pitchFamily="34" charset="0"/>
                <a:ea typeface="Calibri" pitchFamily="34" charset="-122"/>
                <a:cs typeface="Calibri" pitchFamily="34" charset="-120"/>
              </a:rPr>
              <a:t>El mejoramiento describe redistribución del comportamiento, pero no especifica cómo se determina el valor de cada opción desde su historia de reforzamiento. La ley del efecto relativa completa ese cuadro.</a:t>
            </a:r>
            <a:endParaRPr lang="en-US" sz="1200" dirty="0"/>
          </a:p>
        </p:txBody>
      </p:sp>
      <p:sp>
        <p:nvSpPr>
          <p:cNvPr id="11" name="Shape 9"/>
          <p:cNvSpPr/>
          <p:nvPr/>
        </p:nvSpPr>
        <p:spPr>
          <a:xfrm>
            <a:off x="201168" y="2880360"/>
            <a:ext cx="8741664" cy="822960"/>
          </a:xfrm>
          <a:prstGeom prst="rect">
            <a:avLst/>
          </a:prstGeom>
          <a:solidFill>
            <a:srgbClr val="EBF4FF"/>
          </a:solidFill>
          <a:ln w="15240">
            <a:solidFill>
              <a:srgbClr val="2C5282"/>
            </a:solidFill>
            <a:prstDash val="solid"/>
          </a:ln>
          <a:effectLst>
            <a:outerShdw sx="100000" sy="100000" kx="0" ky="0" algn="bl" rotWithShape="0" blurRad="76200" dist="38100" dir="8100000">
              <a:srgbClr val="000000">
                <a:alpha val="10000"/>
              </a:srgbClr>
            </a:outerShdw>
          </a:effectLst>
        </p:spPr>
      </p:sp>
      <p:sp>
        <p:nvSpPr>
          <p:cNvPr id="12" name="Text 10"/>
          <p:cNvSpPr/>
          <p:nvPr/>
        </p:nvSpPr>
        <p:spPr>
          <a:xfrm>
            <a:off x="320040" y="2935224"/>
            <a:ext cx="8503920" cy="274320"/>
          </a:xfrm>
          <a:prstGeom prst="rect">
            <a:avLst/>
          </a:prstGeom>
          <a:noFill/>
          <a:ln/>
        </p:spPr>
        <p:txBody>
          <a:bodyPr wrap="square" lIns="0" tIns="0" rIns="0" bIns="0" rtlCol="0" anchor="ctr"/>
          <a:lstStyle/>
          <a:p>
            <a:pPr indent="0" marL="0">
              <a:buNone/>
            </a:pPr>
            <a:r>
              <a:rPr lang="en-US" sz="1200" b="1" dirty="0">
                <a:solidFill>
                  <a:srgbClr val="2C5282"/>
                </a:solidFill>
                <a:latin typeface="Calibri" pitchFamily="34" charset="0"/>
                <a:ea typeface="Calibri" pitchFamily="34" charset="-122"/>
                <a:cs typeface="Calibri" pitchFamily="34" charset="-120"/>
              </a:rPr>
              <a:t>→  Módulo posterior — Gallistel</a:t>
            </a:r>
            <a:endParaRPr lang="en-US" sz="1200" dirty="0"/>
          </a:p>
        </p:txBody>
      </p:sp>
      <p:sp>
        <p:nvSpPr>
          <p:cNvPr id="13" name="Text 11"/>
          <p:cNvSpPr/>
          <p:nvPr/>
        </p:nvSpPr>
        <p:spPr>
          <a:xfrm>
            <a:off x="320040" y="3246120"/>
            <a:ext cx="8503920" cy="384048"/>
          </a:xfrm>
          <a:prstGeom prst="rect">
            <a:avLst/>
          </a:prstGeom>
          <a:noFill/>
          <a:ln/>
        </p:spPr>
        <p:txBody>
          <a:bodyPr wrap="square" lIns="0" tIns="0" rIns="0" bIns="0" rtlCol="0" anchor="ctr"/>
          <a:lstStyle/>
          <a:p>
            <a:pPr indent="0" marL="0">
              <a:buNone/>
            </a:pPr>
            <a:r>
              <a:rPr lang="en-US" sz="1200" dirty="0">
                <a:solidFill>
                  <a:srgbClr val="1A202C"/>
                </a:solidFill>
                <a:latin typeface="Calibri" pitchFamily="34" charset="0"/>
                <a:ea typeface="Calibri" pitchFamily="34" charset="-122"/>
                <a:cs typeface="Calibri" pitchFamily="34" charset="-120"/>
              </a:rPr>
              <a:t>El mejoramiento accede a tasas desde abajo (probabilidades individuales). Gallistel llevará el argumento más lejos: las tasas de refuerzo son la representación primaria que los organismos forman y actualizan.</a:t>
            </a:r>
            <a:endParaRPr lang="en-US" sz="1200" dirty="0"/>
          </a:p>
        </p:txBody>
      </p:sp>
      <p:sp>
        <p:nvSpPr>
          <p:cNvPr id="14" name="Shape 12"/>
          <p:cNvSpPr/>
          <p:nvPr/>
        </p:nvSpPr>
        <p:spPr>
          <a:xfrm>
            <a:off x="201168" y="3840480"/>
            <a:ext cx="8741664" cy="822960"/>
          </a:xfrm>
          <a:prstGeom prst="rect">
            <a:avLst/>
          </a:prstGeom>
          <a:solidFill>
            <a:srgbClr val="F7F9FB"/>
          </a:solidFill>
          <a:ln w="15240">
            <a:solidFill>
              <a:srgbClr val="718096"/>
            </a:solidFill>
            <a:prstDash val="solid"/>
          </a:ln>
          <a:effectLst>
            <a:outerShdw sx="100000" sy="100000" kx="0" ky="0" algn="bl" rotWithShape="0" blurRad="76200" dist="38100" dir="8100000">
              <a:srgbClr val="000000">
                <a:alpha val="10000"/>
              </a:srgbClr>
            </a:outerShdw>
          </a:effectLst>
        </p:spPr>
      </p:sp>
      <p:sp>
        <p:nvSpPr>
          <p:cNvPr id="15" name="Text 13"/>
          <p:cNvSpPr/>
          <p:nvPr/>
        </p:nvSpPr>
        <p:spPr>
          <a:xfrm>
            <a:off x="320040" y="3895344"/>
            <a:ext cx="8503920" cy="274320"/>
          </a:xfrm>
          <a:prstGeom prst="rect">
            <a:avLst/>
          </a:prstGeom>
          <a:noFill/>
          <a:ln/>
        </p:spPr>
        <p:txBody>
          <a:bodyPr wrap="square" lIns="0" tIns="0" rIns="0" bIns="0" rtlCol="0" anchor="ctr"/>
          <a:lstStyle/>
          <a:p>
            <a:pPr indent="0" marL="0">
              <a:buNone/>
            </a:pPr>
            <a:r>
              <a:rPr lang="en-US" sz="1200" b="1" dirty="0">
                <a:solidFill>
                  <a:srgbClr val="718096"/>
                </a:solidFill>
                <a:latin typeface="Calibri" pitchFamily="34" charset="0"/>
                <a:ea typeface="Calibri" pitchFamily="34" charset="-122"/>
                <a:cs typeface="Calibri" pitchFamily="34" charset="-120"/>
              </a:rPr>
              <a:t>→  Módulo posterior — Incertidumbre y volatilidad</a:t>
            </a:r>
            <a:endParaRPr lang="en-US" sz="1200" dirty="0"/>
          </a:p>
        </p:txBody>
      </p:sp>
      <p:sp>
        <p:nvSpPr>
          <p:cNvPr id="16" name="Text 14"/>
          <p:cNvSpPr/>
          <p:nvPr/>
        </p:nvSpPr>
        <p:spPr>
          <a:xfrm>
            <a:off x="320040" y="4206240"/>
            <a:ext cx="8503920" cy="384048"/>
          </a:xfrm>
          <a:prstGeom prst="rect">
            <a:avLst/>
          </a:prstGeom>
          <a:noFill/>
          <a:ln/>
        </p:spPr>
        <p:txBody>
          <a:bodyPr wrap="square" lIns="0" tIns="0" rIns="0" bIns="0" rtlCol="0" anchor="ctr"/>
          <a:lstStyle/>
          <a:p>
            <a:pPr indent="0" marL="0">
              <a:buNone/>
            </a:pPr>
            <a:r>
              <a:rPr lang="en-US" sz="1200" dirty="0">
                <a:solidFill>
                  <a:srgbClr val="1A202C"/>
                </a:solidFill>
                <a:latin typeface="Calibri" pitchFamily="34" charset="0"/>
                <a:ea typeface="Calibri" pitchFamily="34" charset="-122"/>
                <a:cs typeface="Calibri" pitchFamily="34" charset="-120"/>
              </a:rPr>
              <a:t>La limitación del mejoramiento (ventana temporal indefinida) se convierte en el problema central cuando el entorno cambia. Exploración de opciones inciertas reemplaza al mejoramiento como principio.</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C05621"/>
          </a:solidFill>
          <a:ln/>
        </p:spPr>
      </p:sp>
      <p:sp>
        <p:nvSpPr>
          <p:cNvPr id="3" name="Text 1"/>
          <p:cNvSpPr/>
          <p:nvPr/>
        </p:nvSpPr>
        <p:spPr>
          <a:xfrm>
            <a:off x="201168" y="164592"/>
            <a:ext cx="8778240" cy="566928"/>
          </a:xfrm>
          <a:prstGeom prst="rect">
            <a:avLst/>
          </a:prstGeom>
          <a:noFill/>
          <a:ln/>
        </p:spPr>
        <p:txBody>
          <a:bodyPr wrap="square" lIns="0" tIns="0" rIns="0" bIns="0" rtlCol="0" anchor="ctr"/>
          <a:lstStyle/>
          <a:p>
            <a:pPr indent="0" marL="0">
              <a:buNone/>
            </a:pPr>
            <a:r>
              <a:rPr lang="en-US" sz="2600" b="1" dirty="0">
                <a:solidFill>
                  <a:srgbClr val="C05621"/>
                </a:solidFill>
                <a:latin typeface="Calibri" pitchFamily="34" charset="0"/>
                <a:ea typeface="Calibri" pitchFamily="34" charset="-122"/>
                <a:cs typeface="Calibri" pitchFamily="34" charset="-120"/>
              </a:rPr>
              <a:t>Ejercicios del capítulo</a:t>
            </a:r>
            <a:endParaRPr lang="en-US" sz="2600" dirty="0"/>
          </a:p>
        </p:txBody>
      </p:sp>
      <p:sp>
        <p:nvSpPr>
          <p:cNvPr id="4" name="Shape 2"/>
          <p:cNvSpPr/>
          <p:nvPr/>
        </p:nvSpPr>
        <p:spPr>
          <a:xfrm>
            <a:off x="201168" y="777240"/>
            <a:ext cx="8741664" cy="0"/>
          </a:xfrm>
          <a:prstGeom prst="line">
            <a:avLst/>
          </a:prstGeom>
          <a:noFill/>
          <a:ln w="19050">
            <a:solidFill>
              <a:srgbClr val="C05621"/>
            </a:solidFill>
            <a:prstDash val="solid"/>
          </a:ln>
        </p:spPr>
      </p:sp>
      <p:sp>
        <p:nvSpPr>
          <p:cNvPr id="5" name="Shape 3"/>
          <p:cNvSpPr/>
          <p:nvPr/>
        </p:nvSpPr>
        <p:spPr>
          <a:xfrm>
            <a:off x="201168" y="960120"/>
            <a:ext cx="4206240" cy="1188720"/>
          </a:xfrm>
          <a:prstGeom prst="rect">
            <a:avLst/>
          </a:prstGeom>
          <a:solidFill>
            <a:srgbClr val="FAFCFF"/>
          </a:solidFill>
          <a:ln w="15240">
            <a:solidFill>
              <a:srgbClr val="718096"/>
            </a:solidFill>
            <a:prstDash val="solid"/>
          </a:ln>
          <a:effectLst>
            <a:outerShdw sx="100000" sy="100000" kx="0" ky="0" algn="bl" rotWithShape="0" blurRad="76200" dist="38100" dir="8100000">
              <a:srgbClr val="000000">
                <a:alpha val="10000"/>
              </a:srgbClr>
            </a:outerShdw>
          </a:effectLst>
        </p:spPr>
      </p:sp>
      <p:sp>
        <p:nvSpPr>
          <p:cNvPr id="6" name="Shape 4"/>
          <p:cNvSpPr/>
          <p:nvPr/>
        </p:nvSpPr>
        <p:spPr>
          <a:xfrm>
            <a:off x="292608" y="1051560"/>
            <a:ext cx="411480" cy="411480"/>
          </a:xfrm>
          <a:prstGeom prst="ellipse">
            <a:avLst/>
          </a:prstGeom>
          <a:solidFill>
            <a:srgbClr val="276749"/>
          </a:solidFill>
          <a:ln w="12700">
            <a:solidFill>
              <a:srgbClr val="276749"/>
            </a:solidFill>
            <a:prstDash val="solid"/>
          </a:ln>
        </p:spPr>
      </p:sp>
      <p:sp>
        <p:nvSpPr>
          <p:cNvPr id="7" name="Text 5"/>
          <p:cNvSpPr/>
          <p:nvPr/>
        </p:nvSpPr>
        <p:spPr>
          <a:xfrm>
            <a:off x="292608" y="1069848"/>
            <a:ext cx="4114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795528" y="1051560"/>
            <a:ext cx="3474720" cy="274320"/>
          </a:xfrm>
          <a:prstGeom prst="rect">
            <a:avLst/>
          </a:prstGeom>
          <a:noFill/>
          <a:ln/>
        </p:spPr>
        <p:txBody>
          <a:bodyPr wrap="square" lIns="0" tIns="0" rIns="0" bIns="0" rtlCol="0" anchor="ctr"/>
          <a:lstStyle/>
          <a:p>
            <a:pPr indent="0" marL="0">
              <a:buNone/>
            </a:pPr>
            <a:r>
              <a:rPr lang="en-US" sz="1000" b="1" dirty="0">
                <a:solidFill>
                  <a:srgbClr val="276749"/>
                </a:solidFill>
                <a:latin typeface="Calibri" pitchFamily="34" charset="0"/>
                <a:ea typeface="Calibri" pitchFamily="34" charset="-122"/>
                <a:cs typeface="Calibri" pitchFamily="34" charset="-120"/>
              </a:rPr>
              <a:t>[Básico]</a:t>
            </a:r>
            <a:endParaRPr lang="en-US" sz="1000" dirty="0"/>
          </a:p>
        </p:txBody>
      </p:sp>
      <p:sp>
        <p:nvSpPr>
          <p:cNvPr id="9" name="Text 7"/>
          <p:cNvSpPr/>
          <p:nvPr/>
        </p:nvSpPr>
        <p:spPr>
          <a:xfrm>
            <a:off x="292608" y="1371600"/>
            <a:ext cx="4005072" cy="685800"/>
          </a:xfrm>
          <a:prstGeom prst="rect">
            <a:avLst/>
          </a:prstGeom>
          <a:noFill/>
          <a:ln/>
        </p:spPr>
        <p:txBody>
          <a:bodyPr wrap="square" lIns="0" tIns="0" rIns="0" bIns="0" rtlCol="0" anchor="ctr"/>
          <a:lstStyle/>
          <a:p>
            <a:pPr indent="0" marL="0">
              <a:buNone/>
            </a:pPr>
            <a:r>
              <a:rPr lang="en-US" sz="1100" dirty="0">
                <a:solidFill>
                  <a:srgbClr val="1A202C"/>
                </a:solidFill>
                <a:latin typeface="Calibri" pitchFamily="34" charset="0"/>
                <a:ea typeface="Calibri" pitchFamily="34" charset="-122"/>
                <a:cs typeface="Calibri" pitchFamily="34" charset="-120"/>
              </a:rPr>
              <a:t>IV 1' – IV 4': calcular tasas locales para T₁ = 50%, 80%, 20%. ¿En cuál se igualan? Verificar con la ley de igualación.</a:t>
            </a:r>
            <a:endParaRPr lang="en-US" sz="1100" dirty="0"/>
          </a:p>
        </p:txBody>
      </p:sp>
      <p:sp>
        <p:nvSpPr>
          <p:cNvPr id="10" name="Shape 8"/>
          <p:cNvSpPr/>
          <p:nvPr/>
        </p:nvSpPr>
        <p:spPr>
          <a:xfrm>
            <a:off x="4681728" y="960120"/>
            <a:ext cx="4206240" cy="1188720"/>
          </a:xfrm>
          <a:prstGeom prst="rect">
            <a:avLst/>
          </a:prstGeom>
          <a:solidFill>
            <a:srgbClr val="FAFCFF"/>
          </a:solidFill>
          <a:ln w="15240">
            <a:solidFill>
              <a:srgbClr val="718096"/>
            </a:solidFill>
            <a:prstDash val="solid"/>
          </a:ln>
          <a:effectLst>
            <a:outerShdw sx="100000" sy="100000" kx="0" ky="0" algn="bl" rotWithShape="0" blurRad="76200" dist="38100" dir="8100000">
              <a:srgbClr val="000000">
                <a:alpha val="10000"/>
              </a:srgbClr>
            </a:outerShdw>
          </a:effectLst>
        </p:spPr>
      </p:sp>
      <p:sp>
        <p:nvSpPr>
          <p:cNvPr id="11" name="Shape 9"/>
          <p:cNvSpPr/>
          <p:nvPr/>
        </p:nvSpPr>
        <p:spPr>
          <a:xfrm>
            <a:off x="4773168" y="1051560"/>
            <a:ext cx="411480" cy="411480"/>
          </a:xfrm>
          <a:prstGeom prst="ellipse">
            <a:avLst/>
          </a:prstGeom>
          <a:solidFill>
            <a:srgbClr val="276749"/>
          </a:solidFill>
          <a:ln w="12700">
            <a:solidFill>
              <a:srgbClr val="276749"/>
            </a:solidFill>
            <a:prstDash val="solid"/>
          </a:ln>
        </p:spPr>
      </p:sp>
      <p:sp>
        <p:nvSpPr>
          <p:cNvPr id="12" name="Text 10"/>
          <p:cNvSpPr/>
          <p:nvPr/>
        </p:nvSpPr>
        <p:spPr>
          <a:xfrm>
            <a:off x="4773168" y="1069848"/>
            <a:ext cx="4114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5276088" y="1051560"/>
            <a:ext cx="3474720" cy="274320"/>
          </a:xfrm>
          <a:prstGeom prst="rect">
            <a:avLst/>
          </a:prstGeom>
          <a:noFill/>
          <a:ln/>
        </p:spPr>
        <p:txBody>
          <a:bodyPr wrap="square" lIns="0" tIns="0" rIns="0" bIns="0" rtlCol="0" anchor="ctr"/>
          <a:lstStyle/>
          <a:p>
            <a:pPr indent="0" marL="0">
              <a:buNone/>
            </a:pPr>
            <a:r>
              <a:rPr lang="en-US" sz="1000" b="1" dirty="0">
                <a:solidFill>
                  <a:srgbClr val="276749"/>
                </a:solidFill>
                <a:latin typeface="Calibri" pitchFamily="34" charset="0"/>
                <a:ea typeface="Calibri" pitchFamily="34" charset="-122"/>
                <a:cs typeface="Calibri" pitchFamily="34" charset="-120"/>
              </a:rPr>
              <a:t>[Básico]</a:t>
            </a:r>
            <a:endParaRPr lang="en-US" sz="1000" dirty="0"/>
          </a:p>
        </p:txBody>
      </p:sp>
      <p:sp>
        <p:nvSpPr>
          <p:cNvPr id="14" name="Text 12"/>
          <p:cNvSpPr/>
          <p:nvPr/>
        </p:nvSpPr>
        <p:spPr>
          <a:xfrm>
            <a:off x="4773168" y="1371600"/>
            <a:ext cx="4005072" cy="685800"/>
          </a:xfrm>
          <a:prstGeom prst="rect">
            <a:avLst/>
          </a:prstGeom>
          <a:noFill/>
          <a:ln/>
        </p:spPr>
        <p:txBody>
          <a:bodyPr wrap="square" lIns="0" tIns="0" rIns="0" bIns="0" rtlCol="0" anchor="ctr"/>
          <a:lstStyle/>
          <a:p>
            <a:pPr indent="0" marL="0">
              <a:buNone/>
            </a:pPr>
            <a:r>
              <a:rPr lang="en-US" sz="1100" dirty="0">
                <a:solidFill>
                  <a:srgbClr val="1A202C"/>
                </a:solidFill>
                <a:latin typeface="Calibri" pitchFamily="34" charset="0"/>
                <a:ea typeface="Calibri" pitchFamily="34" charset="-122"/>
                <a:cs typeface="Calibri" pitchFamily="34" charset="-120"/>
              </a:rPr>
              <a:t>Comparar las predicciones de ambos modelos en ensayos discretos. ¿Qué patrón esperas de cada uno en P(cambio) vs. respuestas consecutivas?</a:t>
            </a:r>
            <a:endParaRPr lang="en-US" sz="1100" dirty="0"/>
          </a:p>
        </p:txBody>
      </p:sp>
      <p:sp>
        <p:nvSpPr>
          <p:cNvPr id="15" name="Shape 13"/>
          <p:cNvSpPr/>
          <p:nvPr/>
        </p:nvSpPr>
        <p:spPr>
          <a:xfrm>
            <a:off x="201168" y="2286000"/>
            <a:ext cx="4206240" cy="1188720"/>
          </a:xfrm>
          <a:prstGeom prst="rect">
            <a:avLst/>
          </a:prstGeom>
          <a:solidFill>
            <a:srgbClr val="FAFCFF"/>
          </a:solidFill>
          <a:ln w="15240">
            <a:solidFill>
              <a:srgbClr val="718096"/>
            </a:solidFill>
            <a:prstDash val="solid"/>
          </a:ln>
          <a:effectLst>
            <a:outerShdw sx="100000" sy="100000" kx="0" ky="0" algn="bl" rotWithShape="0" blurRad="76200" dist="38100" dir="8100000">
              <a:srgbClr val="000000">
                <a:alpha val="10000"/>
              </a:srgbClr>
            </a:outerShdw>
          </a:effectLst>
        </p:spPr>
      </p:sp>
      <p:sp>
        <p:nvSpPr>
          <p:cNvPr id="16" name="Shape 14"/>
          <p:cNvSpPr/>
          <p:nvPr/>
        </p:nvSpPr>
        <p:spPr>
          <a:xfrm>
            <a:off x="292608" y="2377440"/>
            <a:ext cx="411480" cy="411480"/>
          </a:xfrm>
          <a:prstGeom prst="ellipse">
            <a:avLst/>
          </a:prstGeom>
          <a:solidFill>
            <a:srgbClr val="2C5282"/>
          </a:solidFill>
          <a:ln w="12700">
            <a:solidFill>
              <a:srgbClr val="2C5282"/>
            </a:solidFill>
            <a:prstDash val="solid"/>
          </a:ln>
        </p:spPr>
      </p:sp>
      <p:sp>
        <p:nvSpPr>
          <p:cNvPr id="17" name="Text 15"/>
          <p:cNvSpPr/>
          <p:nvPr/>
        </p:nvSpPr>
        <p:spPr>
          <a:xfrm>
            <a:off x="292608" y="2395728"/>
            <a:ext cx="4114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795528" y="2377440"/>
            <a:ext cx="3474720" cy="274320"/>
          </a:xfrm>
          <a:prstGeom prst="rect">
            <a:avLst/>
          </a:prstGeom>
          <a:noFill/>
          <a:ln/>
        </p:spPr>
        <p:txBody>
          <a:bodyPr wrap="square" lIns="0" tIns="0" rIns="0" bIns="0" rtlCol="0" anchor="ctr"/>
          <a:lstStyle/>
          <a:p>
            <a:pPr indent="0" marL="0">
              <a:buNone/>
            </a:pPr>
            <a:r>
              <a:rPr lang="en-US" sz="1000" b="1" dirty="0">
                <a:solidFill>
                  <a:srgbClr val="2C5282"/>
                </a:solidFill>
                <a:latin typeface="Calibri" pitchFamily="34" charset="0"/>
                <a:ea typeface="Calibri" pitchFamily="34" charset="-122"/>
                <a:cs typeface="Calibri" pitchFamily="34" charset="-120"/>
              </a:rPr>
              <a:t>[Intermedio]</a:t>
            </a:r>
            <a:endParaRPr lang="en-US" sz="1000" dirty="0"/>
          </a:p>
        </p:txBody>
      </p:sp>
      <p:sp>
        <p:nvSpPr>
          <p:cNvPr id="19" name="Text 17"/>
          <p:cNvSpPr/>
          <p:nvPr/>
        </p:nvSpPr>
        <p:spPr>
          <a:xfrm>
            <a:off x="292608" y="2697480"/>
            <a:ext cx="4005072" cy="685800"/>
          </a:xfrm>
          <a:prstGeom prst="rect">
            <a:avLst/>
          </a:prstGeom>
          <a:noFill/>
          <a:ln/>
        </p:spPr>
        <p:txBody>
          <a:bodyPr wrap="square" lIns="0" tIns="0" rIns="0" bIns="0" rtlCol="0" anchor="ctr"/>
          <a:lstStyle/>
          <a:p>
            <a:pPr indent="0" marL="0">
              <a:buNone/>
            </a:pPr>
            <a:r>
              <a:rPr lang="en-US" sz="1100" dirty="0">
                <a:solidFill>
                  <a:srgbClr val="1A202C"/>
                </a:solidFill>
                <a:latin typeface="Calibri" pitchFamily="34" charset="0"/>
                <a:ea typeface="Calibri" pitchFamily="34" charset="-122"/>
                <a:cs typeface="Calibri" pitchFamily="34" charset="-120"/>
              </a:rPr>
              <a:t>Perseverancia en Nevin (1969): implicaciones para la ley del efecto y para el modelo de Bush &amp; Mosteller (Cap. 8).</a:t>
            </a:r>
            <a:endParaRPr lang="en-US" sz="1100" dirty="0"/>
          </a:p>
        </p:txBody>
      </p:sp>
      <p:sp>
        <p:nvSpPr>
          <p:cNvPr id="20" name="Shape 18"/>
          <p:cNvSpPr/>
          <p:nvPr/>
        </p:nvSpPr>
        <p:spPr>
          <a:xfrm>
            <a:off x="4681728" y="2286000"/>
            <a:ext cx="4206240" cy="1188720"/>
          </a:xfrm>
          <a:prstGeom prst="rect">
            <a:avLst/>
          </a:prstGeom>
          <a:solidFill>
            <a:srgbClr val="FAFCFF"/>
          </a:solidFill>
          <a:ln w="15240">
            <a:solidFill>
              <a:srgbClr val="718096"/>
            </a:solidFill>
            <a:prstDash val="solid"/>
          </a:ln>
          <a:effectLst>
            <a:outerShdw sx="100000" sy="100000" kx="0" ky="0" algn="bl" rotWithShape="0" blurRad="76200" dist="38100" dir="8100000">
              <a:srgbClr val="000000">
                <a:alpha val="10000"/>
              </a:srgbClr>
            </a:outerShdw>
          </a:effectLst>
        </p:spPr>
      </p:sp>
      <p:sp>
        <p:nvSpPr>
          <p:cNvPr id="21" name="Shape 19"/>
          <p:cNvSpPr/>
          <p:nvPr/>
        </p:nvSpPr>
        <p:spPr>
          <a:xfrm>
            <a:off x="4773168" y="2377440"/>
            <a:ext cx="411480" cy="411480"/>
          </a:xfrm>
          <a:prstGeom prst="ellipse">
            <a:avLst/>
          </a:prstGeom>
          <a:solidFill>
            <a:srgbClr val="2C5282"/>
          </a:solidFill>
          <a:ln w="12700">
            <a:solidFill>
              <a:srgbClr val="2C5282"/>
            </a:solidFill>
            <a:prstDash val="solid"/>
          </a:ln>
        </p:spPr>
      </p:sp>
      <p:sp>
        <p:nvSpPr>
          <p:cNvPr id="22" name="Text 20"/>
          <p:cNvSpPr/>
          <p:nvPr/>
        </p:nvSpPr>
        <p:spPr>
          <a:xfrm>
            <a:off x="4773168" y="2395728"/>
            <a:ext cx="4114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5276088" y="2377440"/>
            <a:ext cx="3474720" cy="274320"/>
          </a:xfrm>
          <a:prstGeom prst="rect">
            <a:avLst/>
          </a:prstGeom>
          <a:noFill/>
          <a:ln/>
        </p:spPr>
        <p:txBody>
          <a:bodyPr wrap="square" lIns="0" tIns="0" rIns="0" bIns="0" rtlCol="0" anchor="ctr"/>
          <a:lstStyle/>
          <a:p>
            <a:pPr indent="0" marL="0">
              <a:buNone/>
            </a:pPr>
            <a:r>
              <a:rPr lang="en-US" sz="1000" b="1" dirty="0">
                <a:solidFill>
                  <a:srgbClr val="2C5282"/>
                </a:solidFill>
                <a:latin typeface="Calibri" pitchFamily="34" charset="0"/>
                <a:ea typeface="Calibri" pitchFamily="34" charset="-122"/>
                <a:cs typeface="Calibri" pitchFamily="34" charset="-120"/>
              </a:rPr>
              <a:t>[Intermedio]</a:t>
            </a:r>
            <a:endParaRPr lang="en-US" sz="1000" dirty="0"/>
          </a:p>
        </p:txBody>
      </p:sp>
      <p:sp>
        <p:nvSpPr>
          <p:cNvPr id="24" name="Text 22"/>
          <p:cNvSpPr/>
          <p:nvPr/>
        </p:nvSpPr>
        <p:spPr>
          <a:xfrm>
            <a:off x="4773168" y="2697480"/>
            <a:ext cx="4005072" cy="685800"/>
          </a:xfrm>
          <a:prstGeom prst="rect">
            <a:avLst/>
          </a:prstGeom>
          <a:noFill/>
          <a:ln/>
        </p:spPr>
        <p:txBody>
          <a:bodyPr wrap="square" lIns="0" tIns="0" rIns="0" bIns="0" rtlCol="0" anchor="ctr"/>
          <a:lstStyle/>
          <a:p>
            <a:pPr indent="0" marL="0">
              <a:buNone/>
            </a:pPr>
            <a:r>
              <a:rPr lang="en-US" sz="1100" dirty="0">
                <a:solidFill>
                  <a:srgbClr val="1A202C"/>
                </a:solidFill>
                <a:latin typeface="Calibri" pitchFamily="34" charset="0"/>
                <a:ea typeface="Calibri" pitchFamily="34" charset="-122"/>
                <a:cs typeface="Calibri" pitchFamily="34" charset="-120"/>
              </a:rPr>
              <a:t>Usar el ejemplo IV 1'–IV 2' con T₁(0) = 0.10 y T₁(0) = 0.90. ¿En qué dirección se mueve el sistema en cada caso? ¿Por qué α importa?</a:t>
            </a:r>
            <a:endParaRPr lang="en-US" sz="1100" dirty="0"/>
          </a:p>
        </p:txBody>
      </p:sp>
      <p:sp>
        <p:nvSpPr>
          <p:cNvPr id="25" name="Shape 23"/>
          <p:cNvSpPr/>
          <p:nvPr/>
        </p:nvSpPr>
        <p:spPr>
          <a:xfrm>
            <a:off x="201168" y="3611880"/>
            <a:ext cx="4206240" cy="1188720"/>
          </a:xfrm>
          <a:prstGeom prst="rect">
            <a:avLst/>
          </a:prstGeom>
          <a:solidFill>
            <a:srgbClr val="FAFCFF"/>
          </a:solidFill>
          <a:ln w="15240">
            <a:solidFill>
              <a:srgbClr val="718096"/>
            </a:solidFill>
            <a:prstDash val="solid"/>
          </a:ln>
          <a:effectLst>
            <a:outerShdw sx="100000" sy="100000" kx="0" ky="0" algn="bl" rotWithShape="0" blurRad="76200" dist="38100" dir="8100000">
              <a:srgbClr val="000000">
                <a:alpha val="10000"/>
              </a:srgbClr>
            </a:outerShdw>
          </a:effectLst>
        </p:spPr>
      </p:sp>
      <p:sp>
        <p:nvSpPr>
          <p:cNvPr id="26" name="Shape 24"/>
          <p:cNvSpPr/>
          <p:nvPr/>
        </p:nvSpPr>
        <p:spPr>
          <a:xfrm>
            <a:off x="292608" y="3703320"/>
            <a:ext cx="411480" cy="411480"/>
          </a:xfrm>
          <a:prstGeom prst="ellipse">
            <a:avLst/>
          </a:prstGeom>
          <a:solidFill>
            <a:srgbClr val="C05621"/>
          </a:solidFill>
          <a:ln w="12700">
            <a:solidFill>
              <a:srgbClr val="C05621"/>
            </a:solidFill>
            <a:prstDash val="solid"/>
          </a:ln>
        </p:spPr>
      </p:sp>
      <p:sp>
        <p:nvSpPr>
          <p:cNvPr id="27" name="Text 25"/>
          <p:cNvSpPr/>
          <p:nvPr/>
        </p:nvSpPr>
        <p:spPr>
          <a:xfrm>
            <a:off x="292608" y="3721608"/>
            <a:ext cx="4114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8" name="Text 26"/>
          <p:cNvSpPr/>
          <p:nvPr/>
        </p:nvSpPr>
        <p:spPr>
          <a:xfrm>
            <a:off x="795528" y="3703320"/>
            <a:ext cx="3474720" cy="274320"/>
          </a:xfrm>
          <a:prstGeom prst="rect">
            <a:avLst/>
          </a:prstGeom>
          <a:noFill/>
          <a:ln/>
        </p:spPr>
        <p:txBody>
          <a:bodyPr wrap="square" lIns="0" tIns="0" rIns="0" bIns="0" rtlCol="0" anchor="ctr"/>
          <a:lstStyle/>
          <a:p>
            <a:pPr indent="0" marL="0">
              <a:buNone/>
            </a:pPr>
            <a:r>
              <a:rPr lang="en-US" sz="1000" b="1" dirty="0">
                <a:solidFill>
                  <a:srgbClr val="C05621"/>
                </a:solidFill>
                <a:latin typeface="Calibri" pitchFamily="34" charset="0"/>
                <a:ea typeface="Calibri" pitchFamily="34" charset="-122"/>
                <a:cs typeface="Calibri" pitchFamily="34" charset="-120"/>
              </a:rPr>
              <a:t>[Avanzado]</a:t>
            </a:r>
            <a:endParaRPr lang="en-US" sz="1000" dirty="0"/>
          </a:p>
        </p:txBody>
      </p:sp>
      <p:sp>
        <p:nvSpPr>
          <p:cNvPr id="29" name="Text 27"/>
          <p:cNvSpPr/>
          <p:nvPr/>
        </p:nvSpPr>
        <p:spPr>
          <a:xfrm>
            <a:off x="292608" y="4023360"/>
            <a:ext cx="4005072" cy="685800"/>
          </a:xfrm>
          <a:prstGeom prst="rect">
            <a:avLst/>
          </a:prstGeom>
          <a:noFill/>
          <a:ln/>
        </p:spPr>
        <p:txBody>
          <a:bodyPr wrap="square" lIns="0" tIns="0" rIns="0" bIns="0" rtlCol="0" anchor="ctr"/>
          <a:lstStyle/>
          <a:p>
            <a:pPr indent="0" marL="0">
              <a:buNone/>
            </a:pPr>
            <a:r>
              <a:rPr lang="en-US" sz="1100" dirty="0">
                <a:solidFill>
                  <a:srgbClr val="1A202C"/>
                </a:solidFill>
                <a:latin typeface="Calibri" pitchFamily="34" charset="0"/>
                <a:ea typeface="Calibri" pitchFamily="34" charset="-122"/>
                <a:cs typeface="Calibri" pitchFamily="34" charset="-120"/>
              </a:rPr>
              <a:t>Diseñar dos contextos naturales — uno donde una ventana temporal corta sería adaptativa y uno donde lo sería una larga. ¿Qué propiedad del entorno determina cuál es más apropiada?</a:t>
            </a:r>
            <a:endParaRPr lang="en-US" sz="1100" dirty="0"/>
          </a:p>
        </p:txBody>
      </p:sp>
      <p:sp>
        <p:nvSpPr>
          <p:cNvPr id="30" name="Shape 28"/>
          <p:cNvSpPr/>
          <p:nvPr/>
        </p:nvSpPr>
        <p:spPr>
          <a:xfrm>
            <a:off x="4681728" y="3611880"/>
            <a:ext cx="4206240" cy="1188720"/>
          </a:xfrm>
          <a:prstGeom prst="rect">
            <a:avLst/>
          </a:prstGeom>
          <a:solidFill>
            <a:srgbClr val="FAFCFF"/>
          </a:solidFill>
          <a:ln w="15240">
            <a:solidFill>
              <a:srgbClr val="718096"/>
            </a:solidFill>
            <a:prstDash val="solid"/>
          </a:ln>
          <a:effectLst>
            <a:outerShdw sx="100000" sy="100000" kx="0" ky="0" algn="bl" rotWithShape="0" blurRad="76200" dist="38100" dir="8100000">
              <a:srgbClr val="000000">
                <a:alpha val="10000"/>
              </a:srgbClr>
            </a:outerShdw>
          </a:effectLst>
        </p:spPr>
      </p:sp>
      <p:sp>
        <p:nvSpPr>
          <p:cNvPr id="31" name="Shape 29"/>
          <p:cNvSpPr/>
          <p:nvPr/>
        </p:nvSpPr>
        <p:spPr>
          <a:xfrm>
            <a:off x="4773168" y="3703320"/>
            <a:ext cx="411480" cy="411480"/>
          </a:xfrm>
          <a:prstGeom prst="ellipse">
            <a:avLst/>
          </a:prstGeom>
          <a:solidFill>
            <a:srgbClr val="718096"/>
          </a:solidFill>
          <a:ln w="12700">
            <a:solidFill>
              <a:srgbClr val="718096"/>
            </a:solidFill>
            <a:prstDash val="solid"/>
          </a:ln>
        </p:spPr>
      </p:sp>
      <p:sp>
        <p:nvSpPr>
          <p:cNvPr id="32" name="Text 30"/>
          <p:cNvSpPr/>
          <p:nvPr/>
        </p:nvSpPr>
        <p:spPr>
          <a:xfrm>
            <a:off x="4773168" y="3721608"/>
            <a:ext cx="4114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3" name="Text 31"/>
          <p:cNvSpPr/>
          <p:nvPr/>
        </p:nvSpPr>
        <p:spPr>
          <a:xfrm>
            <a:off x="5276088" y="3703320"/>
            <a:ext cx="3474720" cy="274320"/>
          </a:xfrm>
          <a:prstGeom prst="rect">
            <a:avLst/>
          </a:prstGeom>
          <a:noFill/>
          <a:ln/>
        </p:spPr>
        <p:txBody>
          <a:bodyPr wrap="square" lIns="0" tIns="0" rIns="0" bIns="0" rtlCol="0" anchor="ctr"/>
          <a:lstStyle/>
          <a:p>
            <a:pPr indent="0" marL="0">
              <a:buNone/>
            </a:pPr>
            <a:r>
              <a:rPr lang="en-US" sz="1000" b="1" dirty="0">
                <a:solidFill>
                  <a:srgbClr val="718096"/>
                </a:solidFill>
                <a:latin typeface="Calibri" pitchFamily="34" charset="0"/>
                <a:ea typeface="Calibri" pitchFamily="34" charset="-122"/>
                <a:cs typeface="Calibri" pitchFamily="34" charset="-120"/>
              </a:rPr>
              <a:t>[Reflexión]</a:t>
            </a:r>
            <a:endParaRPr lang="en-US" sz="1000" dirty="0"/>
          </a:p>
        </p:txBody>
      </p:sp>
      <p:sp>
        <p:nvSpPr>
          <p:cNvPr id="34" name="Text 32"/>
          <p:cNvSpPr/>
          <p:nvPr/>
        </p:nvSpPr>
        <p:spPr>
          <a:xfrm>
            <a:off x="4773168" y="4023360"/>
            <a:ext cx="4005072" cy="685800"/>
          </a:xfrm>
          <a:prstGeom prst="rect">
            <a:avLst/>
          </a:prstGeom>
          <a:noFill/>
          <a:ln/>
        </p:spPr>
        <p:txBody>
          <a:bodyPr wrap="square" lIns="0" tIns="0" rIns="0" bIns="0" rtlCol="0" anchor="ctr"/>
          <a:lstStyle/>
          <a:p>
            <a:pPr indent="0" marL="0">
              <a:buNone/>
            </a:pPr>
            <a:r>
              <a:rPr lang="en-US" sz="1100" dirty="0">
                <a:solidFill>
                  <a:srgbClr val="1A202C"/>
                </a:solidFill>
                <a:latin typeface="Calibri" pitchFamily="34" charset="0"/>
                <a:ea typeface="Calibri" pitchFamily="34" charset="-122"/>
                <a:cs typeface="Calibri" pitchFamily="34" charset="-120"/>
              </a:rPr>
              <a:t>(Reflexión) Igualación emerge sin que el organismo la compute. ¿Qué dice esto sobre la relación entre el nivel computacional y el algorítmico?</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2C5282"/>
          </a:solidFill>
          <a:ln/>
        </p:spPr>
      </p:sp>
      <p:sp>
        <p:nvSpPr>
          <p:cNvPr id="3" name="Text 1"/>
          <p:cNvSpPr/>
          <p:nvPr/>
        </p:nvSpPr>
        <p:spPr>
          <a:xfrm>
            <a:off x="201168" y="164592"/>
            <a:ext cx="8778240" cy="566928"/>
          </a:xfrm>
          <a:prstGeom prst="rect">
            <a:avLst/>
          </a:prstGeom>
          <a:noFill/>
          <a:ln/>
        </p:spPr>
        <p:txBody>
          <a:bodyPr wrap="square" lIns="0" tIns="0" rIns="0" bIns="0" rtlCol="0" anchor="ctr"/>
          <a:lstStyle/>
          <a:p>
            <a:pPr indent="0" marL="0">
              <a:buNone/>
            </a:pPr>
            <a:r>
              <a:rPr lang="en-US" sz="2600" b="1" dirty="0">
                <a:solidFill>
                  <a:srgbClr val="2C5282"/>
                </a:solidFill>
                <a:latin typeface="Calibri" pitchFamily="34" charset="0"/>
                <a:ea typeface="Calibri" pitchFamily="34" charset="-122"/>
                <a:cs typeface="Calibri" pitchFamily="34" charset="-120"/>
              </a:rPr>
              <a:t>Resumen del capítulo 15</a:t>
            </a:r>
            <a:endParaRPr lang="en-US" sz="2600" dirty="0"/>
          </a:p>
        </p:txBody>
      </p:sp>
      <p:sp>
        <p:nvSpPr>
          <p:cNvPr id="4" name="Shape 2"/>
          <p:cNvSpPr/>
          <p:nvPr/>
        </p:nvSpPr>
        <p:spPr>
          <a:xfrm>
            <a:off x="201168" y="777240"/>
            <a:ext cx="8741664" cy="0"/>
          </a:xfrm>
          <a:prstGeom prst="line">
            <a:avLst/>
          </a:prstGeom>
          <a:noFill/>
          <a:ln w="19050">
            <a:solidFill>
              <a:srgbClr val="2C5282"/>
            </a:solidFill>
            <a:prstDash val="solid"/>
          </a:ln>
        </p:spPr>
      </p:sp>
      <p:sp>
        <p:nvSpPr>
          <p:cNvPr id="5" name="Shape 3"/>
          <p:cNvSpPr/>
          <p:nvPr/>
        </p:nvSpPr>
        <p:spPr>
          <a:xfrm>
            <a:off x="201168" y="960120"/>
            <a:ext cx="8741664" cy="566928"/>
          </a:xfrm>
          <a:prstGeom prst="rect">
            <a:avLst/>
          </a:prstGeom>
          <a:solidFill>
            <a:srgbClr val="EBF4FF"/>
          </a:solidFill>
          <a:ln w="15240">
            <a:solidFill>
              <a:srgbClr val="2C5282"/>
            </a:solidFill>
            <a:prstDash val="solid"/>
          </a:ln>
          <a:effectLst>
            <a:outerShdw sx="100000" sy="100000" kx="0" ky="0" algn="bl" rotWithShape="0" blurRad="76200" dist="38100" dir="8100000">
              <a:srgbClr val="000000">
                <a:alpha val="10000"/>
              </a:srgbClr>
            </a:outerShdw>
          </a:effectLst>
        </p:spPr>
      </p:sp>
      <p:sp>
        <p:nvSpPr>
          <p:cNvPr id="6" name="Text 4"/>
          <p:cNvSpPr/>
          <p:nvPr/>
        </p:nvSpPr>
        <p:spPr>
          <a:xfrm>
            <a:off x="320040" y="1051560"/>
            <a:ext cx="8503920" cy="384048"/>
          </a:xfrm>
          <a:prstGeom prst="rect">
            <a:avLst/>
          </a:prstGeom>
          <a:noFill/>
          <a:ln/>
        </p:spPr>
        <p:txBody>
          <a:bodyPr wrap="square" lIns="0" tIns="0" rIns="0" bIns="0" rtlCol="0" anchor="ctr"/>
          <a:lstStyle/>
          <a:p>
            <a:pPr indent="0" marL="0">
              <a:buNone/>
            </a:pPr>
            <a:r>
              <a:rPr lang="en-US" sz="1300" dirty="0">
                <a:solidFill>
                  <a:srgbClr val="1A202C"/>
                </a:solidFill>
                <a:latin typeface="Calibri" pitchFamily="34" charset="0"/>
                <a:ea typeface="Calibri" pitchFamily="34" charset="-122"/>
                <a:cs typeface="Calibri" pitchFamily="34" charset="-120"/>
              </a:rPr>
              <a:t>1.  Igualación global puede ser el resultado de mecanismos muy distintos que operen en escala local.</a:t>
            </a:r>
            <a:endParaRPr lang="en-US" sz="1300" dirty="0"/>
          </a:p>
        </p:txBody>
      </p:sp>
      <p:sp>
        <p:nvSpPr>
          <p:cNvPr id="7" name="Shape 5"/>
          <p:cNvSpPr/>
          <p:nvPr/>
        </p:nvSpPr>
        <p:spPr>
          <a:xfrm>
            <a:off x="201168" y="1627632"/>
            <a:ext cx="8741664" cy="566928"/>
          </a:xfrm>
          <a:prstGeom prst="rect">
            <a:avLst/>
          </a:prstGeom>
          <a:solidFill>
            <a:srgbClr val="FDE8E8"/>
          </a:solidFill>
          <a:ln w="15240">
            <a:solidFill>
              <a:srgbClr val="9B2335"/>
            </a:solidFill>
            <a:prstDash val="solid"/>
          </a:ln>
          <a:effectLst>
            <a:outerShdw sx="100000" sy="100000" kx="0" ky="0" algn="bl" rotWithShape="0" blurRad="76200" dist="38100" dir="8100000">
              <a:srgbClr val="000000">
                <a:alpha val="10000"/>
              </a:srgbClr>
            </a:outerShdw>
          </a:effectLst>
        </p:spPr>
      </p:sp>
      <p:sp>
        <p:nvSpPr>
          <p:cNvPr id="8" name="Text 6"/>
          <p:cNvSpPr/>
          <p:nvPr/>
        </p:nvSpPr>
        <p:spPr>
          <a:xfrm>
            <a:off x="320040" y="1719072"/>
            <a:ext cx="8503920" cy="384048"/>
          </a:xfrm>
          <a:prstGeom prst="rect">
            <a:avLst/>
          </a:prstGeom>
          <a:noFill/>
          <a:ln/>
        </p:spPr>
        <p:txBody>
          <a:bodyPr wrap="square" lIns="0" tIns="0" rIns="0" bIns="0" rtlCol="0" anchor="ctr"/>
          <a:lstStyle/>
          <a:p>
            <a:pPr indent="0" marL="0">
              <a:buNone/>
            </a:pPr>
            <a:r>
              <a:rPr lang="en-US" sz="1300" dirty="0">
                <a:solidFill>
                  <a:srgbClr val="9B2335"/>
                </a:solidFill>
                <a:latin typeface="Calibri" pitchFamily="34" charset="0"/>
                <a:ea typeface="Calibri" pitchFamily="34" charset="-122"/>
                <a:cs typeface="Calibri" pitchFamily="34" charset="-120"/>
              </a:rPr>
              <a:t>2.  Max. Momentánea: los organismos NO responden a p_i instantánea (Nevin 1969; Williams 1985). El efecto de perseverancia indica inercia no contemplada por el modelo.</a:t>
            </a:r>
            <a:endParaRPr lang="en-US" sz="1300" dirty="0"/>
          </a:p>
        </p:txBody>
      </p:sp>
      <p:sp>
        <p:nvSpPr>
          <p:cNvPr id="9" name="Shape 7"/>
          <p:cNvSpPr/>
          <p:nvPr/>
        </p:nvSpPr>
        <p:spPr>
          <a:xfrm>
            <a:off x="201168" y="2295144"/>
            <a:ext cx="8741664" cy="566928"/>
          </a:xfrm>
          <a:prstGeom prst="rect">
            <a:avLst/>
          </a:prstGeom>
          <a:solidFill>
            <a:srgbClr val="EBF4FF"/>
          </a:solidFill>
          <a:ln w="15240">
            <a:solidFill>
              <a:srgbClr val="2C5282"/>
            </a:solidFill>
            <a:prstDash val="solid"/>
          </a:ln>
          <a:effectLst>
            <a:outerShdw sx="100000" sy="100000" kx="0" ky="0" algn="bl" rotWithShape="0" blurRad="76200" dist="38100" dir="8100000">
              <a:srgbClr val="000000">
                <a:alpha val="10000"/>
              </a:srgbClr>
            </a:outerShdw>
          </a:effectLst>
        </p:spPr>
      </p:sp>
      <p:sp>
        <p:nvSpPr>
          <p:cNvPr id="10" name="Text 8"/>
          <p:cNvSpPr/>
          <p:nvPr/>
        </p:nvSpPr>
        <p:spPr>
          <a:xfrm>
            <a:off x="320040" y="2386584"/>
            <a:ext cx="8503920" cy="384048"/>
          </a:xfrm>
          <a:prstGeom prst="rect">
            <a:avLst/>
          </a:prstGeom>
          <a:noFill/>
          <a:ln/>
        </p:spPr>
        <p:txBody>
          <a:bodyPr wrap="square" lIns="0" tIns="0" rIns="0" bIns="0" rtlCol="0" anchor="ctr"/>
          <a:lstStyle/>
          <a:p>
            <a:pPr indent="0" marL="0">
              <a:buNone/>
            </a:pPr>
            <a:r>
              <a:rPr lang="en-US" sz="1300" dirty="0">
                <a:solidFill>
                  <a:srgbClr val="1A202C"/>
                </a:solidFill>
                <a:latin typeface="Calibri" pitchFamily="34" charset="0"/>
                <a:ea typeface="Calibri" pitchFamily="34" charset="-122"/>
                <a:cs typeface="Calibri" pitchFamily="34" charset="-120"/>
              </a:rPr>
              <a:t>3.  Mejoramiento: el organismo estima tasas locales ρ_i = r_i/T_i y se mueve hacia la de mayor valor — ascenso de colina, retroalimentación negativa, convergencia garantizada.</a:t>
            </a:r>
            <a:endParaRPr lang="en-US" sz="1300" dirty="0"/>
          </a:p>
        </p:txBody>
      </p:sp>
      <p:sp>
        <p:nvSpPr>
          <p:cNvPr id="11" name="Shape 9"/>
          <p:cNvSpPr/>
          <p:nvPr/>
        </p:nvSpPr>
        <p:spPr>
          <a:xfrm>
            <a:off x="201168" y="2962656"/>
            <a:ext cx="8741664" cy="566928"/>
          </a:xfrm>
          <a:prstGeom prst="rect">
            <a:avLst/>
          </a:prstGeom>
          <a:solidFill>
            <a:srgbClr val="E6F4ED"/>
          </a:solidFill>
          <a:ln w="15240">
            <a:solidFill>
              <a:srgbClr val="276749"/>
            </a:solidFill>
            <a:prstDash val="solid"/>
          </a:ln>
          <a:effectLst>
            <a:outerShdw sx="100000" sy="100000" kx="0" ky="0" algn="bl" rotWithShape="0" blurRad="76200" dist="38100" dir="8100000">
              <a:srgbClr val="000000">
                <a:alpha val="10000"/>
              </a:srgbClr>
            </a:outerShdw>
          </a:effectLst>
        </p:spPr>
      </p:sp>
      <p:sp>
        <p:nvSpPr>
          <p:cNvPr id="12" name="Text 10"/>
          <p:cNvSpPr/>
          <p:nvPr/>
        </p:nvSpPr>
        <p:spPr>
          <a:xfrm>
            <a:off x="320040" y="3054096"/>
            <a:ext cx="8503920" cy="384048"/>
          </a:xfrm>
          <a:prstGeom prst="rect">
            <a:avLst/>
          </a:prstGeom>
          <a:noFill/>
          <a:ln/>
        </p:spPr>
        <p:txBody>
          <a:bodyPr wrap="square" lIns="0" tIns="0" rIns="0" bIns="0" rtlCol="0" anchor="ctr"/>
          <a:lstStyle/>
          <a:p>
            <a:pPr indent="0" marL="0">
              <a:buNone/>
            </a:pPr>
            <a:r>
              <a:rPr lang="en-US" sz="1300" dirty="0">
                <a:solidFill>
                  <a:srgbClr val="1A202C"/>
                </a:solidFill>
                <a:latin typeface="Calibri" pitchFamily="34" charset="0"/>
                <a:ea typeface="Calibri" pitchFamily="34" charset="-122"/>
                <a:cs typeface="Calibri" pitchFamily="34" charset="-120"/>
              </a:rPr>
              <a:t>4.  El equilibrio formal del mejoramiento es algebraicamente idéntico a la ley de igualación. T₁*/T₂* = r₁/r₂ es el único punto donde Δ = 0.</a:t>
            </a:r>
            <a:endParaRPr lang="en-US" sz="1300" dirty="0"/>
          </a:p>
        </p:txBody>
      </p:sp>
      <p:sp>
        <p:nvSpPr>
          <p:cNvPr id="13" name="Shape 11"/>
          <p:cNvSpPr/>
          <p:nvPr/>
        </p:nvSpPr>
        <p:spPr>
          <a:xfrm>
            <a:off x="201168" y="3630168"/>
            <a:ext cx="8741664" cy="566928"/>
          </a:xfrm>
          <a:prstGeom prst="rect">
            <a:avLst/>
          </a:prstGeom>
          <a:solidFill>
            <a:srgbClr val="E6F4ED"/>
          </a:solidFill>
          <a:ln w="15240">
            <a:solidFill>
              <a:srgbClr val="276749"/>
            </a:solidFill>
            <a:prstDash val="solid"/>
          </a:ln>
          <a:effectLst>
            <a:outerShdw sx="100000" sy="100000" kx="0" ky="0" algn="bl" rotWithShape="0" blurRad="76200" dist="38100" dir="8100000">
              <a:srgbClr val="000000">
                <a:alpha val="10000"/>
              </a:srgbClr>
            </a:outerShdw>
          </a:effectLst>
        </p:spPr>
      </p:sp>
      <p:sp>
        <p:nvSpPr>
          <p:cNvPr id="14" name="Text 12"/>
          <p:cNvSpPr/>
          <p:nvPr/>
        </p:nvSpPr>
        <p:spPr>
          <a:xfrm>
            <a:off x="320040" y="3721608"/>
            <a:ext cx="8503920" cy="384048"/>
          </a:xfrm>
          <a:prstGeom prst="rect">
            <a:avLst/>
          </a:prstGeom>
          <a:noFill/>
          <a:ln/>
        </p:spPr>
        <p:txBody>
          <a:bodyPr wrap="square" lIns="0" tIns="0" rIns="0" bIns="0" rtlCol="0" anchor="ctr"/>
          <a:lstStyle/>
          <a:p>
            <a:pPr indent="0" marL="0">
              <a:buNone/>
            </a:pPr>
            <a:r>
              <a:rPr lang="en-US" sz="1300" dirty="0">
                <a:solidFill>
                  <a:srgbClr val="1A202C"/>
                </a:solidFill>
                <a:latin typeface="Calibri" pitchFamily="34" charset="0"/>
                <a:ea typeface="Calibri" pitchFamily="34" charset="-122"/>
                <a:cs typeface="Calibri" pitchFamily="34" charset="-120"/>
              </a:rPr>
              <a:t>5.  Vaughan (1981): la redistribución dinámica responde a tasas locales, no a promedios globales — evidencia directa del proceso.</a:t>
            </a:r>
            <a:endParaRPr lang="en-US" sz="1300" dirty="0"/>
          </a:p>
        </p:txBody>
      </p:sp>
      <p:sp>
        <p:nvSpPr>
          <p:cNvPr id="15" name="Shape 13"/>
          <p:cNvSpPr/>
          <p:nvPr/>
        </p:nvSpPr>
        <p:spPr>
          <a:xfrm>
            <a:off x="201168" y="4297680"/>
            <a:ext cx="8741664" cy="566928"/>
          </a:xfrm>
          <a:prstGeom prst="rect">
            <a:avLst/>
          </a:prstGeom>
          <a:solidFill>
            <a:srgbClr val="FFF3E8"/>
          </a:solidFill>
          <a:ln w="15240">
            <a:solidFill>
              <a:srgbClr val="C05621"/>
            </a:solidFill>
            <a:prstDash val="solid"/>
          </a:ln>
          <a:effectLst>
            <a:outerShdw sx="100000" sy="100000" kx="0" ky="0" algn="bl" rotWithShape="0" blurRad="76200" dist="38100" dir="8100000">
              <a:srgbClr val="000000">
                <a:alpha val="10000"/>
              </a:srgbClr>
            </a:outerShdw>
          </a:effectLst>
        </p:spPr>
      </p:sp>
      <p:sp>
        <p:nvSpPr>
          <p:cNvPr id="16" name="Text 14"/>
          <p:cNvSpPr/>
          <p:nvPr/>
        </p:nvSpPr>
        <p:spPr>
          <a:xfrm>
            <a:off x="320040" y="4389120"/>
            <a:ext cx="8503920" cy="384048"/>
          </a:xfrm>
          <a:prstGeom prst="rect">
            <a:avLst/>
          </a:prstGeom>
          <a:noFill/>
          <a:ln/>
        </p:spPr>
        <p:txBody>
          <a:bodyPr wrap="square" lIns="0" tIns="0" rIns="0" bIns="0" rtlCol="0" anchor="ctr"/>
          <a:lstStyle/>
          <a:p>
            <a:pPr indent="0" marL="0">
              <a:buNone/>
            </a:pPr>
            <a:r>
              <a:rPr lang="en-US" sz="1300" dirty="0">
                <a:solidFill>
                  <a:srgbClr val="1A202C"/>
                </a:solidFill>
                <a:latin typeface="Calibri" pitchFamily="34" charset="0"/>
                <a:ea typeface="Calibri" pitchFamily="34" charset="-122"/>
                <a:cs typeface="Calibri" pitchFamily="34" charset="-120"/>
              </a:rPr>
              <a:t>6.  Limitación: la ventana temporal de estimación no está especificada — problema central en entornos cambiantes.</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A3457"/>
        </a:solidFill>
      </p:bgPr>
    </p:bg>
    <p:spTree>
      <p:nvGrpSpPr>
        <p:cNvPr id="1" name=""/>
        <p:cNvGrpSpPr/>
        <p:nvPr/>
      </p:nvGrpSpPr>
      <p:grpSpPr>
        <a:xfrm>
          <a:off x="0" y="0"/>
          <a:ext cx="0" cy="0"/>
          <a:chOff x="0" y="0"/>
          <a:chExt cx="0" cy="0"/>
        </a:xfrm>
      </p:grpSpPr>
      <p:sp>
        <p:nvSpPr>
          <p:cNvPr id="2" name="Shape 0"/>
          <p:cNvSpPr/>
          <p:nvPr/>
        </p:nvSpPr>
        <p:spPr>
          <a:xfrm>
            <a:off x="0" y="4389120"/>
            <a:ext cx="9144000" cy="754380"/>
          </a:xfrm>
          <a:prstGeom prst="rect">
            <a:avLst/>
          </a:prstGeom>
          <a:solidFill>
            <a:srgbClr val="2C5282"/>
          </a:solidFill>
          <a:ln w="12700">
            <a:solidFill>
              <a:srgbClr val="2C5282"/>
            </a:solidFill>
            <a:prstDash val="solid"/>
          </a:ln>
        </p:spPr>
      </p:sp>
      <p:sp>
        <p:nvSpPr>
          <p:cNvPr id="3" name="Shape 1"/>
          <p:cNvSpPr/>
          <p:nvPr/>
        </p:nvSpPr>
        <p:spPr>
          <a:xfrm>
            <a:off x="0" y="0"/>
            <a:ext cx="164592" cy="5143500"/>
          </a:xfrm>
          <a:prstGeom prst="rect">
            <a:avLst/>
          </a:prstGeom>
          <a:solidFill>
            <a:srgbClr val="C05621"/>
          </a:solidFill>
          <a:ln w="12700">
            <a:solidFill>
              <a:srgbClr val="C05621"/>
            </a:solidFill>
            <a:prstDash val="solid"/>
          </a:ln>
        </p:spPr>
      </p:sp>
      <p:sp>
        <p:nvSpPr>
          <p:cNvPr id="4" name="Text 2"/>
          <p:cNvSpPr/>
          <p:nvPr/>
        </p:nvSpPr>
        <p:spPr>
          <a:xfrm>
            <a:off x="365760" y="822960"/>
            <a:ext cx="8229600" cy="384048"/>
          </a:xfrm>
          <a:prstGeom prst="rect">
            <a:avLst/>
          </a:prstGeom>
          <a:noFill/>
          <a:ln/>
        </p:spPr>
        <p:txBody>
          <a:bodyPr wrap="square" rtlCol="0" anchor="ctr"/>
          <a:lstStyle/>
          <a:p>
            <a:pPr indent="0" marL="0">
              <a:buNone/>
            </a:pPr>
            <a:r>
              <a:rPr lang="en-US" sz="1300" b="1" spc="200" kern="0" dirty="0">
                <a:solidFill>
                  <a:srgbClr val="AECDE8"/>
                </a:solidFill>
                <a:latin typeface="Calibri" pitchFamily="34" charset="0"/>
                <a:ea typeface="Calibri" pitchFamily="34" charset="-122"/>
                <a:cs typeface="Calibri" pitchFamily="34" charset="-120"/>
              </a:rPr>
              <a:t>Capítulo 15 — Mensaje final</a:t>
            </a:r>
            <a:endParaRPr lang="en-US" sz="1300" dirty="0"/>
          </a:p>
        </p:txBody>
      </p:sp>
      <p:sp>
        <p:nvSpPr>
          <p:cNvPr id="5" name="Text 3"/>
          <p:cNvSpPr/>
          <p:nvPr/>
        </p:nvSpPr>
        <p:spPr>
          <a:xfrm>
            <a:off x="365760" y="1325880"/>
            <a:ext cx="8412480" cy="210312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El organismo que sigue la regla de mejoramiento</a:t>
            </a:r>
            <a:endParaRPr lang="en-US" sz="3000" dirty="0"/>
          </a:p>
          <a:p>
            <a:pPr indent="0" marL="0">
              <a:buNone/>
            </a:pPr>
            <a:r>
              <a:rPr lang="en-US" sz="3000" b="1" dirty="0">
                <a:solidFill>
                  <a:srgbClr val="FFFFFF"/>
                </a:solidFill>
                <a:latin typeface="Calibri" pitchFamily="34" charset="0"/>
                <a:ea typeface="Calibri" pitchFamily="34" charset="-122"/>
                <a:cs typeface="Calibri" pitchFamily="34" charset="-120"/>
              </a:rPr>
              <a:t>no conoce la ley de igualación.</a:t>
            </a:r>
            <a:endParaRPr lang="en-US" sz="3000" dirty="0"/>
          </a:p>
          <a:p>
            <a:pPr indent="0" marL="0">
              <a:buNone/>
            </a:pPr>
            <a:r>
              <a:rPr lang="en-US" sz="3000" b="1" dirty="0">
                <a:solidFill>
                  <a:srgbClr val="FFFFFF"/>
                </a:solidFill>
                <a:latin typeface="Calibri" pitchFamily="34" charset="0"/>
                <a:ea typeface="Calibri" pitchFamily="34" charset="-122"/>
                <a:cs typeface="Calibri" pitchFamily="34" charset="-120"/>
              </a:rPr>
              <a:t>Igualación es el equilibrio de un proceso —</a:t>
            </a:r>
            <a:endParaRPr lang="en-US" sz="3000" dirty="0"/>
          </a:p>
          <a:p>
            <a:pPr indent="0" marL="0">
              <a:buNone/>
            </a:pPr>
            <a:r>
              <a:rPr lang="en-US" sz="3000" b="1" dirty="0">
                <a:solidFill>
                  <a:srgbClr val="FFFFFF"/>
                </a:solidFill>
                <a:latin typeface="Calibri" pitchFamily="34" charset="0"/>
                <a:ea typeface="Calibri" pitchFamily="34" charset="-122"/>
                <a:cs typeface="Calibri" pitchFamily="34" charset="-120"/>
              </a:rPr>
              <a:t>no su meta.</a:t>
            </a:r>
            <a:endParaRPr lang="en-US" sz="3000" dirty="0"/>
          </a:p>
        </p:txBody>
      </p:sp>
      <p:sp>
        <p:nvSpPr>
          <p:cNvPr id="6" name="Text 4"/>
          <p:cNvSpPr/>
          <p:nvPr/>
        </p:nvSpPr>
        <p:spPr>
          <a:xfrm>
            <a:off x="365760" y="4617720"/>
            <a:ext cx="8412480" cy="274320"/>
          </a:xfrm>
          <a:prstGeom prst="rect">
            <a:avLst/>
          </a:prstGeom>
          <a:noFill/>
          <a:ln/>
        </p:spPr>
        <p:txBody>
          <a:bodyPr wrap="square" rtlCol="0" anchor="ctr"/>
          <a:lstStyle/>
          <a:p>
            <a:pPr indent="0" marL="0">
              <a:buNone/>
            </a:pPr>
            <a:r>
              <a:rPr lang="en-US" sz="1100" dirty="0">
                <a:solidFill>
                  <a:srgbClr val="AECDE8"/>
                </a:solidFill>
                <a:latin typeface="Calibri" pitchFamily="34" charset="0"/>
                <a:ea typeface="Calibri" pitchFamily="34" charset="-122"/>
                <a:cs typeface="Calibri" pitchFamily="34" charset="-120"/>
              </a:rPr>
              <a:t>A. Bouzas · Aprendizaje y Comportamiento Adaptable: Principios y Modelos · Capítulo 15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 15: El Control Local del Comportamiento de Elección</dc:title>
  <dc:subject>PptxGenJS Presentation</dc:subject>
  <dc:creator>A. Bouzas</dc:creator>
  <cp:lastModifiedBy>A. Bouzas</cp:lastModifiedBy>
  <cp:revision>1</cp:revision>
  <dcterms:created xsi:type="dcterms:W3CDTF">2026-05-19T03:15:49Z</dcterms:created>
  <dcterms:modified xsi:type="dcterms:W3CDTF">2026-05-19T03:15:49Z</dcterms:modified>
</cp:coreProperties>
</file>